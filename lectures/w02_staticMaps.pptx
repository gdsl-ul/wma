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4"/>
  </p:sldMasterIdLst>
  <p:notesMasterIdLst>
    <p:notesMasterId r:id="rId43"/>
  </p:notesMasterIdLst>
  <p:sldIdLst>
    <p:sldId id="257" r:id="rId5"/>
    <p:sldId id="414" r:id="rId6"/>
    <p:sldId id="391" r:id="rId7"/>
    <p:sldId id="259" r:id="rId8"/>
    <p:sldId id="260" r:id="rId9"/>
    <p:sldId id="261" r:id="rId10"/>
    <p:sldId id="262" r:id="rId11"/>
    <p:sldId id="263" r:id="rId12"/>
    <p:sldId id="392" r:id="rId13"/>
    <p:sldId id="267" r:id="rId14"/>
    <p:sldId id="269" r:id="rId15"/>
    <p:sldId id="268" r:id="rId16"/>
    <p:sldId id="289" r:id="rId17"/>
    <p:sldId id="293" r:id="rId18"/>
    <p:sldId id="294" r:id="rId19"/>
    <p:sldId id="295" r:id="rId20"/>
    <p:sldId id="402" r:id="rId21"/>
    <p:sldId id="300" r:id="rId22"/>
    <p:sldId id="270" r:id="rId23"/>
    <p:sldId id="271" r:id="rId24"/>
    <p:sldId id="404" r:id="rId25"/>
    <p:sldId id="272" r:id="rId26"/>
    <p:sldId id="387" r:id="rId27"/>
    <p:sldId id="394" r:id="rId28"/>
    <p:sldId id="279" r:id="rId29"/>
    <p:sldId id="282" r:id="rId30"/>
    <p:sldId id="403" r:id="rId31"/>
    <p:sldId id="401" r:id="rId32"/>
    <p:sldId id="408" r:id="rId33"/>
    <p:sldId id="410" r:id="rId34"/>
    <p:sldId id="411" r:id="rId35"/>
    <p:sldId id="412" r:id="rId36"/>
    <p:sldId id="405" r:id="rId37"/>
    <p:sldId id="297" r:id="rId38"/>
    <p:sldId id="296" r:id="rId39"/>
    <p:sldId id="415" r:id="rId40"/>
    <p:sldId id="283" r:id="rId41"/>
    <p:sldId id="416" r:id="rId42"/>
  </p:sldIdLst>
  <p:sldSz cx="17340263" cy="97536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Light"/>
      </a:defRPr>
    </a:lvl1pPr>
    <a:lvl2pPr marL="0" marR="0" indent="2286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Light"/>
      </a:defRPr>
    </a:lvl2pPr>
    <a:lvl3pPr marL="0" marR="0" indent="4572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Light"/>
      </a:defRPr>
    </a:lvl3pPr>
    <a:lvl4pPr marL="0" marR="0" indent="6858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Light"/>
      </a:defRPr>
    </a:lvl4pPr>
    <a:lvl5pPr marL="0" marR="0" indent="9144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Light"/>
      </a:defRPr>
    </a:lvl5pPr>
    <a:lvl6pPr marL="0" marR="0" indent="11430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Light"/>
      </a:defRPr>
    </a:lvl6pPr>
    <a:lvl7pPr marL="0" marR="0" indent="13716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Light"/>
      </a:defRPr>
    </a:lvl7pPr>
    <a:lvl8pPr marL="0" marR="0" indent="16002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Light"/>
      </a:defRPr>
    </a:lvl8pPr>
    <a:lvl9pPr marL="0" marR="0" indent="18288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Light"/>
      </a:defRPr>
    </a:lvl9pPr>
  </p:defaultTextStyle>
  <p:extLst>
    <p:ext uri="{521415D9-36F7-43E2-AB2F-B90AF26B5E84}">
      <p14:sectionLst xmlns:p14="http://schemas.microsoft.com/office/powerpoint/2010/main">
        <p14:section name="Default Section" id="{26BAFA0B-07C8-4EE2-BF91-F7F05DBBE52E}">
          <p14:sldIdLst>
            <p14:sldId id="257"/>
            <p14:sldId id="414"/>
            <p14:sldId id="391"/>
            <p14:sldId id="259"/>
            <p14:sldId id="260"/>
            <p14:sldId id="261"/>
            <p14:sldId id="262"/>
            <p14:sldId id="263"/>
            <p14:sldId id="392"/>
            <p14:sldId id="267"/>
            <p14:sldId id="269"/>
            <p14:sldId id="268"/>
            <p14:sldId id="289"/>
            <p14:sldId id="293"/>
            <p14:sldId id="294"/>
            <p14:sldId id="295"/>
            <p14:sldId id="402"/>
            <p14:sldId id="300"/>
            <p14:sldId id="270"/>
            <p14:sldId id="271"/>
            <p14:sldId id="404"/>
            <p14:sldId id="272"/>
            <p14:sldId id="387"/>
            <p14:sldId id="394"/>
            <p14:sldId id="279"/>
            <p14:sldId id="282"/>
            <p14:sldId id="403"/>
            <p14:sldId id="401"/>
            <p14:sldId id="408"/>
            <p14:sldId id="410"/>
            <p14:sldId id="411"/>
            <p14:sldId id="412"/>
            <p14:sldId id="405"/>
            <p14:sldId id="297"/>
            <p14:sldId id="296"/>
            <p14:sldId id="415"/>
            <p14:sldId id="283"/>
            <p14:sldId id="416"/>
          </p14:sldIdLst>
        </p14:section>
      </p14:sectionLst>
    </p:ext>
    <p:ext uri="{EFAFB233-063F-42B5-8137-9DF3F51BA10A}">
      <p15:sldGuideLst xmlns:p15="http://schemas.microsoft.com/office/powerpoint/2012/main">
        <p15:guide id="1" pos="5462" userDrawn="1">
          <p15:clr>
            <a:srgbClr val="A4A3A4"/>
          </p15:clr>
        </p15:guide>
        <p15:guide id="2" orient="horz" pos="307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2929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B9D294B-8FD1-425A-9771-B991E13B09B5}" v="5" dt="2026-02-02T10:12:45.928"/>
  </p1510:revLst>
</p1510:revInfo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wholeTbl>
    <a:band2H>
      <a:tcTxStyle/>
      <a:tcStyle>
        <a:tcBdr/>
        <a:fill>
          <a:solidFill>
            <a:srgbClr val="E3E5E8"/>
          </a:solidFill>
        </a:fill>
      </a:tcStyle>
    </a:band2H>
    <a:firstCol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398CCE"/>
          </a:solidFill>
        </a:fill>
      </a:tcStyle>
    </a:firstCol>
    <a:lastRow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solidFill>
                <a:srgbClr val="3797C6"/>
              </a:solidFill>
              <a:prstDash val="solid"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B8B8B8"/>
              </a:solidFill>
              <a:prstDash val="solid"/>
              <a:miter lim="400000"/>
            </a:ln>
          </a:left>
          <a:right>
            <a:ln w="12700" cap="flat">
              <a:solidFill>
                <a:srgbClr val="B8B8B8"/>
              </a:solidFill>
              <a:prstDash val="solid"/>
              <a:miter lim="400000"/>
            </a:ln>
          </a:right>
          <a:top>
            <a:ln w="12700" cap="flat">
              <a:solidFill>
                <a:srgbClr val="B8B8B8"/>
              </a:solidFill>
              <a:prstDash val="solid"/>
              <a:miter lim="400000"/>
            </a:ln>
          </a:top>
          <a:bottom>
            <a:ln w="12700" cap="flat">
              <a:solidFill>
                <a:srgbClr val="B8B8B8"/>
              </a:solidFill>
              <a:prstDash val="solid"/>
              <a:miter lim="400000"/>
            </a:ln>
          </a:bottom>
          <a:insideH>
            <a:ln w="12700" cap="flat">
              <a:solidFill>
                <a:srgbClr val="B8B8B8"/>
              </a:solidFill>
              <a:prstDash val="solid"/>
              <a:miter lim="400000"/>
            </a:ln>
          </a:insideH>
          <a:insideV>
            <a:ln w="12700" cap="flat">
              <a:solidFill>
                <a:srgbClr val="B8B8B8"/>
              </a:solidFill>
              <a:prstDash val="solid"/>
              <a:miter lim="400000"/>
            </a:ln>
          </a:insideV>
        </a:tcBdr>
        <a:fill>
          <a:solidFill>
            <a:srgbClr val="EBEBEB"/>
          </a:solidFill>
        </a:fill>
      </a:tcStyle>
    </a:wholeTbl>
    <a:band2H>
      <a:tcTxStyle/>
      <a:tcStyle>
        <a:tcBdr/>
        <a:fill>
          <a:solidFill>
            <a:srgbClr val="E1E0DA"/>
          </a:solidFill>
        </a:fill>
      </a:tcStyle>
    </a:band2H>
    <a:firstCol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12700" cap="flat">
              <a:solidFill>
                <a:srgbClr val="606060"/>
              </a:solidFill>
              <a:prstDash val="solid"/>
              <a:miter lim="400000"/>
            </a:ln>
          </a:left>
          <a:right>
            <a:ln w="12700" cap="flat">
              <a:solidFill>
                <a:srgbClr val="606060"/>
              </a:solidFill>
              <a:prstDash val="solid"/>
              <a:miter lim="400000"/>
            </a:ln>
          </a:right>
          <a:top>
            <a:ln w="12700" cap="flat">
              <a:solidFill>
                <a:srgbClr val="606060"/>
              </a:solidFill>
              <a:prstDash val="solid"/>
              <a:miter lim="400000"/>
            </a:ln>
          </a:top>
          <a:bottom>
            <a:ln w="12700" cap="flat">
              <a:solidFill>
                <a:srgbClr val="606060"/>
              </a:solidFill>
              <a:prstDash val="solid"/>
              <a:miter lim="400000"/>
            </a:ln>
          </a:bottom>
          <a:insideH>
            <a:ln w="12700" cap="flat">
              <a:solidFill>
                <a:srgbClr val="606060"/>
              </a:solidFill>
              <a:prstDash val="solid"/>
              <a:miter lim="400000"/>
            </a:ln>
          </a:insideH>
          <a:insideV>
            <a:ln w="12700" cap="flat">
              <a:solidFill>
                <a:srgbClr val="606060"/>
              </a:solidFill>
              <a:prstDash val="solid"/>
              <a:miter lim="400000"/>
            </a:ln>
          </a:insideV>
        </a:tcBdr>
        <a:fill>
          <a:solidFill>
            <a:srgbClr val="5AC831"/>
          </a:solidFill>
        </a:fill>
      </a:tcStyle>
    </a:firstCol>
    <a:lastRow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B8B8B8"/>
              </a:solidFill>
              <a:prstDash val="solid"/>
              <a:miter lim="400000"/>
            </a:ln>
          </a:left>
          <a:right>
            <a:ln w="12700" cap="flat">
              <a:solidFill>
                <a:srgbClr val="B8B8B8"/>
              </a:solidFill>
              <a:prstDash val="solid"/>
              <a:miter lim="400000"/>
            </a:ln>
          </a:right>
          <a:top>
            <a:ln w="25400" cap="flat">
              <a:solidFill>
                <a:srgbClr val="606060"/>
              </a:solidFill>
              <a:prstDash val="solid"/>
              <a:miter lim="400000"/>
            </a:ln>
          </a:top>
          <a:bottom>
            <a:ln w="12700" cap="flat">
              <a:solidFill>
                <a:srgbClr val="606060"/>
              </a:solidFill>
              <a:prstDash val="solid"/>
              <a:miter lim="400000"/>
            </a:ln>
          </a:bottom>
          <a:insideH>
            <a:ln w="12700" cap="flat">
              <a:solidFill>
                <a:srgbClr val="B8B8B8"/>
              </a:solidFill>
              <a:prstDash val="solid"/>
              <a:miter lim="400000"/>
            </a:ln>
          </a:insideH>
          <a:insideV>
            <a:ln w="12700" cap="flat">
              <a:solidFill>
                <a:srgbClr val="B8B8B8"/>
              </a:solidFill>
              <a:prstDash val="solid"/>
              <a:miter lim="400000"/>
            </a:ln>
          </a:insideV>
        </a:tcBdr>
        <a:fill>
          <a:solidFill>
            <a:srgbClr val="EBEBEB"/>
          </a:solidFill>
        </a:fill>
      </a:tcStyle>
    </a:lastRow>
    <a:firstRow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12700" cap="flat">
              <a:solidFill>
                <a:srgbClr val="606060"/>
              </a:solidFill>
              <a:prstDash val="solid"/>
              <a:miter lim="400000"/>
            </a:ln>
          </a:left>
          <a:right>
            <a:ln w="12700" cap="flat">
              <a:solidFill>
                <a:srgbClr val="606060"/>
              </a:solidFill>
              <a:prstDash val="solid"/>
              <a:miter lim="400000"/>
            </a:ln>
          </a:right>
          <a:top>
            <a:ln w="12700" cap="flat">
              <a:solidFill>
                <a:srgbClr val="606060"/>
              </a:solidFill>
              <a:prstDash val="solid"/>
              <a:miter lim="400000"/>
            </a:ln>
          </a:top>
          <a:bottom>
            <a:ln w="12700" cap="flat">
              <a:solidFill>
                <a:srgbClr val="606060"/>
              </a:solidFill>
              <a:prstDash val="solid"/>
              <a:miter lim="400000"/>
            </a:ln>
          </a:bottom>
          <a:insideH>
            <a:ln w="12700" cap="flat">
              <a:solidFill>
                <a:srgbClr val="606060"/>
              </a:solidFill>
              <a:prstDash val="solid"/>
              <a:miter lim="400000"/>
            </a:ln>
          </a:insideH>
          <a:insideV>
            <a:ln w="12700" cap="flat">
              <a:solidFill>
                <a:srgbClr val="606060"/>
              </a:solidFill>
              <a:prstDash val="solid"/>
              <a:miter lim="400000"/>
            </a:ln>
          </a:insideV>
        </a:tcBdr>
        <a:fill>
          <a:solidFill>
            <a:schemeClr val="accent2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left>
          <a:right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right>
          <a:top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insideV>
        </a:tcBdr>
        <a:fill>
          <a:solidFill>
            <a:srgbClr val="E6E3D7"/>
          </a:solidFill>
        </a:fill>
      </a:tcStyle>
    </a:wholeTbl>
    <a:band2H>
      <a:tcTxStyle/>
      <a:tcStyle>
        <a:tcBdr/>
        <a:fill>
          <a:solidFill>
            <a:srgbClr val="C3C2C2"/>
          </a:solidFill>
        </a:fill>
      </a:tcStyle>
    </a:band2H>
    <a:firstCol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12700" cap="flat">
              <a:solidFill>
                <a:srgbClr val="5D5D5D"/>
              </a:solidFill>
              <a:prstDash val="solid"/>
              <a:miter lim="400000"/>
            </a:ln>
          </a:left>
          <a:right>
            <a:ln w="12700" cap="flat">
              <a:solidFill>
                <a:srgbClr val="5D5D5D"/>
              </a:solidFill>
              <a:prstDash val="solid"/>
              <a:miter lim="400000"/>
            </a:ln>
          </a:right>
          <a:top>
            <a:ln w="12700" cap="flat">
              <a:solidFill>
                <a:srgbClr val="5D5D5D"/>
              </a:solidFill>
              <a:prstDash val="solid"/>
              <a:miter lim="400000"/>
            </a:ln>
          </a:top>
          <a:bottom>
            <a:ln w="12700" cap="flat">
              <a:solidFill>
                <a:srgbClr val="5D5D5D"/>
              </a:solidFill>
              <a:prstDash val="solid"/>
              <a:miter lim="400000"/>
            </a:ln>
          </a:bottom>
          <a:insideH>
            <a:ln w="12700" cap="flat">
              <a:solidFill>
                <a:srgbClr val="5D5D5D"/>
              </a:solidFill>
              <a:prstDash val="solid"/>
              <a:miter lim="400000"/>
            </a:ln>
          </a:insideH>
          <a:insideV>
            <a:ln w="12700" cap="flat">
              <a:solidFill>
                <a:srgbClr val="5D5D5D"/>
              </a:solidFill>
              <a:prstDash val="solid"/>
              <a:miter lim="400000"/>
            </a:ln>
          </a:insideV>
        </a:tcBdr>
        <a:fill>
          <a:solidFill>
            <a:srgbClr val="909C99"/>
          </a:solidFill>
        </a:fill>
      </a:tcStyle>
    </a:firstCol>
    <a:lastRow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12700" cap="flat">
              <a:solidFill>
                <a:srgbClr val="5D5D5D"/>
              </a:solidFill>
              <a:prstDash val="solid"/>
              <a:miter lim="400000"/>
            </a:ln>
          </a:left>
          <a:right>
            <a:ln w="12700" cap="flat">
              <a:solidFill>
                <a:srgbClr val="5D5D5D"/>
              </a:solidFill>
              <a:prstDash val="solid"/>
              <a:miter lim="400000"/>
            </a:ln>
          </a:right>
          <a:top>
            <a:ln w="12700" cap="flat">
              <a:solidFill>
                <a:srgbClr val="5D5D5D"/>
              </a:solidFill>
              <a:prstDash val="solid"/>
              <a:miter lim="400000"/>
            </a:ln>
          </a:top>
          <a:bottom>
            <a:ln w="12700" cap="flat">
              <a:solidFill>
                <a:srgbClr val="5D5D5D"/>
              </a:solidFill>
              <a:prstDash val="solid"/>
              <a:miter lim="400000"/>
            </a:ln>
          </a:bottom>
          <a:insideH>
            <a:ln w="12700" cap="flat">
              <a:solidFill>
                <a:srgbClr val="5D5D5D"/>
              </a:solidFill>
              <a:prstDash val="solid"/>
              <a:miter lim="400000"/>
            </a:ln>
          </a:insideH>
          <a:insideV>
            <a:ln w="12700" cap="flat">
              <a:solidFill>
                <a:srgbClr val="5D5D5D"/>
              </a:solidFill>
              <a:prstDash val="solid"/>
              <a:miter lim="400000"/>
            </a:ln>
          </a:insideV>
        </a:tcBdr>
        <a:fill>
          <a:solidFill>
            <a:srgbClr val="97764E"/>
          </a:solidFill>
        </a:fill>
      </a:tcStyle>
    </a:lastRow>
    <a:firstRow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12700" cap="flat">
              <a:solidFill>
                <a:srgbClr val="5D5D5D"/>
              </a:solidFill>
              <a:prstDash val="solid"/>
              <a:miter lim="400000"/>
            </a:ln>
          </a:left>
          <a:right>
            <a:ln w="12700" cap="flat">
              <a:solidFill>
                <a:srgbClr val="5D5D5D"/>
              </a:solidFill>
              <a:prstDash val="solid"/>
              <a:miter lim="400000"/>
            </a:ln>
          </a:right>
          <a:top>
            <a:ln w="12700" cap="flat">
              <a:solidFill>
                <a:srgbClr val="5D5D5D"/>
              </a:solidFill>
              <a:prstDash val="solid"/>
              <a:miter lim="400000"/>
            </a:ln>
          </a:top>
          <a:bottom>
            <a:ln w="12700" cap="flat">
              <a:solidFill>
                <a:srgbClr val="5D5D5D"/>
              </a:solidFill>
              <a:prstDash val="solid"/>
              <a:miter lim="400000"/>
            </a:ln>
          </a:bottom>
          <a:insideH>
            <a:ln w="12700" cap="flat">
              <a:solidFill>
                <a:srgbClr val="5D5D5D"/>
              </a:solidFill>
              <a:prstDash val="solid"/>
              <a:miter lim="400000"/>
            </a:ln>
          </a:insideH>
          <a:insideV>
            <a:ln w="12700" cap="flat">
              <a:solidFill>
                <a:srgbClr val="5D5D5D"/>
              </a:solidFill>
              <a:prstDash val="solid"/>
              <a:miter lim="400000"/>
            </a:ln>
          </a:insideV>
        </a:tcBdr>
        <a:fill>
          <a:solidFill>
            <a:srgbClr val="97764E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EBEBEB"/>
          </a:solidFill>
        </a:fill>
      </a:tcStyle>
    </a:wholeTbl>
    <a:band2H>
      <a:tcTxStyle/>
      <a:tcStyle>
        <a:tcBdr/>
        <a:fill>
          <a:solidFill>
            <a:srgbClr val="DCE5E6"/>
          </a:solidFill>
        </a:fill>
      </a:tcStyle>
    </a:band2H>
    <a:firstCol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5E7790"/>
          </a:solidFill>
        </a:fill>
      </a:tcStyle>
    </a:firstCol>
    <a:lastRow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5E7790"/>
          </a:solidFill>
        </a:fill>
      </a:tcStyle>
    </a:lastRow>
    <a:firstRow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5E7790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miter lim="400000"/>
            </a:ln>
          </a:left>
          <a:right>
            <a:ln w="127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solidFill>
                <a:srgbClr val="FFFFFF"/>
              </a:solidFill>
              <a:prstDash val="solid"/>
              <a:miter lim="400000"/>
            </a:ln>
          </a:top>
          <a:bottom>
            <a:ln w="127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D0D1D2"/>
          </a:solidFill>
        </a:fill>
      </a:tcStyle>
    </a:wholeTbl>
    <a:band2H>
      <a:tcTxStyle/>
      <a:tcStyle>
        <a:tcBdr/>
        <a:fill>
          <a:solidFill>
            <a:srgbClr val="DEDEDF"/>
          </a:solidFill>
        </a:fill>
      </a:tcStyle>
    </a:band2H>
    <a:firstCol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miter lim="400000"/>
            </a:ln>
          </a:left>
          <a:right>
            <a:ln w="127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solidFill>
                <a:srgbClr val="FFFFFF"/>
              </a:solidFill>
              <a:prstDash val="solid"/>
              <a:miter lim="400000"/>
            </a:ln>
          </a:top>
          <a:bottom>
            <a:ln w="127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535761"/>
          </a:solidFill>
        </a:fill>
      </a:tcStyle>
    </a:firstCol>
    <a:lastRow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miter lim="400000"/>
            </a:ln>
          </a:left>
          <a:right>
            <a:ln w="127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solidFill>
                <a:srgbClr val="FFFFFF"/>
              </a:solidFill>
              <a:prstDash val="solid"/>
              <a:miter lim="400000"/>
            </a:ln>
          </a:top>
          <a:bottom>
            <a:ln w="127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909398"/>
          </a:solidFill>
        </a:fill>
      </a:tcStyle>
    </a:lastRow>
    <a:firstRow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miter lim="400000"/>
            </a:ln>
          </a:left>
          <a:right>
            <a:ln w="127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solidFill>
                <a:srgbClr val="FFFFFF"/>
              </a:solidFill>
              <a:prstDash val="solid"/>
              <a:miter lim="400000"/>
            </a:ln>
          </a:top>
          <a:bottom>
            <a:ln w="127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767C85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left>
          <a:righ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DEEEE"/>
          </a:solidFill>
        </a:fill>
      </a:tcStyle>
    </a:band2H>
    <a:firstCol>
      <a:tcTxStyle b="on" i="off">
        <a:font>
          <a:latin typeface="Helvetica"/>
          <a:ea typeface="Helvetica"/>
          <a:cs typeface="Helvetica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firstCol>
    <a:lastRow>
      <a:tcTxStyle b="on" i="off">
        <a:font>
          <a:latin typeface="Helvetica"/>
          <a:ea typeface="Helvetica"/>
          <a:cs typeface="Helvetica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left>
          <a:righ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lastRow>
    <a:firstRow>
      <a:tcTxStyle b="on" i="off">
        <a:font>
          <a:latin typeface="Helvetica"/>
          <a:ea typeface="Helvetica"/>
          <a:cs typeface="Helvetica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left>
          <a:righ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472" autoAdjust="0"/>
    <p:restoredTop sz="57778" autoAdjust="0"/>
  </p:normalViewPr>
  <p:slideViewPr>
    <p:cSldViewPr snapToGrid="0" snapToObjects="1">
      <p:cViewPr varScale="1">
        <p:scale>
          <a:sx n="42" d="100"/>
          <a:sy n="42" d="100"/>
        </p:scale>
        <p:origin x="2502" y="72"/>
      </p:cViewPr>
      <p:guideLst>
        <p:guide pos="5462"/>
        <p:guide orient="horz" pos="307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tableStyles" Target="tableStyle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microsoft.com/office/2015/10/relationships/revisionInfo" Target="revisionInfo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notesMaster" Target="notesMasters/notesMaster1.xml"/><Relationship Id="rId48" Type="http://schemas.microsoft.com/office/2016/11/relationships/changesInfo" Target="changesInfos/changesInfo1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theme" Target="theme/theme1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ilomena, Gabriele" userId="237b0d7d-6741-478d-b529-08e8564676a7" providerId="ADAL" clId="{FD8544B3-9B4F-4FF9-8ED3-7DE8CB790987}"/>
    <pc:docChg chg="custSel modSld">
      <pc:chgData name="Filomena, Gabriele" userId="237b0d7d-6741-478d-b529-08e8564676a7" providerId="ADAL" clId="{FD8544B3-9B4F-4FF9-8ED3-7DE8CB790987}" dt="2026-02-02T10:12:45.920" v="47" actId="20577"/>
      <pc:docMkLst>
        <pc:docMk/>
      </pc:docMkLst>
      <pc:sldChg chg="modSp mod">
        <pc:chgData name="Filomena, Gabriele" userId="237b0d7d-6741-478d-b529-08e8564676a7" providerId="ADAL" clId="{FD8544B3-9B4F-4FF9-8ED3-7DE8CB790987}" dt="2026-02-02T10:05:14.507" v="0" actId="14100"/>
        <pc:sldMkLst>
          <pc:docMk/>
          <pc:sldMk cId="0" sldId="260"/>
        </pc:sldMkLst>
        <pc:spChg chg="mod">
          <ac:chgData name="Filomena, Gabriele" userId="237b0d7d-6741-478d-b529-08e8564676a7" providerId="ADAL" clId="{FD8544B3-9B4F-4FF9-8ED3-7DE8CB790987}" dt="2026-02-02T10:05:14.507" v="0" actId="14100"/>
          <ac:spMkLst>
            <pc:docMk/>
            <pc:sldMk cId="0" sldId="260"/>
            <ac:spMk id="8" creationId="{551F002A-FA9F-4404-9557-A243CCE74224}"/>
          </ac:spMkLst>
        </pc:spChg>
      </pc:sldChg>
      <pc:sldChg chg="modNotesTx">
        <pc:chgData name="Filomena, Gabriele" userId="237b0d7d-6741-478d-b529-08e8564676a7" providerId="ADAL" clId="{FD8544B3-9B4F-4FF9-8ED3-7DE8CB790987}" dt="2026-02-02T10:09:18.121" v="14" actId="20577"/>
        <pc:sldMkLst>
          <pc:docMk/>
          <pc:sldMk cId="0" sldId="262"/>
        </pc:sldMkLst>
      </pc:sldChg>
      <pc:sldChg chg="mod modShow">
        <pc:chgData name="Filomena, Gabriele" userId="237b0d7d-6741-478d-b529-08e8564676a7" providerId="ADAL" clId="{FD8544B3-9B4F-4FF9-8ED3-7DE8CB790987}" dt="2026-02-02T10:09:29.083" v="15" actId="729"/>
        <pc:sldMkLst>
          <pc:docMk/>
          <pc:sldMk cId="0" sldId="263"/>
        </pc:sldMkLst>
      </pc:sldChg>
      <pc:sldChg chg="modSp mod">
        <pc:chgData name="Filomena, Gabriele" userId="237b0d7d-6741-478d-b529-08e8564676a7" providerId="ADAL" clId="{FD8544B3-9B4F-4FF9-8ED3-7DE8CB790987}" dt="2026-02-02T10:08:24.576" v="11" actId="20577"/>
        <pc:sldMkLst>
          <pc:docMk/>
          <pc:sldMk cId="0" sldId="272"/>
        </pc:sldMkLst>
        <pc:spChg chg="mod">
          <ac:chgData name="Filomena, Gabriele" userId="237b0d7d-6741-478d-b529-08e8564676a7" providerId="ADAL" clId="{FD8544B3-9B4F-4FF9-8ED3-7DE8CB790987}" dt="2026-02-02T10:08:24.576" v="11" actId="20577"/>
          <ac:spMkLst>
            <pc:docMk/>
            <pc:sldMk cId="0" sldId="272"/>
            <ac:spMk id="7" creationId="{249E7921-6466-451F-8C6B-B7C2AD5B50D8}"/>
          </ac:spMkLst>
        </pc:spChg>
      </pc:sldChg>
      <pc:sldChg chg="modSp mod">
        <pc:chgData name="Filomena, Gabriele" userId="237b0d7d-6741-478d-b529-08e8564676a7" providerId="ADAL" clId="{FD8544B3-9B4F-4FF9-8ED3-7DE8CB790987}" dt="2026-02-02T10:09:42.912" v="18" actId="20577"/>
        <pc:sldMkLst>
          <pc:docMk/>
          <pc:sldMk cId="0" sldId="283"/>
        </pc:sldMkLst>
        <pc:spChg chg="mod">
          <ac:chgData name="Filomena, Gabriele" userId="237b0d7d-6741-478d-b529-08e8564676a7" providerId="ADAL" clId="{FD8544B3-9B4F-4FF9-8ED3-7DE8CB790987}" dt="2026-02-02T10:09:42.912" v="18" actId="20577"/>
          <ac:spMkLst>
            <pc:docMk/>
            <pc:sldMk cId="0" sldId="283"/>
            <ac:spMk id="8" creationId="{099BB994-ADB7-413B-9D24-B1C9F3F33682}"/>
          </ac:spMkLst>
        </pc:spChg>
      </pc:sldChg>
      <pc:sldChg chg="modSp mod">
        <pc:chgData name="Filomena, Gabriele" userId="237b0d7d-6741-478d-b529-08e8564676a7" providerId="ADAL" clId="{FD8544B3-9B4F-4FF9-8ED3-7DE8CB790987}" dt="2026-02-02T10:05:58.330" v="1" actId="115"/>
        <pc:sldMkLst>
          <pc:docMk/>
          <pc:sldMk cId="0" sldId="289"/>
        </pc:sldMkLst>
        <pc:spChg chg="mod">
          <ac:chgData name="Filomena, Gabriele" userId="237b0d7d-6741-478d-b529-08e8564676a7" providerId="ADAL" clId="{FD8544B3-9B4F-4FF9-8ED3-7DE8CB790987}" dt="2026-02-02T10:05:58.330" v="1" actId="115"/>
          <ac:spMkLst>
            <pc:docMk/>
            <pc:sldMk cId="0" sldId="289"/>
            <ac:spMk id="4" creationId="{0F43F807-A1EB-4BE4-9781-2CAA204E2500}"/>
          </ac:spMkLst>
        </pc:spChg>
      </pc:sldChg>
      <pc:sldChg chg="mod modShow">
        <pc:chgData name="Filomena, Gabriele" userId="237b0d7d-6741-478d-b529-08e8564676a7" providerId="ADAL" clId="{FD8544B3-9B4F-4FF9-8ED3-7DE8CB790987}" dt="2026-02-02T10:08:43.516" v="12" actId="729"/>
        <pc:sldMkLst>
          <pc:docMk/>
          <pc:sldMk cId="0" sldId="293"/>
        </pc:sldMkLst>
      </pc:sldChg>
      <pc:sldChg chg="addSp modSp mod">
        <pc:chgData name="Filomena, Gabriele" userId="237b0d7d-6741-478d-b529-08e8564676a7" providerId="ADAL" clId="{FD8544B3-9B4F-4FF9-8ED3-7DE8CB790987}" dt="2026-02-02T10:12:45.920" v="47" actId="20577"/>
        <pc:sldMkLst>
          <pc:docMk/>
          <pc:sldMk cId="0" sldId="295"/>
        </pc:sldMkLst>
        <pc:spChg chg="add mod">
          <ac:chgData name="Filomena, Gabriele" userId="237b0d7d-6741-478d-b529-08e8564676a7" providerId="ADAL" clId="{FD8544B3-9B4F-4FF9-8ED3-7DE8CB790987}" dt="2026-02-02T10:12:45.920" v="47" actId="20577"/>
          <ac:spMkLst>
            <pc:docMk/>
            <pc:sldMk cId="0" sldId="295"/>
            <ac:spMk id="3" creationId="{1B55E83B-ACC6-CC85-51AE-93FDFCF95018}"/>
          </ac:spMkLst>
        </pc:spChg>
        <pc:spChg chg="mod">
          <ac:chgData name="Filomena, Gabriele" userId="237b0d7d-6741-478d-b529-08e8564676a7" providerId="ADAL" clId="{FD8544B3-9B4F-4FF9-8ED3-7DE8CB790987}" dt="2026-02-02T10:12:03.834" v="24" actId="20577"/>
          <ac:spMkLst>
            <pc:docMk/>
            <pc:sldMk cId="0" sldId="295"/>
            <ac:spMk id="10" creationId="{A3BD85AF-4305-46BD-98E8-025FFCD1A354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Shape 116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17" name="Shape 117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03856619"/>
      </p:ext>
    </p:extLst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1pPr>
    <a:lvl2pPr indent="2286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2pPr>
    <a:lvl3pPr indent="4572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3pPr>
    <a:lvl4pPr indent="6858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4pPr>
    <a:lvl5pPr indent="9144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5pPr>
    <a:lvl6pPr indent="11430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6pPr>
    <a:lvl7pPr indent="13716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7pPr>
    <a:lvl8pPr indent="16002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8pPr>
    <a:lvl9pPr indent="18288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Encoding/dataset</a:t>
            </a:r>
          </a:p>
        </p:txBody>
      </p:sp>
    </p:spTree>
    <p:extLst>
      <p:ext uri="{BB962C8B-B14F-4D97-AF65-F5344CB8AC3E}">
        <p14:creationId xmlns:p14="http://schemas.microsoft.com/office/powerpoint/2010/main" val="205364639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Vision is more powerful than other senses</a:t>
            </a:r>
          </a:p>
          <a:p>
            <a:endParaRPr lang="en-GB" dirty="0"/>
          </a:p>
          <a:p>
            <a:r>
              <a:rPr lang="en-GB" dirty="0"/>
              <a:t>Machine can do it better than us</a:t>
            </a:r>
          </a:p>
        </p:txBody>
      </p:sp>
    </p:spTree>
    <p:extLst>
      <p:ext uri="{BB962C8B-B14F-4D97-AF65-F5344CB8AC3E}">
        <p14:creationId xmlns:p14="http://schemas.microsoft.com/office/powerpoint/2010/main" val="22656531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defTabSz="457200" eaLnBrk="1" fontAlgn="auto" latinLnBrk="0" hangingPunct="1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Visualisation is an abstraction of data</a:t>
            </a:r>
          </a:p>
          <a:p>
            <a:endParaRPr lang="en-GB" dirty="0"/>
          </a:p>
          <a:p>
            <a:r>
              <a:rPr lang="en-GB" dirty="0"/>
              <a:t>Building blocks</a:t>
            </a:r>
          </a:p>
          <a:p>
            <a:r>
              <a:rPr lang="en-GB" dirty="0"/>
              <a:t>- information:  certain options/routes (textual vs geographical) </a:t>
            </a:r>
          </a:p>
          <a:p>
            <a:r>
              <a:rPr lang="en-GB" dirty="0"/>
              <a:t>- why: task (filtering/augmenting) </a:t>
            </a:r>
          </a:p>
          <a:p>
            <a:pPr marL="0" indent="0">
              <a:buFontTx/>
              <a:buNone/>
            </a:pPr>
            <a:r>
              <a:rPr lang="en-GB" dirty="0"/>
              <a:t>- How </a:t>
            </a:r>
            <a:r>
              <a:rPr lang="en-GB" dirty="0">
                <a:sym typeface="Wingdings" panose="05000000000000000000" pitchFamily="2" charset="2"/>
              </a:rPr>
              <a:t> idiom, types of visualisation (e.g. </a:t>
            </a:r>
            <a:r>
              <a:rPr lang="en-GB" b="1" dirty="0">
                <a:sym typeface="Wingdings" panose="05000000000000000000" pitchFamily="2" charset="2"/>
              </a:rPr>
              <a:t>a map/chart bar is an idiom).</a:t>
            </a:r>
          </a:p>
          <a:p>
            <a:pPr marL="342900" indent="-342900">
              <a:buFontTx/>
              <a:buChar char="-"/>
            </a:pPr>
            <a:endParaRPr lang="en-GB" dirty="0">
              <a:sym typeface="Wingdings" panose="05000000000000000000" pitchFamily="2" charset="2"/>
            </a:endParaRPr>
          </a:p>
          <a:p>
            <a:pPr marL="342900" indent="-342900">
              <a:buFontTx/>
              <a:buChar char="-"/>
            </a:pPr>
            <a:endParaRPr lang="en-GB" dirty="0"/>
          </a:p>
          <a:p>
            <a:endParaRPr lang="en-GB" dirty="0"/>
          </a:p>
          <a:p>
            <a:endParaRPr lang="en-GB" dirty="0"/>
          </a:p>
          <a:p>
            <a:r>
              <a:rPr lang="en-GB" dirty="0"/>
              <a:t>Techniques</a:t>
            </a:r>
          </a:p>
          <a:p>
            <a:endParaRPr lang="en-GB" dirty="0"/>
          </a:p>
          <a:p>
            <a:r>
              <a:rPr lang="en-GB" dirty="0"/>
              <a:t>Usually, it is taken from an applied route</a:t>
            </a:r>
          </a:p>
          <a:p>
            <a:r>
              <a:rPr lang="en-GB" dirty="0"/>
              <a:t>It helps connect the dots</a:t>
            </a:r>
          </a:p>
          <a:p>
            <a:endParaRPr lang="en-GB" dirty="0"/>
          </a:p>
          <a:p>
            <a:pPr marL="13547">
              <a:spcBef>
                <a:spcPts val="2741"/>
              </a:spcBef>
            </a:pPr>
            <a:r>
              <a:rPr lang="en-GB" spc="-69" dirty="0">
                <a:solidFill>
                  <a:srgbClr val="454545"/>
                </a:solidFill>
                <a:cs typeface="Times New Roman"/>
              </a:rPr>
              <a:t>Visualisation</a:t>
            </a:r>
            <a:r>
              <a:rPr lang="en-GB" spc="-16" dirty="0">
                <a:solidFill>
                  <a:srgbClr val="454545"/>
                </a:solidFill>
                <a:cs typeface="Times New Roman"/>
              </a:rPr>
              <a:t> </a:t>
            </a:r>
            <a:r>
              <a:rPr lang="en-GB" spc="5" dirty="0">
                <a:solidFill>
                  <a:srgbClr val="454545"/>
                </a:solidFill>
                <a:cs typeface="Times New Roman"/>
              </a:rPr>
              <a:t>is</a:t>
            </a:r>
            <a:r>
              <a:rPr lang="en-GB" spc="-21" dirty="0">
                <a:solidFill>
                  <a:srgbClr val="454545"/>
                </a:solidFill>
                <a:cs typeface="Times New Roman"/>
              </a:rPr>
              <a:t> </a:t>
            </a:r>
            <a:r>
              <a:rPr lang="en-GB" spc="5" dirty="0">
                <a:solidFill>
                  <a:srgbClr val="454545"/>
                </a:solidFill>
                <a:cs typeface="Times New Roman"/>
              </a:rPr>
              <a:t>multi-use:</a:t>
            </a:r>
            <a:endParaRPr lang="en-GB" dirty="0">
              <a:cs typeface="Times New Roman"/>
            </a:endParaRPr>
          </a:p>
          <a:p>
            <a:pPr marL="1757057">
              <a:spcBef>
                <a:spcPts val="2640"/>
              </a:spcBef>
            </a:pPr>
            <a:r>
              <a:rPr lang="en-GB" spc="5" dirty="0">
                <a:solidFill>
                  <a:srgbClr val="454545"/>
                </a:solidFill>
                <a:cs typeface="Times New Roman"/>
              </a:rPr>
              <a:t>Exploring</a:t>
            </a:r>
            <a:endParaRPr lang="en-GB" dirty="0">
              <a:cs typeface="Times New Roman"/>
            </a:endParaRPr>
          </a:p>
          <a:p>
            <a:pPr marL="1757057">
              <a:spcBef>
                <a:spcPts val="1200"/>
              </a:spcBef>
            </a:pPr>
            <a:r>
              <a:rPr lang="en-GB" spc="11" dirty="0">
                <a:solidFill>
                  <a:srgbClr val="454545"/>
                </a:solidFill>
                <a:cs typeface="Times New Roman"/>
              </a:rPr>
              <a:t>Checking</a:t>
            </a:r>
            <a:r>
              <a:rPr lang="en-GB" spc="-11" dirty="0">
                <a:solidFill>
                  <a:srgbClr val="454545"/>
                </a:solidFill>
                <a:cs typeface="Times New Roman"/>
              </a:rPr>
              <a:t> </a:t>
            </a:r>
            <a:r>
              <a:rPr lang="en-GB" spc="5" dirty="0">
                <a:solidFill>
                  <a:srgbClr val="454545"/>
                </a:solidFill>
                <a:cs typeface="Times New Roman"/>
              </a:rPr>
              <a:t>pre-conceived</a:t>
            </a:r>
            <a:r>
              <a:rPr lang="en-GB" spc="-5" dirty="0">
                <a:solidFill>
                  <a:srgbClr val="454545"/>
                </a:solidFill>
                <a:cs typeface="Times New Roman"/>
              </a:rPr>
              <a:t> </a:t>
            </a:r>
            <a:r>
              <a:rPr lang="en-GB" spc="5" dirty="0">
                <a:solidFill>
                  <a:srgbClr val="454545"/>
                </a:solidFill>
                <a:cs typeface="Times New Roman"/>
              </a:rPr>
              <a:t>ideas</a:t>
            </a:r>
            <a:endParaRPr lang="en-GB" dirty="0">
              <a:cs typeface="Times New Roman"/>
            </a:endParaRPr>
          </a:p>
          <a:p>
            <a:pPr marL="1757057" marR="379319">
              <a:lnSpc>
                <a:spcPct val="125000"/>
              </a:lnSpc>
            </a:pPr>
            <a:r>
              <a:rPr lang="en-GB" spc="5" dirty="0">
                <a:solidFill>
                  <a:srgbClr val="454545"/>
                </a:solidFill>
                <a:cs typeface="Times New Roman"/>
              </a:rPr>
              <a:t>Long-term</a:t>
            </a:r>
            <a:r>
              <a:rPr lang="en-GB" spc="11" dirty="0">
                <a:solidFill>
                  <a:srgbClr val="454545"/>
                </a:solidFill>
                <a:cs typeface="Times New Roman"/>
              </a:rPr>
              <a:t> use </a:t>
            </a:r>
            <a:r>
              <a:rPr lang="en-GB" spc="5" dirty="0">
                <a:solidFill>
                  <a:srgbClr val="454545"/>
                </a:solidFill>
                <a:cs typeface="Times New Roman"/>
              </a:rPr>
              <a:t>in</a:t>
            </a:r>
            <a:r>
              <a:rPr lang="en-GB" spc="11" dirty="0">
                <a:solidFill>
                  <a:srgbClr val="454545"/>
                </a:solidFill>
                <a:cs typeface="Times New Roman"/>
              </a:rPr>
              <a:t> </a:t>
            </a:r>
            <a:r>
              <a:rPr lang="en-GB" spc="5" dirty="0">
                <a:solidFill>
                  <a:srgbClr val="454545"/>
                </a:solidFill>
                <a:cs typeface="Times New Roman"/>
              </a:rPr>
              <a:t>workflows/processes </a:t>
            </a:r>
            <a:r>
              <a:rPr lang="en-GB" spc="-987" dirty="0">
                <a:solidFill>
                  <a:srgbClr val="454545"/>
                </a:solidFill>
                <a:cs typeface="Times New Roman"/>
              </a:rPr>
              <a:t> </a:t>
            </a:r>
          </a:p>
          <a:p>
            <a:pPr marL="1757057" marR="379319">
              <a:lnSpc>
                <a:spcPct val="125000"/>
              </a:lnSpc>
            </a:pPr>
            <a:r>
              <a:rPr lang="en-GB" spc="5" dirty="0">
                <a:solidFill>
                  <a:srgbClr val="454545"/>
                </a:solidFill>
                <a:cs typeface="Times New Roman"/>
              </a:rPr>
              <a:t>Presentation</a:t>
            </a:r>
            <a:endParaRPr lang="en-GB" dirty="0">
              <a:cs typeface="Times New Roman"/>
            </a:endParaRPr>
          </a:p>
          <a:p>
            <a:pPr marL="0" marR="5419" indent="0">
              <a:lnSpc>
                <a:spcPct val="108300"/>
              </a:lnSpc>
              <a:spcBef>
                <a:spcPts val="2160"/>
              </a:spcBef>
              <a:buNone/>
            </a:pPr>
            <a:r>
              <a:rPr lang="en-GB" spc="21" dirty="0">
                <a:solidFill>
                  <a:srgbClr val="454545"/>
                </a:solidFill>
                <a:cs typeface="Times New Roman"/>
              </a:rPr>
              <a:t>A </a:t>
            </a:r>
            <a:r>
              <a:rPr lang="en-GB" spc="5" dirty="0">
                <a:solidFill>
                  <a:srgbClr val="454545"/>
                </a:solidFill>
                <a:cs typeface="Times New Roman"/>
              </a:rPr>
              <a:t>tool that serves well for </a:t>
            </a:r>
            <a:r>
              <a:rPr lang="en-GB" spc="11" dirty="0">
                <a:solidFill>
                  <a:srgbClr val="454545"/>
                </a:solidFill>
                <a:cs typeface="Times New Roman"/>
              </a:rPr>
              <a:t>one </a:t>
            </a:r>
            <a:r>
              <a:rPr lang="en-GB" spc="5" dirty="0">
                <a:solidFill>
                  <a:srgbClr val="454545"/>
                </a:solidFill>
                <a:cs typeface="Times New Roman"/>
              </a:rPr>
              <a:t>task </a:t>
            </a:r>
            <a:r>
              <a:rPr lang="en-GB" spc="11" dirty="0">
                <a:solidFill>
                  <a:srgbClr val="454545"/>
                </a:solidFill>
                <a:cs typeface="Times New Roman"/>
              </a:rPr>
              <a:t>can be </a:t>
            </a:r>
            <a:r>
              <a:rPr lang="en-GB" spc="5" dirty="0">
                <a:solidFill>
                  <a:srgbClr val="454545"/>
                </a:solidFill>
                <a:cs typeface="Times New Roman"/>
              </a:rPr>
              <a:t>poorly </a:t>
            </a:r>
            <a:r>
              <a:rPr lang="en-GB" spc="-987" dirty="0">
                <a:solidFill>
                  <a:srgbClr val="454545"/>
                </a:solidFill>
                <a:cs typeface="Times New Roman"/>
              </a:rPr>
              <a:t> </a:t>
            </a:r>
            <a:r>
              <a:rPr lang="en-GB" spc="5" dirty="0">
                <a:solidFill>
                  <a:srgbClr val="454545"/>
                </a:solidFill>
                <a:cs typeface="Times New Roman"/>
              </a:rPr>
              <a:t>suited</a:t>
            </a:r>
            <a:r>
              <a:rPr lang="en-GB" dirty="0">
                <a:solidFill>
                  <a:srgbClr val="454545"/>
                </a:solidFill>
                <a:cs typeface="Times New Roman"/>
              </a:rPr>
              <a:t> </a:t>
            </a:r>
            <a:r>
              <a:rPr lang="en-GB" spc="5" dirty="0">
                <a:solidFill>
                  <a:srgbClr val="454545"/>
                </a:solidFill>
                <a:cs typeface="Times New Roman"/>
              </a:rPr>
              <a:t>for another</a:t>
            </a:r>
            <a:endParaRPr lang="en-GB" dirty="0">
              <a:cs typeface="Times New Roman"/>
            </a:endParaRP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434797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Critical processes/decisions</a:t>
            </a:r>
          </a:p>
        </p:txBody>
      </p:sp>
    </p:spTree>
    <p:extLst>
      <p:ext uri="{BB962C8B-B14F-4D97-AF65-F5344CB8AC3E}">
        <p14:creationId xmlns:p14="http://schemas.microsoft.com/office/powerpoint/2010/main" val="196241269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just" defTabSz="457200" eaLnBrk="1" fontAlgn="auto" latinLnBrk="0" hangingPunct="1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2000" dirty="0">
                <a:cs typeface="Calibri"/>
              </a:rPr>
              <a:t>Maps</a:t>
            </a:r>
            <a:r>
              <a:rPr lang="en-GB" sz="2000" spc="-48" dirty="0">
                <a:cs typeface="Calibri"/>
              </a:rPr>
              <a:t> </a:t>
            </a:r>
            <a:r>
              <a:rPr lang="en-GB" sz="2000" dirty="0">
                <a:cs typeface="Calibri"/>
              </a:rPr>
              <a:t>weaker</a:t>
            </a:r>
            <a:r>
              <a:rPr lang="en-GB" sz="2000" spc="-37" dirty="0">
                <a:cs typeface="Calibri"/>
              </a:rPr>
              <a:t> </a:t>
            </a:r>
            <a:r>
              <a:rPr lang="en-GB" sz="2000" dirty="0">
                <a:cs typeface="Calibri"/>
              </a:rPr>
              <a:t>for</a:t>
            </a:r>
            <a:r>
              <a:rPr lang="en-GB" sz="2000" spc="-11" dirty="0">
                <a:cs typeface="Calibri"/>
              </a:rPr>
              <a:t> communicating</a:t>
            </a:r>
            <a:r>
              <a:rPr lang="en-GB" sz="2000" spc="-59" dirty="0">
                <a:cs typeface="Calibri"/>
              </a:rPr>
              <a:t> </a:t>
            </a:r>
            <a:r>
              <a:rPr lang="en-GB" sz="2000" dirty="0">
                <a:cs typeface="Calibri"/>
              </a:rPr>
              <a:t>other</a:t>
            </a:r>
            <a:r>
              <a:rPr lang="en-GB" sz="2000" spc="-43" dirty="0">
                <a:cs typeface="Calibri"/>
              </a:rPr>
              <a:t> </a:t>
            </a:r>
            <a:r>
              <a:rPr lang="en-GB" sz="2000" spc="-11" dirty="0">
                <a:cs typeface="Calibri"/>
              </a:rPr>
              <a:t>important</a:t>
            </a:r>
            <a:r>
              <a:rPr lang="en-GB" sz="2000" spc="-53" dirty="0">
                <a:cs typeface="Calibri"/>
              </a:rPr>
              <a:t> </a:t>
            </a:r>
            <a:r>
              <a:rPr lang="en-GB" sz="2000" spc="-11" dirty="0">
                <a:cs typeface="Calibri"/>
              </a:rPr>
              <a:t>variable </a:t>
            </a:r>
            <a:r>
              <a:rPr lang="en-GB" sz="2000" dirty="0">
                <a:cs typeface="Calibri"/>
              </a:rPr>
              <a:t>like</a:t>
            </a:r>
            <a:r>
              <a:rPr lang="en-GB" sz="2000" spc="-43" dirty="0">
                <a:cs typeface="Calibri"/>
              </a:rPr>
              <a:t> </a:t>
            </a:r>
            <a:r>
              <a:rPr lang="en-GB" sz="2000" dirty="0">
                <a:cs typeface="Calibri"/>
              </a:rPr>
              <a:t>magnitude,</a:t>
            </a:r>
            <a:r>
              <a:rPr lang="en-GB" sz="2000" spc="-69" dirty="0">
                <a:cs typeface="Calibri"/>
              </a:rPr>
              <a:t> </a:t>
            </a:r>
            <a:r>
              <a:rPr lang="en-GB" sz="2000" dirty="0">
                <a:cs typeface="Calibri"/>
              </a:rPr>
              <a:t>direct</a:t>
            </a:r>
            <a:r>
              <a:rPr lang="en-GB" sz="2000" spc="-48" dirty="0">
                <a:cs typeface="Calibri"/>
              </a:rPr>
              <a:t> </a:t>
            </a:r>
            <a:r>
              <a:rPr lang="en-GB" sz="2000" dirty="0">
                <a:cs typeface="Calibri"/>
              </a:rPr>
              <a:t>numerical</a:t>
            </a:r>
            <a:r>
              <a:rPr lang="en-GB" sz="2000" spc="-80" dirty="0">
                <a:cs typeface="Calibri"/>
              </a:rPr>
              <a:t> </a:t>
            </a:r>
            <a:r>
              <a:rPr lang="en-GB" sz="2000" dirty="0">
                <a:cs typeface="Calibri"/>
              </a:rPr>
              <a:t>comparisons</a:t>
            </a:r>
            <a:r>
              <a:rPr lang="en-GB" sz="2000" spc="-37" dirty="0">
                <a:cs typeface="Calibri"/>
              </a:rPr>
              <a:t> </a:t>
            </a:r>
            <a:r>
              <a:rPr lang="en-GB" sz="2000" dirty="0">
                <a:cs typeface="Calibri"/>
              </a:rPr>
              <a:t>and</a:t>
            </a:r>
            <a:r>
              <a:rPr lang="en-GB" sz="2000" spc="-75" dirty="0">
                <a:cs typeface="Calibri"/>
              </a:rPr>
              <a:t> </a:t>
            </a:r>
            <a:r>
              <a:rPr lang="en-GB" sz="2000" spc="-11" dirty="0">
                <a:cs typeface="Calibri"/>
              </a:rPr>
              <a:t>change </a:t>
            </a:r>
            <a:r>
              <a:rPr lang="en-GB" sz="2000" dirty="0">
                <a:cs typeface="Calibri"/>
              </a:rPr>
              <a:t>over</a:t>
            </a:r>
            <a:r>
              <a:rPr lang="en-GB" sz="2000" spc="-53" dirty="0">
                <a:cs typeface="Calibri"/>
              </a:rPr>
              <a:t> </a:t>
            </a:r>
            <a:r>
              <a:rPr lang="en-GB" sz="2000" spc="-11" dirty="0">
                <a:cs typeface="Calibri"/>
              </a:rPr>
              <a:t>time.</a:t>
            </a:r>
            <a:endParaRPr lang="en-GB" sz="2000" dirty="0">
              <a:cs typeface="Calibri"/>
            </a:endParaRP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5437368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defTabSz="457200" eaLnBrk="1" fontAlgn="auto" latinLnBrk="0" hangingPunct="1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b="1" dirty="0">
                <a:cs typeface="Calibri"/>
              </a:rPr>
              <a:t>Legibility depends on many decisions, such as the scale of the data, and good graphic design.</a:t>
            </a:r>
          </a:p>
          <a:p>
            <a:pPr marL="0" marR="0" lvl="0" indent="0" defTabSz="457200" eaLnBrk="1" fontAlgn="auto" latinLnBrk="0" hangingPunct="1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b="1" dirty="0">
              <a:cs typeface="Calibri"/>
            </a:endParaRPr>
          </a:p>
          <a:p>
            <a:pPr marL="0" marR="0" lvl="0" indent="0" defTabSz="457200" eaLnBrk="1" fontAlgn="auto" latinLnBrk="0" hangingPunct="1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>
                <a:cs typeface="Calibri"/>
              </a:rPr>
              <a:t>Not just that features should be in the correct location, </a:t>
            </a:r>
          </a:p>
          <a:p>
            <a:pPr marL="0" marR="0" lvl="0" indent="0" defTabSz="457200" eaLnBrk="1" fontAlgn="auto" latinLnBrk="0" hangingPunct="1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b="1" dirty="0">
              <a:cs typeface="Calibri"/>
            </a:endParaRPr>
          </a:p>
          <a:p>
            <a:pPr marL="0" marR="0" lvl="0" indent="0" defTabSz="457200" eaLnBrk="1" fontAlgn="auto" latinLnBrk="0" hangingPunct="1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>
                <a:cs typeface="Calibri"/>
              </a:rPr>
              <a:t>Ref data sources, include a legend defining the classification.</a:t>
            </a:r>
            <a:endParaRPr lang="en-GB" b="1" dirty="0">
              <a:cs typeface="Calibri"/>
            </a:endParaRPr>
          </a:p>
          <a:p>
            <a:pPr marL="0" marR="0" lvl="0" indent="0" defTabSz="457200" eaLnBrk="1" fontAlgn="auto" latinLnBrk="0" hangingPunct="1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b="1" dirty="0">
              <a:cs typeface="Calibri"/>
            </a:endParaRP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8499748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3547">
              <a:spcBef>
                <a:spcPts val="1744"/>
              </a:spcBef>
            </a:pPr>
            <a:r>
              <a:rPr lang="en-GB" sz="4000" b="1" dirty="0">
                <a:cs typeface="Calibri"/>
              </a:rPr>
              <a:t>Following</a:t>
            </a:r>
            <a:r>
              <a:rPr lang="en-GB" sz="4000" b="1" spc="-107" dirty="0">
                <a:cs typeface="Calibri"/>
              </a:rPr>
              <a:t> </a:t>
            </a:r>
            <a:r>
              <a:rPr lang="en-GB" sz="4000" b="1" dirty="0">
                <a:cs typeface="Calibri"/>
              </a:rPr>
              <a:t>Best</a:t>
            </a:r>
            <a:r>
              <a:rPr lang="en-GB" sz="4000" b="1" spc="-69" dirty="0">
                <a:cs typeface="Calibri"/>
              </a:rPr>
              <a:t> </a:t>
            </a:r>
            <a:r>
              <a:rPr lang="en-GB" sz="4000" b="1" spc="-11" dirty="0">
                <a:cs typeface="Calibri"/>
              </a:rPr>
              <a:t>Practice</a:t>
            </a:r>
            <a:endParaRPr lang="en-GB" sz="4000" dirty="0">
              <a:cs typeface="Calibri"/>
            </a:endParaRPr>
          </a:p>
          <a:p>
            <a:pPr marL="13547">
              <a:spcBef>
                <a:spcPts val="965"/>
              </a:spcBef>
            </a:pPr>
            <a:r>
              <a:rPr lang="en-GB" dirty="0">
                <a:cs typeface="Calibri"/>
              </a:rPr>
              <a:t>No</a:t>
            </a:r>
            <a:r>
              <a:rPr lang="en-GB" spc="-69" dirty="0">
                <a:cs typeface="Calibri"/>
              </a:rPr>
              <a:t> </a:t>
            </a:r>
            <a:r>
              <a:rPr lang="en-GB" dirty="0">
                <a:cs typeface="Calibri"/>
              </a:rPr>
              <a:t>easy</a:t>
            </a:r>
            <a:r>
              <a:rPr lang="en-GB" spc="-43" dirty="0">
                <a:cs typeface="Calibri"/>
              </a:rPr>
              <a:t> </a:t>
            </a:r>
            <a:r>
              <a:rPr lang="en-GB" spc="-11" dirty="0">
                <a:cs typeface="Calibri"/>
              </a:rPr>
              <a:t>answers,</a:t>
            </a:r>
            <a:r>
              <a:rPr lang="en-GB" spc="-48" dirty="0">
                <a:cs typeface="Calibri"/>
              </a:rPr>
              <a:t> </a:t>
            </a:r>
            <a:r>
              <a:rPr lang="en-GB" dirty="0">
                <a:cs typeface="Calibri"/>
              </a:rPr>
              <a:t>following</a:t>
            </a:r>
            <a:r>
              <a:rPr lang="en-GB" spc="-75" dirty="0">
                <a:cs typeface="Calibri"/>
              </a:rPr>
              <a:t> </a:t>
            </a:r>
            <a:r>
              <a:rPr lang="en-GB" dirty="0">
                <a:cs typeface="Calibri"/>
              </a:rPr>
              <a:t>map</a:t>
            </a:r>
            <a:r>
              <a:rPr lang="en-GB" spc="-59" dirty="0">
                <a:cs typeface="Calibri"/>
              </a:rPr>
              <a:t> </a:t>
            </a:r>
            <a:r>
              <a:rPr lang="en-GB" dirty="0">
                <a:cs typeface="Calibri"/>
              </a:rPr>
              <a:t>design</a:t>
            </a:r>
            <a:r>
              <a:rPr lang="en-GB" spc="-32" dirty="0">
                <a:cs typeface="Calibri"/>
              </a:rPr>
              <a:t> </a:t>
            </a:r>
            <a:r>
              <a:rPr lang="en-GB" dirty="0">
                <a:cs typeface="Calibri"/>
              </a:rPr>
              <a:t>best</a:t>
            </a:r>
            <a:r>
              <a:rPr lang="en-GB" spc="-48" dirty="0">
                <a:cs typeface="Calibri"/>
              </a:rPr>
              <a:t> </a:t>
            </a:r>
            <a:r>
              <a:rPr lang="en-GB" dirty="0">
                <a:cs typeface="Calibri"/>
              </a:rPr>
              <a:t>practice</a:t>
            </a:r>
            <a:r>
              <a:rPr lang="en-GB" spc="-43" dirty="0">
                <a:cs typeface="Calibri"/>
              </a:rPr>
              <a:t> </a:t>
            </a:r>
            <a:r>
              <a:rPr lang="en-GB" spc="-11" dirty="0">
                <a:cs typeface="Calibri"/>
              </a:rPr>
              <a:t>helps.</a:t>
            </a:r>
            <a:endParaRPr lang="en-GB" dirty="0">
              <a:cs typeface="Calibri"/>
            </a:endParaRPr>
          </a:p>
          <a:p>
            <a:pPr marL="13547" marR="5419">
              <a:lnSpc>
                <a:spcPts val="1611"/>
              </a:lnSpc>
              <a:spcBef>
                <a:spcPts val="1093"/>
              </a:spcBef>
            </a:pPr>
            <a:r>
              <a:rPr lang="en-GB" dirty="0">
                <a:cs typeface="Calibri"/>
              </a:rPr>
              <a:t>More</a:t>
            </a:r>
            <a:r>
              <a:rPr lang="en-GB" spc="-59" dirty="0">
                <a:cs typeface="Calibri"/>
              </a:rPr>
              <a:t> </a:t>
            </a:r>
            <a:r>
              <a:rPr lang="en-GB" spc="-11" dirty="0">
                <a:cs typeface="Calibri"/>
              </a:rPr>
              <a:t>profound</a:t>
            </a:r>
            <a:r>
              <a:rPr lang="en-GB" spc="-75" dirty="0">
                <a:cs typeface="Calibri"/>
              </a:rPr>
              <a:t> </a:t>
            </a:r>
            <a:r>
              <a:rPr lang="en-GB" dirty="0">
                <a:cs typeface="Calibri"/>
              </a:rPr>
              <a:t>response</a:t>
            </a:r>
            <a:r>
              <a:rPr lang="en-GB" spc="-43" dirty="0">
                <a:cs typeface="Calibri"/>
              </a:rPr>
              <a:t> </a:t>
            </a:r>
            <a:r>
              <a:rPr lang="en-GB" dirty="0">
                <a:cs typeface="Calibri"/>
              </a:rPr>
              <a:t>to</a:t>
            </a:r>
            <a:r>
              <a:rPr lang="en-GB" spc="-53" dirty="0">
                <a:cs typeface="Calibri"/>
              </a:rPr>
              <a:t> </a:t>
            </a:r>
            <a:r>
              <a:rPr lang="en-GB" dirty="0">
                <a:cs typeface="Calibri"/>
              </a:rPr>
              <a:t>include</a:t>
            </a:r>
            <a:r>
              <a:rPr lang="en-GB" spc="-32" dirty="0">
                <a:cs typeface="Calibri"/>
              </a:rPr>
              <a:t> </a:t>
            </a:r>
            <a:r>
              <a:rPr lang="en-GB" dirty="0">
                <a:cs typeface="Calibri"/>
              </a:rPr>
              <a:t>multiple</a:t>
            </a:r>
            <a:r>
              <a:rPr lang="en-GB" spc="-37" dirty="0">
                <a:cs typeface="Calibri"/>
              </a:rPr>
              <a:t> </a:t>
            </a:r>
            <a:r>
              <a:rPr lang="en-GB" spc="-11" dirty="0">
                <a:cs typeface="Calibri"/>
              </a:rPr>
              <a:t>representations</a:t>
            </a:r>
            <a:r>
              <a:rPr lang="en-GB" spc="-21" dirty="0">
                <a:cs typeface="Calibri"/>
              </a:rPr>
              <a:t> </a:t>
            </a:r>
            <a:r>
              <a:rPr lang="en-GB" dirty="0">
                <a:cs typeface="Calibri"/>
              </a:rPr>
              <a:t>and</a:t>
            </a:r>
            <a:r>
              <a:rPr lang="en-GB" spc="-53" dirty="0">
                <a:cs typeface="Calibri"/>
              </a:rPr>
              <a:t> </a:t>
            </a:r>
            <a:r>
              <a:rPr lang="en-GB" spc="-11" dirty="0">
                <a:cs typeface="Calibri"/>
              </a:rPr>
              <a:t>voices. </a:t>
            </a:r>
            <a:r>
              <a:rPr lang="en-GB" dirty="0">
                <a:cs typeface="Calibri"/>
              </a:rPr>
              <a:t>See</a:t>
            </a:r>
            <a:r>
              <a:rPr lang="en-GB" spc="-48" dirty="0">
                <a:cs typeface="Calibri"/>
              </a:rPr>
              <a:t> </a:t>
            </a:r>
            <a:r>
              <a:rPr lang="en-GB" dirty="0">
                <a:cs typeface="Calibri"/>
              </a:rPr>
              <a:t>Community</a:t>
            </a:r>
            <a:r>
              <a:rPr lang="en-GB" spc="-32" dirty="0">
                <a:cs typeface="Calibri"/>
              </a:rPr>
              <a:t> </a:t>
            </a:r>
            <a:r>
              <a:rPr lang="en-GB" dirty="0">
                <a:cs typeface="Calibri"/>
              </a:rPr>
              <a:t>Mapping</a:t>
            </a:r>
            <a:r>
              <a:rPr lang="en-GB" spc="-27" dirty="0">
                <a:cs typeface="Calibri"/>
              </a:rPr>
              <a:t> </a:t>
            </a:r>
            <a:r>
              <a:rPr lang="en-GB" dirty="0">
                <a:cs typeface="Calibri"/>
              </a:rPr>
              <a:t>and</a:t>
            </a:r>
            <a:r>
              <a:rPr lang="en-GB" spc="-37" dirty="0">
                <a:cs typeface="Calibri"/>
              </a:rPr>
              <a:t> </a:t>
            </a:r>
            <a:r>
              <a:rPr lang="en-GB" dirty="0">
                <a:cs typeface="Calibri"/>
              </a:rPr>
              <a:t>Critical</a:t>
            </a:r>
            <a:r>
              <a:rPr lang="en-GB" spc="-32" dirty="0">
                <a:cs typeface="Calibri"/>
              </a:rPr>
              <a:t> </a:t>
            </a:r>
            <a:r>
              <a:rPr lang="en-GB" dirty="0">
                <a:cs typeface="Calibri"/>
              </a:rPr>
              <a:t>GIS</a:t>
            </a:r>
            <a:r>
              <a:rPr lang="en-GB" spc="-48" dirty="0">
                <a:cs typeface="Calibri"/>
              </a:rPr>
              <a:t> </a:t>
            </a:r>
            <a:r>
              <a:rPr lang="en-GB" spc="-11" dirty="0">
                <a:cs typeface="Calibri"/>
              </a:rPr>
              <a:t>movements</a:t>
            </a:r>
            <a:r>
              <a:rPr lang="en-GB" spc="-43" dirty="0">
                <a:cs typeface="Calibri"/>
              </a:rPr>
              <a:t> </a:t>
            </a:r>
            <a:r>
              <a:rPr lang="en-GB" dirty="0">
                <a:cs typeface="Calibri"/>
              </a:rPr>
              <a:t>for</a:t>
            </a:r>
            <a:r>
              <a:rPr lang="en-GB" spc="-59" dirty="0">
                <a:cs typeface="Calibri"/>
              </a:rPr>
              <a:t> </a:t>
            </a:r>
            <a:r>
              <a:rPr lang="en-GB" dirty="0">
                <a:cs typeface="Calibri"/>
              </a:rPr>
              <a:t>this</a:t>
            </a:r>
            <a:r>
              <a:rPr lang="en-GB" spc="-27" dirty="0">
                <a:cs typeface="Calibri"/>
              </a:rPr>
              <a:t> </a:t>
            </a:r>
            <a:r>
              <a:rPr lang="en-GB" spc="-11" dirty="0">
                <a:cs typeface="Calibri"/>
              </a:rPr>
              <a:t>approach.</a:t>
            </a:r>
          </a:p>
          <a:p>
            <a:pPr marL="13547" marR="5419" lvl="0" indent="0" defTabSz="457200" eaLnBrk="1" fontAlgn="auto" latinLnBrk="0" hangingPunct="1">
              <a:lnSpc>
                <a:spcPts val="1611"/>
              </a:lnSpc>
              <a:spcBef>
                <a:spcPts val="1093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>
                <a:cs typeface="Calibri"/>
              </a:rPr>
              <a:t>. Can be biased and fail to capture urban diversity. Also possible through map design choices to misdirect viewers.</a:t>
            </a:r>
          </a:p>
          <a:p>
            <a:pPr marL="13547" marR="5419">
              <a:lnSpc>
                <a:spcPts val="1611"/>
              </a:lnSpc>
              <a:spcBef>
                <a:spcPts val="1093"/>
              </a:spcBef>
            </a:pPr>
            <a:endParaRPr lang="en-GB" b="1" spc="-11" dirty="0">
              <a:cs typeface="Calibri"/>
            </a:endParaRPr>
          </a:p>
          <a:p>
            <a:pPr marL="13547" marR="5419">
              <a:lnSpc>
                <a:spcPts val="1611"/>
              </a:lnSpc>
              <a:spcBef>
                <a:spcPts val="1093"/>
              </a:spcBef>
            </a:pPr>
            <a:endParaRPr lang="en-GB" dirty="0">
              <a:cs typeface="Calibri"/>
            </a:endParaRP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76180967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defTabSz="457200" eaLnBrk="1" fontAlgn="auto" latinLnBrk="0" hangingPunct="1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pc="5" dirty="0">
                <a:solidFill>
                  <a:srgbClr val="454545"/>
                </a:solidFill>
                <a:cs typeface="Times New Roman"/>
              </a:rPr>
              <a:t>Align with </a:t>
            </a:r>
            <a:r>
              <a:rPr lang="en-GB" spc="11" dirty="0">
                <a:solidFill>
                  <a:srgbClr val="454545"/>
                </a:solidFill>
                <a:cs typeface="Times New Roman"/>
              </a:rPr>
              <a:t>your </a:t>
            </a:r>
            <a:r>
              <a:rPr lang="en-GB" spc="5" dirty="0">
                <a:solidFill>
                  <a:srgbClr val="454545"/>
                </a:solidFill>
                <a:cs typeface="Times New Roman"/>
              </a:rPr>
              <a:t>purpose </a:t>
            </a:r>
            <a:r>
              <a:rPr lang="en-GB" spc="11" dirty="0">
                <a:solidFill>
                  <a:srgbClr val="454545"/>
                </a:solidFill>
                <a:cs typeface="Times New Roman"/>
              </a:rPr>
              <a:t>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098511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defTabSz="457200" eaLnBrk="1" fontAlgn="auto" latinLnBrk="0" hangingPunct="1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pc="5" dirty="0">
                <a:solidFill>
                  <a:srgbClr val="454545"/>
                </a:solidFill>
                <a:cs typeface="Times New Roman"/>
              </a:rPr>
              <a:t>Align with </a:t>
            </a:r>
            <a:r>
              <a:rPr lang="en-GB" spc="11" dirty="0">
                <a:solidFill>
                  <a:srgbClr val="454545"/>
                </a:solidFill>
                <a:cs typeface="Times New Roman"/>
              </a:rPr>
              <a:t>your </a:t>
            </a:r>
            <a:r>
              <a:rPr lang="en-GB" spc="5" dirty="0">
                <a:solidFill>
                  <a:srgbClr val="454545"/>
                </a:solidFill>
                <a:cs typeface="Times New Roman"/>
              </a:rPr>
              <a:t>purpose </a:t>
            </a:r>
            <a:r>
              <a:rPr lang="en-GB" spc="11" dirty="0">
                <a:solidFill>
                  <a:srgbClr val="454545"/>
                </a:solidFill>
                <a:cs typeface="Times New Roman"/>
              </a:rPr>
              <a:t>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3325139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defTabSz="457200" eaLnBrk="1" fontAlgn="auto" latinLnBrk="0" hangingPunct="1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pc="5" dirty="0">
                <a:solidFill>
                  <a:srgbClr val="454545"/>
                </a:solidFill>
                <a:cs typeface="Times New Roman"/>
              </a:rPr>
              <a:t>Align with </a:t>
            </a:r>
            <a:r>
              <a:rPr lang="en-GB" spc="11" dirty="0">
                <a:solidFill>
                  <a:srgbClr val="454545"/>
                </a:solidFill>
                <a:cs typeface="Times New Roman"/>
              </a:rPr>
              <a:t>your </a:t>
            </a:r>
            <a:r>
              <a:rPr lang="en-GB" spc="5" dirty="0">
                <a:solidFill>
                  <a:srgbClr val="454545"/>
                </a:solidFill>
                <a:cs typeface="Times New Roman"/>
              </a:rPr>
              <a:t>purpose </a:t>
            </a:r>
            <a:r>
              <a:rPr lang="en-GB" spc="11" dirty="0">
                <a:solidFill>
                  <a:srgbClr val="454545"/>
                </a:solidFill>
                <a:cs typeface="Times New Roman"/>
              </a:rPr>
              <a:t>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0384439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defTabSz="457200" eaLnBrk="1" fontAlgn="auto" latinLnBrk="0" hangingPunct="1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pc="5" dirty="0">
                <a:solidFill>
                  <a:srgbClr val="454545"/>
                </a:solidFill>
                <a:cs typeface="Times New Roman"/>
              </a:rPr>
              <a:t>Align with </a:t>
            </a:r>
            <a:r>
              <a:rPr lang="en-GB" spc="11" dirty="0">
                <a:solidFill>
                  <a:srgbClr val="454545"/>
                </a:solidFill>
                <a:cs typeface="Times New Roman"/>
              </a:rPr>
              <a:t>your </a:t>
            </a:r>
            <a:r>
              <a:rPr lang="en-GB" spc="5" dirty="0">
                <a:solidFill>
                  <a:srgbClr val="454545"/>
                </a:solidFill>
                <a:cs typeface="Times New Roman"/>
              </a:rPr>
              <a:t>purpose </a:t>
            </a:r>
            <a:r>
              <a:rPr lang="en-GB" spc="11" dirty="0">
                <a:solidFill>
                  <a:srgbClr val="454545"/>
                </a:solidFill>
                <a:cs typeface="Times New Roman"/>
              </a:rPr>
              <a:t>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8800859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defTabSz="457200" eaLnBrk="1" fontAlgn="auto" latinLnBrk="0" hangingPunct="1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pc="5" dirty="0">
                <a:solidFill>
                  <a:srgbClr val="454545"/>
                </a:solidFill>
                <a:cs typeface="Times New Roman"/>
              </a:rPr>
              <a:t>Align with </a:t>
            </a:r>
            <a:r>
              <a:rPr lang="en-GB" spc="11" dirty="0">
                <a:solidFill>
                  <a:srgbClr val="454545"/>
                </a:solidFill>
                <a:cs typeface="Times New Roman"/>
              </a:rPr>
              <a:t>your </a:t>
            </a:r>
            <a:r>
              <a:rPr lang="en-GB" spc="5" dirty="0">
                <a:solidFill>
                  <a:srgbClr val="454545"/>
                </a:solidFill>
                <a:cs typeface="Times New Roman"/>
              </a:rPr>
              <a:t>purpose </a:t>
            </a:r>
            <a:r>
              <a:rPr lang="en-GB" spc="11" dirty="0">
                <a:solidFill>
                  <a:srgbClr val="454545"/>
                </a:solidFill>
                <a:cs typeface="Times New Roman"/>
              </a:rPr>
              <a:t>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055657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defTabSz="457200" eaLnBrk="1" fontAlgn="auto" latinLnBrk="0" hangingPunct="1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pc="5" dirty="0">
                <a:solidFill>
                  <a:srgbClr val="454545"/>
                </a:solidFill>
                <a:cs typeface="Times New Roman"/>
              </a:rPr>
              <a:t>Align with </a:t>
            </a:r>
            <a:r>
              <a:rPr lang="en-GB" spc="11" dirty="0">
                <a:solidFill>
                  <a:srgbClr val="454545"/>
                </a:solidFill>
                <a:cs typeface="Times New Roman"/>
              </a:rPr>
              <a:t>your </a:t>
            </a:r>
            <a:r>
              <a:rPr lang="en-GB" spc="5" dirty="0">
                <a:solidFill>
                  <a:srgbClr val="454545"/>
                </a:solidFill>
                <a:cs typeface="Times New Roman"/>
              </a:rPr>
              <a:t>purpose </a:t>
            </a:r>
            <a:r>
              <a:rPr lang="en-GB" spc="11" dirty="0">
                <a:solidFill>
                  <a:srgbClr val="454545"/>
                </a:solidFill>
                <a:cs typeface="Times New Roman"/>
              </a:rPr>
              <a:t>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0688306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defTabSz="457200" eaLnBrk="1" fontAlgn="auto" latinLnBrk="0" hangingPunct="1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distorting size of global South.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6670915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defTabSz="457200" eaLnBrk="1" fontAlgn="auto" latinLnBrk="0" hangingPunct="1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2400" dirty="0">
                <a:latin typeface="Bahnschrift" panose="020B0502040204020203" pitchFamily="34" charset="0"/>
                <a:cs typeface="Calibri"/>
              </a:rPr>
              <a:t>All</a:t>
            </a:r>
            <a:r>
              <a:rPr lang="en-GB" sz="2400" spc="-32" dirty="0">
                <a:latin typeface="Bahnschrift" panose="020B0502040204020203" pitchFamily="34" charset="0"/>
                <a:cs typeface="Calibri"/>
              </a:rPr>
              <a:t> </a:t>
            </a:r>
            <a:r>
              <a:rPr lang="en-GB" sz="2400" dirty="0">
                <a:latin typeface="Bahnschrift" panose="020B0502040204020203" pitchFamily="34" charset="0"/>
                <a:cs typeface="Calibri"/>
              </a:rPr>
              <a:t>spatial</a:t>
            </a:r>
            <a:r>
              <a:rPr lang="en-GB" sz="2400" spc="-53" dirty="0">
                <a:latin typeface="Bahnschrift" panose="020B0502040204020203" pitchFamily="34" charset="0"/>
                <a:cs typeface="Calibri"/>
              </a:rPr>
              <a:t> </a:t>
            </a:r>
            <a:r>
              <a:rPr lang="en-GB" sz="2400" dirty="0">
                <a:latin typeface="Bahnschrift" panose="020B0502040204020203" pitchFamily="34" charset="0"/>
                <a:cs typeface="Calibri"/>
              </a:rPr>
              <a:t>data</a:t>
            </a:r>
            <a:r>
              <a:rPr lang="en-GB" sz="2400" spc="-37" dirty="0">
                <a:latin typeface="Bahnschrift" panose="020B0502040204020203" pitchFamily="34" charset="0"/>
                <a:cs typeface="Calibri"/>
              </a:rPr>
              <a:t> </a:t>
            </a:r>
            <a:r>
              <a:rPr lang="en-GB" sz="2400" dirty="0">
                <a:latin typeface="Bahnschrift" panose="020B0502040204020203" pitchFamily="34" charset="0"/>
                <a:cs typeface="Calibri"/>
              </a:rPr>
              <a:t>is</a:t>
            </a:r>
            <a:r>
              <a:rPr lang="en-GB" sz="2400" spc="-32" dirty="0">
                <a:latin typeface="Bahnschrift" panose="020B0502040204020203" pitchFamily="34" charset="0"/>
                <a:cs typeface="Calibri"/>
              </a:rPr>
              <a:t> </a:t>
            </a:r>
            <a:r>
              <a:rPr lang="en-GB" sz="2400" dirty="0">
                <a:latin typeface="Bahnschrift" panose="020B0502040204020203" pitchFamily="34" charset="0"/>
                <a:cs typeface="Calibri"/>
              </a:rPr>
              <a:t>a</a:t>
            </a:r>
            <a:r>
              <a:rPr lang="en-GB" sz="2400" spc="-27" dirty="0">
                <a:latin typeface="Bahnschrift" panose="020B0502040204020203" pitchFamily="34" charset="0"/>
                <a:cs typeface="Calibri"/>
              </a:rPr>
              <a:t> </a:t>
            </a:r>
            <a:r>
              <a:rPr lang="en-GB" sz="2400" spc="-11" dirty="0">
                <a:latin typeface="Bahnschrift" panose="020B0502040204020203" pitchFamily="34" charset="0"/>
                <a:cs typeface="Calibri"/>
              </a:rPr>
              <a:t>representation</a:t>
            </a:r>
            <a:r>
              <a:rPr lang="en-GB" sz="2400" spc="16" dirty="0">
                <a:latin typeface="Bahnschrift" panose="020B0502040204020203" pitchFamily="34" charset="0"/>
                <a:cs typeface="Calibri"/>
              </a:rPr>
              <a:t> </a:t>
            </a:r>
            <a:r>
              <a:rPr lang="en-GB" sz="2400" dirty="0">
                <a:latin typeface="Bahnschrift" panose="020B0502040204020203" pitchFamily="34" charset="0"/>
                <a:cs typeface="Calibri"/>
              </a:rPr>
              <a:t>of</a:t>
            </a:r>
            <a:r>
              <a:rPr lang="en-GB" sz="2400" spc="-11" dirty="0">
                <a:latin typeface="Bahnschrift" panose="020B0502040204020203" pitchFamily="34" charset="0"/>
                <a:cs typeface="Calibri"/>
              </a:rPr>
              <a:t> </a:t>
            </a:r>
            <a:r>
              <a:rPr lang="en-GB" sz="2400" dirty="0">
                <a:latin typeface="Bahnschrift" panose="020B0502040204020203" pitchFamily="34" charset="0"/>
                <a:cs typeface="Calibri"/>
              </a:rPr>
              <a:t>the</a:t>
            </a:r>
            <a:r>
              <a:rPr lang="en-GB" sz="2400" spc="-27" dirty="0">
                <a:latin typeface="Bahnschrift" panose="020B0502040204020203" pitchFamily="34" charset="0"/>
                <a:cs typeface="Calibri"/>
              </a:rPr>
              <a:t> </a:t>
            </a:r>
            <a:r>
              <a:rPr lang="en-GB" sz="2400" spc="-11" dirty="0">
                <a:latin typeface="Bahnschrift" panose="020B0502040204020203" pitchFamily="34" charset="0"/>
                <a:cs typeface="Calibri"/>
              </a:rPr>
              <a:t>complex </a:t>
            </a:r>
            <a:r>
              <a:rPr lang="en-GB" sz="2400" dirty="0">
                <a:latin typeface="Bahnschrift" panose="020B0502040204020203" pitchFamily="34" charset="0"/>
                <a:cs typeface="Calibri"/>
              </a:rPr>
              <a:t>three</a:t>
            </a:r>
            <a:r>
              <a:rPr lang="en-GB" sz="2400" spc="-27" dirty="0">
                <a:latin typeface="Bahnschrift" panose="020B0502040204020203" pitchFamily="34" charset="0"/>
                <a:cs typeface="Calibri"/>
              </a:rPr>
              <a:t> </a:t>
            </a:r>
            <a:r>
              <a:rPr lang="en-GB" sz="2400" dirty="0">
                <a:latin typeface="Bahnschrift" panose="020B0502040204020203" pitchFamily="34" charset="0"/>
                <a:cs typeface="Calibri"/>
              </a:rPr>
              <a:t>dimensional</a:t>
            </a:r>
            <a:r>
              <a:rPr lang="en-GB" sz="2400" spc="-43" dirty="0">
                <a:latin typeface="Bahnschrift" panose="020B0502040204020203" pitchFamily="34" charset="0"/>
                <a:cs typeface="Calibri"/>
              </a:rPr>
              <a:t> </a:t>
            </a:r>
            <a:r>
              <a:rPr lang="en-GB" sz="2400" dirty="0">
                <a:latin typeface="Bahnschrift" panose="020B0502040204020203" pitchFamily="34" charset="0"/>
                <a:cs typeface="Calibri"/>
              </a:rPr>
              <a:t>earth.</a:t>
            </a:r>
            <a:r>
              <a:rPr lang="en-GB" sz="2400" spc="-32" dirty="0">
                <a:latin typeface="Bahnschrift" panose="020B0502040204020203" pitchFamily="34" charset="0"/>
                <a:cs typeface="Calibri"/>
              </a:rPr>
              <a:t> </a:t>
            </a:r>
            <a:r>
              <a:rPr lang="en-GB" sz="2400" dirty="0">
                <a:latin typeface="Bahnschrift" panose="020B0502040204020203" pitchFamily="34" charset="0"/>
                <a:cs typeface="Calibri"/>
              </a:rPr>
              <a:t>Need</a:t>
            </a:r>
            <a:r>
              <a:rPr lang="en-GB" sz="2400" spc="-21" dirty="0">
                <a:latin typeface="Bahnschrift" panose="020B0502040204020203" pitchFamily="34" charset="0"/>
                <a:cs typeface="Calibri"/>
              </a:rPr>
              <a:t> </a:t>
            </a:r>
            <a:r>
              <a:rPr lang="en-GB" sz="2400" dirty="0">
                <a:latin typeface="Bahnschrift" panose="020B0502040204020203" pitchFamily="34" charset="0"/>
                <a:cs typeface="Calibri"/>
              </a:rPr>
              <a:t>to</a:t>
            </a:r>
            <a:r>
              <a:rPr lang="en-GB" sz="2400" spc="-43" dirty="0">
                <a:latin typeface="Bahnschrift" panose="020B0502040204020203" pitchFamily="34" charset="0"/>
                <a:cs typeface="Calibri"/>
              </a:rPr>
              <a:t> </a:t>
            </a:r>
            <a:r>
              <a:rPr lang="en-GB" sz="2400" dirty="0">
                <a:latin typeface="Bahnschrift" panose="020B0502040204020203" pitchFamily="34" charset="0"/>
                <a:cs typeface="Calibri"/>
              </a:rPr>
              <a:t>use</a:t>
            </a:r>
            <a:r>
              <a:rPr lang="en-GB" sz="2400" spc="-37" dirty="0">
                <a:latin typeface="Bahnschrift" panose="020B0502040204020203" pitchFamily="34" charset="0"/>
                <a:cs typeface="Calibri"/>
              </a:rPr>
              <a:t> </a:t>
            </a:r>
            <a:r>
              <a:rPr lang="en-GB" sz="2400" dirty="0">
                <a:latin typeface="Bahnschrift" panose="020B0502040204020203" pitchFamily="34" charset="0"/>
                <a:cs typeface="Calibri"/>
              </a:rPr>
              <a:t>a</a:t>
            </a:r>
            <a:r>
              <a:rPr lang="en-GB" sz="2400" spc="-43" dirty="0">
                <a:latin typeface="Bahnschrift" panose="020B0502040204020203" pitchFamily="34" charset="0"/>
                <a:cs typeface="Calibri"/>
              </a:rPr>
              <a:t> </a:t>
            </a:r>
            <a:r>
              <a:rPr lang="en-GB" sz="2400" spc="-11" dirty="0">
                <a:latin typeface="Bahnschrift" panose="020B0502040204020203" pitchFamily="34" charset="0"/>
                <a:cs typeface="Calibri"/>
              </a:rPr>
              <a:t>reference </a:t>
            </a:r>
            <a:r>
              <a:rPr lang="en-GB" sz="2400" dirty="0">
                <a:latin typeface="Bahnschrift" panose="020B0502040204020203" pitchFamily="34" charset="0"/>
                <a:cs typeface="Calibri"/>
              </a:rPr>
              <a:t>model,</a:t>
            </a:r>
            <a:r>
              <a:rPr lang="en-GB" sz="2400" spc="-53" dirty="0">
                <a:latin typeface="Bahnschrift" panose="020B0502040204020203" pitchFamily="34" charset="0"/>
                <a:cs typeface="Calibri"/>
              </a:rPr>
              <a:t> </a:t>
            </a:r>
            <a:r>
              <a:rPr lang="en-GB" sz="2400" dirty="0">
                <a:latin typeface="Bahnschrift" panose="020B0502040204020203" pitchFamily="34" charset="0"/>
                <a:cs typeface="Calibri"/>
              </a:rPr>
              <a:t>called</a:t>
            </a:r>
            <a:r>
              <a:rPr lang="en-GB" sz="2400" spc="-69" dirty="0">
                <a:latin typeface="Bahnschrift" panose="020B0502040204020203" pitchFamily="34" charset="0"/>
                <a:cs typeface="Calibri"/>
              </a:rPr>
              <a:t> </a:t>
            </a:r>
            <a:r>
              <a:rPr lang="en-GB" sz="2400" dirty="0">
                <a:latin typeface="Bahnschrift" panose="020B0502040204020203" pitchFamily="34" charset="0"/>
                <a:cs typeface="Calibri"/>
              </a:rPr>
              <a:t>a</a:t>
            </a:r>
            <a:r>
              <a:rPr lang="en-GB" sz="2400" spc="-59" dirty="0">
                <a:latin typeface="Bahnschrift" panose="020B0502040204020203" pitchFamily="34" charset="0"/>
                <a:cs typeface="Calibri"/>
              </a:rPr>
              <a:t> </a:t>
            </a:r>
            <a:r>
              <a:rPr lang="en-GB" sz="2400" dirty="0">
                <a:latin typeface="Bahnschrift" panose="020B0502040204020203" pitchFamily="34" charset="0"/>
                <a:cs typeface="Calibri"/>
              </a:rPr>
              <a:t>Coordinate</a:t>
            </a:r>
            <a:r>
              <a:rPr lang="en-GB" sz="2400" spc="-48" dirty="0">
                <a:latin typeface="Bahnschrift" panose="020B0502040204020203" pitchFamily="34" charset="0"/>
                <a:cs typeface="Calibri"/>
              </a:rPr>
              <a:t> </a:t>
            </a:r>
            <a:r>
              <a:rPr lang="en-GB" sz="2400" spc="-11" dirty="0">
                <a:latin typeface="Bahnschrift" panose="020B0502040204020203" pitchFamily="34" charset="0"/>
                <a:cs typeface="Calibri"/>
              </a:rPr>
              <a:t>Reference</a:t>
            </a:r>
            <a:r>
              <a:rPr lang="en-GB" sz="2400" spc="-32" dirty="0">
                <a:latin typeface="Bahnschrift" panose="020B0502040204020203" pitchFamily="34" charset="0"/>
                <a:cs typeface="Calibri"/>
              </a:rPr>
              <a:t> </a:t>
            </a:r>
            <a:r>
              <a:rPr lang="en-GB" sz="2400" spc="-11" dirty="0">
                <a:latin typeface="Bahnschrift" panose="020B0502040204020203" pitchFamily="34" charset="0"/>
                <a:cs typeface="Calibri"/>
              </a:rPr>
              <a:t>System</a:t>
            </a:r>
            <a:r>
              <a:rPr lang="en-GB" sz="2400" spc="-43" dirty="0">
                <a:latin typeface="Bahnschrift" panose="020B0502040204020203" pitchFamily="34" charset="0"/>
                <a:cs typeface="Calibri"/>
              </a:rPr>
              <a:t> </a:t>
            </a:r>
            <a:r>
              <a:rPr lang="en-GB" sz="2400" spc="-11" dirty="0">
                <a:latin typeface="Bahnschrift" panose="020B0502040204020203" pitchFamily="34" charset="0"/>
                <a:cs typeface="Calibri"/>
              </a:rPr>
              <a:t>(CRS). </a:t>
            </a:r>
            <a:r>
              <a:rPr lang="en-GB" sz="2400" spc="-64" dirty="0">
                <a:latin typeface="Bahnschrift" panose="020B0502040204020203" pitchFamily="34" charset="0"/>
                <a:cs typeface="Calibri"/>
              </a:rPr>
              <a:t>To</a:t>
            </a:r>
            <a:r>
              <a:rPr lang="en-GB" sz="2400" spc="-21" dirty="0">
                <a:latin typeface="Bahnschrift" panose="020B0502040204020203" pitchFamily="34" charset="0"/>
                <a:cs typeface="Calibri"/>
              </a:rPr>
              <a:t> </a:t>
            </a:r>
            <a:r>
              <a:rPr lang="en-GB" sz="2400" dirty="0">
                <a:latin typeface="Bahnschrift" panose="020B0502040204020203" pitchFamily="34" charset="0"/>
                <a:cs typeface="Calibri"/>
              </a:rPr>
              <a:t>display</a:t>
            </a:r>
            <a:r>
              <a:rPr lang="en-GB" sz="2400" spc="-59" dirty="0">
                <a:latin typeface="Bahnschrift" panose="020B0502040204020203" pitchFamily="34" charset="0"/>
                <a:cs typeface="Calibri"/>
              </a:rPr>
              <a:t> </a:t>
            </a:r>
            <a:r>
              <a:rPr lang="en-GB" sz="2400" dirty="0">
                <a:latin typeface="Bahnschrift" panose="020B0502040204020203" pitchFamily="34" charset="0"/>
                <a:cs typeface="Calibri"/>
              </a:rPr>
              <a:t>data</a:t>
            </a:r>
            <a:r>
              <a:rPr lang="en-GB" sz="2400" spc="-43" dirty="0">
                <a:latin typeface="Bahnschrift" panose="020B0502040204020203" pitchFamily="34" charset="0"/>
                <a:cs typeface="Calibri"/>
              </a:rPr>
              <a:t> </a:t>
            </a:r>
            <a:r>
              <a:rPr lang="en-GB" sz="2400" dirty="0">
                <a:latin typeface="Bahnschrift" panose="020B0502040204020203" pitchFamily="34" charset="0"/>
                <a:cs typeface="Calibri"/>
              </a:rPr>
              <a:t>on</a:t>
            </a:r>
            <a:r>
              <a:rPr lang="en-GB" sz="2400" spc="-32" dirty="0">
                <a:latin typeface="Bahnschrift" panose="020B0502040204020203" pitchFamily="34" charset="0"/>
                <a:cs typeface="Calibri"/>
              </a:rPr>
              <a:t> </a:t>
            </a:r>
            <a:r>
              <a:rPr lang="en-GB" sz="2400" dirty="0">
                <a:latin typeface="Bahnschrift" panose="020B0502040204020203" pitchFamily="34" charset="0"/>
                <a:cs typeface="Calibri"/>
              </a:rPr>
              <a:t>a</a:t>
            </a:r>
            <a:r>
              <a:rPr lang="en-GB" sz="2400" spc="-27" dirty="0">
                <a:latin typeface="Bahnschrift" panose="020B0502040204020203" pitchFamily="34" charset="0"/>
                <a:cs typeface="Calibri"/>
              </a:rPr>
              <a:t> </a:t>
            </a:r>
            <a:r>
              <a:rPr lang="en-GB" sz="2400" dirty="0">
                <a:latin typeface="Bahnschrift" panose="020B0502040204020203" pitchFamily="34" charset="0"/>
                <a:cs typeface="Calibri"/>
              </a:rPr>
              <a:t>map,</a:t>
            </a:r>
            <a:r>
              <a:rPr lang="en-GB" sz="2400" spc="-27" dirty="0">
                <a:latin typeface="Bahnschrift" panose="020B0502040204020203" pitchFamily="34" charset="0"/>
                <a:cs typeface="Calibri"/>
              </a:rPr>
              <a:t> </a:t>
            </a:r>
            <a:r>
              <a:rPr lang="en-GB" sz="2400" dirty="0">
                <a:latin typeface="Bahnschrift" panose="020B0502040204020203" pitchFamily="34" charset="0"/>
                <a:cs typeface="Calibri"/>
              </a:rPr>
              <a:t>three</a:t>
            </a:r>
            <a:r>
              <a:rPr lang="en-GB" sz="2400" spc="-5" dirty="0">
                <a:latin typeface="Bahnschrift" panose="020B0502040204020203" pitchFamily="34" charset="0"/>
                <a:cs typeface="Calibri"/>
              </a:rPr>
              <a:t> </a:t>
            </a:r>
            <a:r>
              <a:rPr lang="en-GB" sz="2400" dirty="0">
                <a:latin typeface="Bahnschrift" panose="020B0502040204020203" pitchFamily="34" charset="0"/>
                <a:cs typeface="Calibri"/>
              </a:rPr>
              <a:t>dimensional</a:t>
            </a:r>
            <a:r>
              <a:rPr lang="en-GB" sz="2400" spc="-48" dirty="0">
                <a:latin typeface="Bahnschrift" panose="020B0502040204020203" pitchFamily="34" charset="0"/>
                <a:cs typeface="Calibri"/>
              </a:rPr>
              <a:t> </a:t>
            </a:r>
            <a:r>
              <a:rPr lang="en-GB" sz="2400" spc="-11" dirty="0">
                <a:latin typeface="Bahnschrift" panose="020B0502040204020203" pitchFamily="34" charset="0"/>
                <a:cs typeface="Calibri"/>
              </a:rPr>
              <a:t>globe </a:t>
            </a:r>
            <a:r>
              <a:rPr lang="en-GB" sz="2400" dirty="0">
                <a:latin typeface="Bahnschrift" panose="020B0502040204020203" pitchFamily="34" charset="0"/>
                <a:cs typeface="Calibri"/>
              </a:rPr>
              <a:t>has</a:t>
            </a:r>
            <a:r>
              <a:rPr lang="en-GB" sz="2400" spc="-43" dirty="0">
                <a:latin typeface="Bahnschrift" panose="020B0502040204020203" pitchFamily="34" charset="0"/>
                <a:cs typeface="Calibri"/>
              </a:rPr>
              <a:t> </a:t>
            </a:r>
            <a:r>
              <a:rPr lang="en-GB" sz="2400" dirty="0">
                <a:latin typeface="Bahnschrift" panose="020B0502040204020203" pitchFamily="34" charset="0"/>
                <a:cs typeface="Calibri"/>
              </a:rPr>
              <a:t>to</a:t>
            </a:r>
            <a:r>
              <a:rPr lang="en-GB" sz="2400" spc="-43" dirty="0">
                <a:latin typeface="Bahnschrift" panose="020B0502040204020203" pitchFamily="34" charset="0"/>
                <a:cs typeface="Calibri"/>
              </a:rPr>
              <a:t> </a:t>
            </a:r>
            <a:r>
              <a:rPr lang="en-GB" sz="2400" dirty="0">
                <a:latin typeface="Bahnschrift" panose="020B0502040204020203" pitchFamily="34" charset="0"/>
                <a:cs typeface="Calibri"/>
              </a:rPr>
              <a:t>be</a:t>
            </a:r>
            <a:r>
              <a:rPr lang="en-GB" sz="2400" spc="-37" dirty="0">
                <a:latin typeface="Bahnschrift" panose="020B0502040204020203" pitchFamily="34" charset="0"/>
                <a:cs typeface="Calibri"/>
              </a:rPr>
              <a:t> </a:t>
            </a:r>
            <a:r>
              <a:rPr lang="en-GB" sz="2400" spc="-11" dirty="0">
                <a:latin typeface="Bahnschrift" panose="020B0502040204020203" pitchFamily="34" charset="0"/>
                <a:cs typeface="Calibri"/>
              </a:rPr>
              <a:t>converted</a:t>
            </a:r>
            <a:r>
              <a:rPr lang="en-GB" sz="2400" spc="-21" dirty="0">
                <a:latin typeface="Bahnschrift" panose="020B0502040204020203" pitchFamily="34" charset="0"/>
                <a:cs typeface="Calibri"/>
              </a:rPr>
              <a:t> </a:t>
            </a:r>
            <a:r>
              <a:rPr lang="en-GB" sz="2400" dirty="0">
                <a:latin typeface="Bahnschrift" panose="020B0502040204020203" pitchFamily="34" charset="0"/>
                <a:cs typeface="Calibri"/>
              </a:rPr>
              <a:t>into</a:t>
            </a:r>
            <a:r>
              <a:rPr lang="en-GB" sz="2400" spc="-59" dirty="0">
                <a:latin typeface="Bahnschrift" panose="020B0502040204020203" pitchFamily="34" charset="0"/>
                <a:cs typeface="Calibri"/>
              </a:rPr>
              <a:t> </a:t>
            </a:r>
            <a:r>
              <a:rPr lang="en-GB" sz="2400" dirty="0">
                <a:latin typeface="Bahnschrift" panose="020B0502040204020203" pitchFamily="34" charset="0"/>
                <a:cs typeface="Calibri"/>
              </a:rPr>
              <a:t>two</a:t>
            </a:r>
            <a:r>
              <a:rPr lang="en-GB" sz="2400" spc="-21" dirty="0">
                <a:latin typeface="Bahnschrift" panose="020B0502040204020203" pitchFamily="34" charset="0"/>
                <a:cs typeface="Calibri"/>
              </a:rPr>
              <a:t> </a:t>
            </a:r>
            <a:r>
              <a:rPr lang="en-GB" sz="2400" dirty="0">
                <a:latin typeface="Bahnschrift" panose="020B0502040204020203" pitchFamily="34" charset="0"/>
                <a:cs typeface="Calibri"/>
              </a:rPr>
              <a:t>dimensions.</a:t>
            </a:r>
            <a:r>
              <a:rPr lang="en-GB" sz="2400" spc="-48" dirty="0">
                <a:latin typeface="Bahnschrift" panose="020B0502040204020203" pitchFamily="34" charset="0"/>
                <a:cs typeface="Calibri"/>
              </a:rPr>
              <a:t> </a:t>
            </a:r>
            <a:r>
              <a:rPr lang="en-GB" sz="2400" spc="-11" dirty="0">
                <a:latin typeface="Bahnschrift" panose="020B0502040204020203" pitchFamily="34" charset="0"/>
                <a:cs typeface="Calibri"/>
              </a:rPr>
              <a:t>Method </a:t>
            </a:r>
            <a:r>
              <a:rPr lang="en-GB" sz="2400" dirty="0">
                <a:latin typeface="Bahnschrift" panose="020B0502040204020203" pitchFamily="34" charset="0"/>
                <a:cs typeface="Calibri"/>
              </a:rPr>
              <a:t>for</a:t>
            </a:r>
            <a:r>
              <a:rPr lang="en-GB" sz="2400" spc="-16" dirty="0">
                <a:latin typeface="Bahnschrift" panose="020B0502040204020203" pitchFamily="34" charset="0"/>
                <a:cs typeface="Calibri"/>
              </a:rPr>
              <a:t> </a:t>
            </a:r>
            <a:r>
              <a:rPr lang="en-GB" sz="2400" dirty="0">
                <a:latin typeface="Bahnschrift" panose="020B0502040204020203" pitchFamily="34" charset="0"/>
                <a:cs typeface="Calibri"/>
              </a:rPr>
              <a:t>doing</a:t>
            </a:r>
            <a:r>
              <a:rPr lang="en-GB" sz="2400" spc="-37" dirty="0">
                <a:latin typeface="Bahnschrift" panose="020B0502040204020203" pitchFamily="34" charset="0"/>
                <a:cs typeface="Calibri"/>
              </a:rPr>
              <a:t> </a:t>
            </a:r>
            <a:r>
              <a:rPr lang="en-GB" sz="2400" dirty="0">
                <a:latin typeface="Bahnschrift" panose="020B0502040204020203" pitchFamily="34" charset="0"/>
                <a:cs typeface="Calibri"/>
              </a:rPr>
              <a:t>this</a:t>
            </a:r>
            <a:r>
              <a:rPr lang="en-GB" sz="2400" spc="-43" dirty="0">
                <a:latin typeface="Bahnschrift" panose="020B0502040204020203" pitchFamily="34" charset="0"/>
                <a:cs typeface="Calibri"/>
              </a:rPr>
              <a:t> </a:t>
            </a:r>
            <a:r>
              <a:rPr lang="en-GB" sz="2400" dirty="0">
                <a:latin typeface="Bahnschrift" panose="020B0502040204020203" pitchFamily="34" charset="0"/>
                <a:cs typeface="Calibri"/>
              </a:rPr>
              <a:t>called</a:t>
            </a:r>
            <a:r>
              <a:rPr lang="en-GB" sz="2400" spc="-37" dirty="0">
                <a:latin typeface="Bahnschrift" panose="020B0502040204020203" pitchFamily="34" charset="0"/>
                <a:cs typeface="Calibri"/>
              </a:rPr>
              <a:t> </a:t>
            </a:r>
            <a:r>
              <a:rPr lang="en-GB" sz="2400" dirty="0">
                <a:latin typeface="Bahnschrift" panose="020B0502040204020203" pitchFamily="34" charset="0"/>
                <a:cs typeface="Calibri"/>
              </a:rPr>
              <a:t>a</a:t>
            </a:r>
            <a:r>
              <a:rPr lang="en-GB" sz="2400" spc="-32" dirty="0">
                <a:latin typeface="Bahnschrift" panose="020B0502040204020203" pitchFamily="34" charset="0"/>
                <a:cs typeface="Calibri"/>
              </a:rPr>
              <a:t> </a:t>
            </a:r>
            <a:r>
              <a:rPr lang="en-GB" sz="2400" spc="-11" dirty="0">
                <a:latin typeface="Bahnschrift" panose="020B0502040204020203" pitchFamily="34" charset="0"/>
                <a:cs typeface="Calibri"/>
              </a:rPr>
              <a:t>projection.</a:t>
            </a:r>
            <a:endParaRPr lang="en-GB" sz="2400" dirty="0">
              <a:latin typeface="Bahnschrift" panose="020B0502040204020203" pitchFamily="34" charset="0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94657038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defTabSz="457200" eaLnBrk="1" fontAlgn="auto" latinLnBrk="0" hangingPunct="1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2400" dirty="0">
                <a:latin typeface="Bahnschrift" panose="020B0502040204020203" pitchFamily="34" charset="0"/>
                <a:cs typeface="Calibri"/>
              </a:rPr>
              <a:t>All</a:t>
            </a:r>
            <a:r>
              <a:rPr lang="en-GB" sz="2400" spc="-32" dirty="0">
                <a:latin typeface="Bahnschrift" panose="020B0502040204020203" pitchFamily="34" charset="0"/>
                <a:cs typeface="Calibri"/>
              </a:rPr>
              <a:t> </a:t>
            </a:r>
            <a:r>
              <a:rPr lang="en-GB" sz="2400" dirty="0">
                <a:latin typeface="Bahnschrift" panose="020B0502040204020203" pitchFamily="34" charset="0"/>
                <a:cs typeface="Calibri"/>
              </a:rPr>
              <a:t>spatial</a:t>
            </a:r>
            <a:r>
              <a:rPr lang="en-GB" sz="2400" spc="-53" dirty="0">
                <a:latin typeface="Bahnschrift" panose="020B0502040204020203" pitchFamily="34" charset="0"/>
                <a:cs typeface="Calibri"/>
              </a:rPr>
              <a:t> </a:t>
            </a:r>
            <a:r>
              <a:rPr lang="en-GB" sz="2400" dirty="0">
                <a:latin typeface="Bahnschrift" panose="020B0502040204020203" pitchFamily="34" charset="0"/>
                <a:cs typeface="Calibri"/>
              </a:rPr>
              <a:t>data</a:t>
            </a:r>
            <a:r>
              <a:rPr lang="en-GB" sz="2400" spc="-37" dirty="0">
                <a:latin typeface="Bahnschrift" panose="020B0502040204020203" pitchFamily="34" charset="0"/>
                <a:cs typeface="Calibri"/>
              </a:rPr>
              <a:t> </a:t>
            </a:r>
            <a:r>
              <a:rPr lang="en-GB" sz="2400" dirty="0">
                <a:latin typeface="Bahnschrift" panose="020B0502040204020203" pitchFamily="34" charset="0"/>
                <a:cs typeface="Calibri"/>
              </a:rPr>
              <a:t>is</a:t>
            </a:r>
            <a:r>
              <a:rPr lang="en-GB" sz="2400" spc="-32" dirty="0">
                <a:latin typeface="Bahnschrift" panose="020B0502040204020203" pitchFamily="34" charset="0"/>
                <a:cs typeface="Calibri"/>
              </a:rPr>
              <a:t> </a:t>
            </a:r>
            <a:r>
              <a:rPr lang="en-GB" sz="2400" dirty="0">
                <a:latin typeface="Bahnschrift" panose="020B0502040204020203" pitchFamily="34" charset="0"/>
                <a:cs typeface="Calibri"/>
              </a:rPr>
              <a:t>a</a:t>
            </a:r>
            <a:r>
              <a:rPr lang="en-GB" sz="2400" spc="-27" dirty="0">
                <a:latin typeface="Bahnschrift" panose="020B0502040204020203" pitchFamily="34" charset="0"/>
                <a:cs typeface="Calibri"/>
              </a:rPr>
              <a:t> </a:t>
            </a:r>
            <a:r>
              <a:rPr lang="en-GB" sz="2400" spc="-11" dirty="0">
                <a:latin typeface="Bahnschrift" panose="020B0502040204020203" pitchFamily="34" charset="0"/>
                <a:cs typeface="Calibri"/>
              </a:rPr>
              <a:t>representation</a:t>
            </a:r>
            <a:r>
              <a:rPr lang="en-GB" sz="2400" spc="16" dirty="0">
                <a:latin typeface="Bahnschrift" panose="020B0502040204020203" pitchFamily="34" charset="0"/>
                <a:cs typeface="Calibri"/>
              </a:rPr>
              <a:t> </a:t>
            </a:r>
            <a:r>
              <a:rPr lang="en-GB" sz="2400" dirty="0">
                <a:latin typeface="Bahnschrift" panose="020B0502040204020203" pitchFamily="34" charset="0"/>
                <a:cs typeface="Calibri"/>
              </a:rPr>
              <a:t>of</a:t>
            </a:r>
            <a:r>
              <a:rPr lang="en-GB" sz="2400" spc="-11" dirty="0">
                <a:latin typeface="Bahnschrift" panose="020B0502040204020203" pitchFamily="34" charset="0"/>
                <a:cs typeface="Calibri"/>
              </a:rPr>
              <a:t> </a:t>
            </a:r>
            <a:r>
              <a:rPr lang="en-GB" sz="2400" dirty="0">
                <a:latin typeface="Bahnschrift" panose="020B0502040204020203" pitchFamily="34" charset="0"/>
                <a:cs typeface="Calibri"/>
              </a:rPr>
              <a:t>the</a:t>
            </a:r>
            <a:r>
              <a:rPr lang="en-GB" sz="2400" spc="-27" dirty="0">
                <a:latin typeface="Bahnschrift" panose="020B0502040204020203" pitchFamily="34" charset="0"/>
                <a:cs typeface="Calibri"/>
              </a:rPr>
              <a:t> </a:t>
            </a:r>
            <a:r>
              <a:rPr lang="en-GB" sz="2400" spc="-11" dirty="0">
                <a:latin typeface="Bahnschrift" panose="020B0502040204020203" pitchFamily="34" charset="0"/>
                <a:cs typeface="Calibri"/>
              </a:rPr>
              <a:t>complex </a:t>
            </a:r>
            <a:r>
              <a:rPr lang="en-GB" sz="2400" dirty="0">
                <a:latin typeface="Bahnschrift" panose="020B0502040204020203" pitchFamily="34" charset="0"/>
                <a:cs typeface="Calibri"/>
              </a:rPr>
              <a:t>three</a:t>
            </a:r>
            <a:r>
              <a:rPr lang="en-GB" sz="2400" spc="-27" dirty="0">
                <a:latin typeface="Bahnschrift" panose="020B0502040204020203" pitchFamily="34" charset="0"/>
                <a:cs typeface="Calibri"/>
              </a:rPr>
              <a:t> </a:t>
            </a:r>
            <a:r>
              <a:rPr lang="en-GB" sz="2400" dirty="0">
                <a:latin typeface="Bahnschrift" panose="020B0502040204020203" pitchFamily="34" charset="0"/>
                <a:cs typeface="Calibri"/>
              </a:rPr>
              <a:t>dimensional</a:t>
            </a:r>
            <a:r>
              <a:rPr lang="en-GB" sz="2400" spc="-43" dirty="0">
                <a:latin typeface="Bahnschrift" panose="020B0502040204020203" pitchFamily="34" charset="0"/>
                <a:cs typeface="Calibri"/>
              </a:rPr>
              <a:t> </a:t>
            </a:r>
            <a:r>
              <a:rPr lang="en-GB" sz="2400" dirty="0">
                <a:latin typeface="Bahnschrift" panose="020B0502040204020203" pitchFamily="34" charset="0"/>
                <a:cs typeface="Calibri"/>
              </a:rPr>
              <a:t>earth.</a:t>
            </a:r>
            <a:r>
              <a:rPr lang="en-GB" sz="2400" spc="-32" dirty="0">
                <a:latin typeface="Bahnschrift" panose="020B0502040204020203" pitchFamily="34" charset="0"/>
                <a:cs typeface="Calibri"/>
              </a:rPr>
              <a:t> </a:t>
            </a:r>
            <a:r>
              <a:rPr lang="en-GB" sz="2400" dirty="0">
                <a:latin typeface="Bahnschrift" panose="020B0502040204020203" pitchFamily="34" charset="0"/>
                <a:cs typeface="Calibri"/>
              </a:rPr>
              <a:t>Need</a:t>
            </a:r>
            <a:r>
              <a:rPr lang="en-GB" sz="2400" spc="-21" dirty="0">
                <a:latin typeface="Bahnschrift" panose="020B0502040204020203" pitchFamily="34" charset="0"/>
                <a:cs typeface="Calibri"/>
              </a:rPr>
              <a:t> </a:t>
            </a:r>
            <a:r>
              <a:rPr lang="en-GB" sz="2400" dirty="0">
                <a:latin typeface="Bahnschrift" panose="020B0502040204020203" pitchFamily="34" charset="0"/>
                <a:cs typeface="Calibri"/>
              </a:rPr>
              <a:t>to</a:t>
            </a:r>
            <a:r>
              <a:rPr lang="en-GB" sz="2400" spc="-43" dirty="0">
                <a:latin typeface="Bahnschrift" panose="020B0502040204020203" pitchFamily="34" charset="0"/>
                <a:cs typeface="Calibri"/>
              </a:rPr>
              <a:t> </a:t>
            </a:r>
            <a:r>
              <a:rPr lang="en-GB" sz="2400" dirty="0">
                <a:latin typeface="Bahnschrift" panose="020B0502040204020203" pitchFamily="34" charset="0"/>
                <a:cs typeface="Calibri"/>
              </a:rPr>
              <a:t>use</a:t>
            </a:r>
            <a:r>
              <a:rPr lang="en-GB" sz="2400" spc="-37" dirty="0">
                <a:latin typeface="Bahnschrift" panose="020B0502040204020203" pitchFamily="34" charset="0"/>
                <a:cs typeface="Calibri"/>
              </a:rPr>
              <a:t> </a:t>
            </a:r>
            <a:r>
              <a:rPr lang="en-GB" sz="2400" dirty="0">
                <a:latin typeface="Bahnschrift" panose="020B0502040204020203" pitchFamily="34" charset="0"/>
                <a:cs typeface="Calibri"/>
              </a:rPr>
              <a:t>a</a:t>
            </a:r>
            <a:r>
              <a:rPr lang="en-GB" sz="2400" spc="-43" dirty="0">
                <a:latin typeface="Bahnschrift" panose="020B0502040204020203" pitchFamily="34" charset="0"/>
                <a:cs typeface="Calibri"/>
              </a:rPr>
              <a:t> </a:t>
            </a:r>
            <a:r>
              <a:rPr lang="en-GB" sz="2400" spc="-11" dirty="0">
                <a:latin typeface="Bahnschrift" panose="020B0502040204020203" pitchFamily="34" charset="0"/>
                <a:cs typeface="Calibri"/>
              </a:rPr>
              <a:t>reference </a:t>
            </a:r>
            <a:r>
              <a:rPr lang="en-GB" sz="2400" dirty="0">
                <a:latin typeface="Bahnschrift" panose="020B0502040204020203" pitchFamily="34" charset="0"/>
                <a:cs typeface="Calibri"/>
              </a:rPr>
              <a:t>model,</a:t>
            </a:r>
            <a:r>
              <a:rPr lang="en-GB" sz="2400" spc="-53" dirty="0">
                <a:latin typeface="Bahnschrift" panose="020B0502040204020203" pitchFamily="34" charset="0"/>
                <a:cs typeface="Calibri"/>
              </a:rPr>
              <a:t> </a:t>
            </a:r>
            <a:r>
              <a:rPr lang="en-GB" sz="2400" dirty="0">
                <a:latin typeface="Bahnschrift" panose="020B0502040204020203" pitchFamily="34" charset="0"/>
                <a:cs typeface="Calibri"/>
              </a:rPr>
              <a:t>called</a:t>
            </a:r>
            <a:r>
              <a:rPr lang="en-GB" sz="2400" spc="-69" dirty="0">
                <a:latin typeface="Bahnschrift" panose="020B0502040204020203" pitchFamily="34" charset="0"/>
                <a:cs typeface="Calibri"/>
              </a:rPr>
              <a:t> </a:t>
            </a:r>
            <a:r>
              <a:rPr lang="en-GB" sz="2400" dirty="0">
                <a:latin typeface="Bahnschrift" panose="020B0502040204020203" pitchFamily="34" charset="0"/>
                <a:cs typeface="Calibri"/>
              </a:rPr>
              <a:t>a</a:t>
            </a:r>
            <a:r>
              <a:rPr lang="en-GB" sz="2400" spc="-59" dirty="0">
                <a:latin typeface="Bahnschrift" panose="020B0502040204020203" pitchFamily="34" charset="0"/>
                <a:cs typeface="Calibri"/>
              </a:rPr>
              <a:t> </a:t>
            </a:r>
            <a:r>
              <a:rPr lang="en-GB" sz="2400" dirty="0">
                <a:latin typeface="Bahnschrift" panose="020B0502040204020203" pitchFamily="34" charset="0"/>
                <a:cs typeface="Calibri"/>
              </a:rPr>
              <a:t>Coordinate</a:t>
            </a:r>
            <a:r>
              <a:rPr lang="en-GB" sz="2400" spc="-48" dirty="0">
                <a:latin typeface="Bahnschrift" panose="020B0502040204020203" pitchFamily="34" charset="0"/>
                <a:cs typeface="Calibri"/>
              </a:rPr>
              <a:t> </a:t>
            </a:r>
            <a:r>
              <a:rPr lang="en-GB" sz="2400" spc="-11" dirty="0">
                <a:latin typeface="Bahnschrift" panose="020B0502040204020203" pitchFamily="34" charset="0"/>
                <a:cs typeface="Calibri"/>
              </a:rPr>
              <a:t>Reference</a:t>
            </a:r>
            <a:r>
              <a:rPr lang="en-GB" sz="2400" spc="-32" dirty="0">
                <a:latin typeface="Bahnschrift" panose="020B0502040204020203" pitchFamily="34" charset="0"/>
                <a:cs typeface="Calibri"/>
              </a:rPr>
              <a:t> </a:t>
            </a:r>
            <a:r>
              <a:rPr lang="en-GB" sz="2400" spc="-11" dirty="0">
                <a:latin typeface="Bahnschrift" panose="020B0502040204020203" pitchFamily="34" charset="0"/>
                <a:cs typeface="Calibri"/>
              </a:rPr>
              <a:t>System</a:t>
            </a:r>
            <a:r>
              <a:rPr lang="en-GB" sz="2400" spc="-43" dirty="0">
                <a:latin typeface="Bahnschrift" panose="020B0502040204020203" pitchFamily="34" charset="0"/>
                <a:cs typeface="Calibri"/>
              </a:rPr>
              <a:t> </a:t>
            </a:r>
            <a:r>
              <a:rPr lang="en-GB" sz="2400" spc="-11" dirty="0">
                <a:latin typeface="Bahnschrift" panose="020B0502040204020203" pitchFamily="34" charset="0"/>
                <a:cs typeface="Calibri"/>
              </a:rPr>
              <a:t>(CRS). </a:t>
            </a:r>
            <a:r>
              <a:rPr lang="en-GB" sz="2400" spc="-64" dirty="0">
                <a:latin typeface="Bahnschrift" panose="020B0502040204020203" pitchFamily="34" charset="0"/>
                <a:cs typeface="Calibri"/>
              </a:rPr>
              <a:t>To</a:t>
            </a:r>
            <a:r>
              <a:rPr lang="en-GB" sz="2400" spc="-21" dirty="0">
                <a:latin typeface="Bahnschrift" panose="020B0502040204020203" pitchFamily="34" charset="0"/>
                <a:cs typeface="Calibri"/>
              </a:rPr>
              <a:t> </a:t>
            </a:r>
            <a:r>
              <a:rPr lang="en-GB" sz="2400" dirty="0">
                <a:latin typeface="Bahnschrift" panose="020B0502040204020203" pitchFamily="34" charset="0"/>
                <a:cs typeface="Calibri"/>
              </a:rPr>
              <a:t>display</a:t>
            </a:r>
            <a:r>
              <a:rPr lang="en-GB" sz="2400" spc="-59" dirty="0">
                <a:latin typeface="Bahnschrift" panose="020B0502040204020203" pitchFamily="34" charset="0"/>
                <a:cs typeface="Calibri"/>
              </a:rPr>
              <a:t> </a:t>
            </a:r>
            <a:r>
              <a:rPr lang="en-GB" sz="2400" dirty="0">
                <a:latin typeface="Bahnschrift" panose="020B0502040204020203" pitchFamily="34" charset="0"/>
                <a:cs typeface="Calibri"/>
              </a:rPr>
              <a:t>data</a:t>
            </a:r>
            <a:r>
              <a:rPr lang="en-GB" sz="2400" spc="-43" dirty="0">
                <a:latin typeface="Bahnschrift" panose="020B0502040204020203" pitchFamily="34" charset="0"/>
                <a:cs typeface="Calibri"/>
              </a:rPr>
              <a:t> </a:t>
            </a:r>
            <a:r>
              <a:rPr lang="en-GB" sz="2400" dirty="0">
                <a:latin typeface="Bahnschrift" panose="020B0502040204020203" pitchFamily="34" charset="0"/>
                <a:cs typeface="Calibri"/>
              </a:rPr>
              <a:t>on</a:t>
            </a:r>
            <a:r>
              <a:rPr lang="en-GB" sz="2400" spc="-32" dirty="0">
                <a:latin typeface="Bahnschrift" panose="020B0502040204020203" pitchFamily="34" charset="0"/>
                <a:cs typeface="Calibri"/>
              </a:rPr>
              <a:t> </a:t>
            </a:r>
            <a:r>
              <a:rPr lang="en-GB" sz="2400" dirty="0">
                <a:latin typeface="Bahnschrift" panose="020B0502040204020203" pitchFamily="34" charset="0"/>
                <a:cs typeface="Calibri"/>
              </a:rPr>
              <a:t>a</a:t>
            </a:r>
            <a:r>
              <a:rPr lang="en-GB" sz="2400" spc="-27" dirty="0">
                <a:latin typeface="Bahnschrift" panose="020B0502040204020203" pitchFamily="34" charset="0"/>
                <a:cs typeface="Calibri"/>
              </a:rPr>
              <a:t> </a:t>
            </a:r>
            <a:r>
              <a:rPr lang="en-GB" sz="2400" dirty="0">
                <a:latin typeface="Bahnschrift" panose="020B0502040204020203" pitchFamily="34" charset="0"/>
                <a:cs typeface="Calibri"/>
              </a:rPr>
              <a:t>map,</a:t>
            </a:r>
            <a:r>
              <a:rPr lang="en-GB" sz="2400" spc="-27" dirty="0">
                <a:latin typeface="Bahnschrift" panose="020B0502040204020203" pitchFamily="34" charset="0"/>
                <a:cs typeface="Calibri"/>
              </a:rPr>
              <a:t> </a:t>
            </a:r>
            <a:r>
              <a:rPr lang="en-GB" sz="2400" dirty="0">
                <a:latin typeface="Bahnschrift" panose="020B0502040204020203" pitchFamily="34" charset="0"/>
                <a:cs typeface="Calibri"/>
              </a:rPr>
              <a:t>three</a:t>
            </a:r>
            <a:r>
              <a:rPr lang="en-GB" sz="2400" spc="-5" dirty="0">
                <a:latin typeface="Bahnschrift" panose="020B0502040204020203" pitchFamily="34" charset="0"/>
                <a:cs typeface="Calibri"/>
              </a:rPr>
              <a:t> </a:t>
            </a:r>
            <a:r>
              <a:rPr lang="en-GB" sz="2400" dirty="0">
                <a:latin typeface="Bahnschrift" panose="020B0502040204020203" pitchFamily="34" charset="0"/>
                <a:cs typeface="Calibri"/>
              </a:rPr>
              <a:t>dimensional</a:t>
            </a:r>
            <a:r>
              <a:rPr lang="en-GB" sz="2400" spc="-48" dirty="0">
                <a:latin typeface="Bahnschrift" panose="020B0502040204020203" pitchFamily="34" charset="0"/>
                <a:cs typeface="Calibri"/>
              </a:rPr>
              <a:t> </a:t>
            </a:r>
            <a:r>
              <a:rPr lang="en-GB" sz="2400" spc="-11" dirty="0">
                <a:latin typeface="Bahnschrift" panose="020B0502040204020203" pitchFamily="34" charset="0"/>
                <a:cs typeface="Calibri"/>
              </a:rPr>
              <a:t>globe </a:t>
            </a:r>
            <a:r>
              <a:rPr lang="en-GB" sz="2400" dirty="0">
                <a:latin typeface="Bahnschrift" panose="020B0502040204020203" pitchFamily="34" charset="0"/>
                <a:cs typeface="Calibri"/>
              </a:rPr>
              <a:t>has</a:t>
            </a:r>
            <a:r>
              <a:rPr lang="en-GB" sz="2400" spc="-43" dirty="0">
                <a:latin typeface="Bahnschrift" panose="020B0502040204020203" pitchFamily="34" charset="0"/>
                <a:cs typeface="Calibri"/>
              </a:rPr>
              <a:t> </a:t>
            </a:r>
            <a:r>
              <a:rPr lang="en-GB" sz="2400" dirty="0">
                <a:latin typeface="Bahnschrift" panose="020B0502040204020203" pitchFamily="34" charset="0"/>
                <a:cs typeface="Calibri"/>
              </a:rPr>
              <a:t>to</a:t>
            </a:r>
            <a:r>
              <a:rPr lang="en-GB" sz="2400" spc="-43" dirty="0">
                <a:latin typeface="Bahnschrift" panose="020B0502040204020203" pitchFamily="34" charset="0"/>
                <a:cs typeface="Calibri"/>
              </a:rPr>
              <a:t> </a:t>
            </a:r>
            <a:r>
              <a:rPr lang="en-GB" sz="2400" dirty="0">
                <a:latin typeface="Bahnschrift" panose="020B0502040204020203" pitchFamily="34" charset="0"/>
                <a:cs typeface="Calibri"/>
              </a:rPr>
              <a:t>be</a:t>
            </a:r>
            <a:r>
              <a:rPr lang="en-GB" sz="2400" spc="-37" dirty="0">
                <a:latin typeface="Bahnschrift" panose="020B0502040204020203" pitchFamily="34" charset="0"/>
                <a:cs typeface="Calibri"/>
              </a:rPr>
              <a:t> </a:t>
            </a:r>
            <a:r>
              <a:rPr lang="en-GB" sz="2400" spc="-11" dirty="0">
                <a:latin typeface="Bahnschrift" panose="020B0502040204020203" pitchFamily="34" charset="0"/>
                <a:cs typeface="Calibri"/>
              </a:rPr>
              <a:t>converted</a:t>
            </a:r>
            <a:r>
              <a:rPr lang="en-GB" sz="2400" spc="-21" dirty="0">
                <a:latin typeface="Bahnschrift" panose="020B0502040204020203" pitchFamily="34" charset="0"/>
                <a:cs typeface="Calibri"/>
              </a:rPr>
              <a:t> </a:t>
            </a:r>
            <a:r>
              <a:rPr lang="en-GB" sz="2400" dirty="0">
                <a:latin typeface="Bahnschrift" panose="020B0502040204020203" pitchFamily="34" charset="0"/>
                <a:cs typeface="Calibri"/>
              </a:rPr>
              <a:t>into</a:t>
            </a:r>
            <a:r>
              <a:rPr lang="en-GB" sz="2400" spc="-59" dirty="0">
                <a:latin typeface="Bahnschrift" panose="020B0502040204020203" pitchFamily="34" charset="0"/>
                <a:cs typeface="Calibri"/>
              </a:rPr>
              <a:t> </a:t>
            </a:r>
            <a:r>
              <a:rPr lang="en-GB" sz="2400" dirty="0">
                <a:latin typeface="Bahnschrift" panose="020B0502040204020203" pitchFamily="34" charset="0"/>
                <a:cs typeface="Calibri"/>
              </a:rPr>
              <a:t>two</a:t>
            </a:r>
            <a:r>
              <a:rPr lang="en-GB" sz="2400" spc="-21" dirty="0">
                <a:latin typeface="Bahnschrift" panose="020B0502040204020203" pitchFamily="34" charset="0"/>
                <a:cs typeface="Calibri"/>
              </a:rPr>
              <a:t> </a:t>
            </a:r>
            <a:r>
              <a:rPr lang="en-GB" sz="2400" dirty="0">
                <a:latin typeface="Bahnschrift" panose="020B0502040204020203" pitchFamily="34" charset="0"/>
                <a:cs typeface="Calibri"/>
              </a:rPr>
              <a:t>dimensions.</a:t>
            </a:r>
            <a:r>
              <a:rPr lang="en-GB" sz="2400" spc="-48" dirty="0">
                <a:latin typeface="Bahnschrift" panose="020B0502040204020203" pitchFamily="34" charset="0"/>
                <a:cs typeface="Calibri"/>
              </a:rPr>
              <a:t> </a:t>
            </a:r>
            <a:r>
              <a:rPr lang="en-GB" sz="2400" spc="-11" dirty="0">
                <a:latin typeface="Bahnschrift" panose="020B0502040204020203" pitchFamily="34" charset="0"/>
                <a:cs typeface="Calibri"/>
              </a:rPr>
              <a:t>Method </a:t>
            </a:r>
            <a:r>
              <a:rPr lang="en-GB" sz="2400" dirty="0">
                <a:latin typeface="Bahnschrift" panose="020B0502040204020203" pitchFamily="34" charset="0"/>
                <a:cs typeface="Calibri"/>
              </a:rPr>
              <a:t>for</a:t>
            </a:r>
            <a:r>
              <a:rPr lang="en-GB" sz="2400" spc="-16" dirty="0">
                <a:latin typeface="Bahnschrift" panose="020B0502040204020203" pitchFamily="34" charset="0"/>
                <a:cs typeface="Calibri"/>
              </a:rPr>
              <a:t> </a:t>
            </a:r>
            <a:r>
              <a:rPr lang="en-GB" sz="2400" dirty="0">
                <a:latin typeface="Bahnschrift" panose="020B0502040204020203" pitchFamily="34" charset="0"/>
                <a:cs typeface="Calibri"/>
              </a:rPr>
              <a:t>doing</a:t>
            </a:r>
            <a:r>
              <a:rPr lang="en-GB" sz="2400" spc="-37" dirty="0">
                <a:latin typeface="Bahnschrift" panose="020B0502040204020203" pitchFamily="34" charset="0"/>
                <a:cs typeface="Calibri"/>
              </a:rPr>
              <a:t> </a:t>
            </a:r>
            <a:r>
              <a:rPr lang="en-GB" sz="2400" dirty="0">
                <a:latin typeface="Bahnschrift" panose="020B0502040204020203" pitchFamily="34" charset="0"/>
                <a:cs typeface="Calibri"/>
              </a:rPr>
              <a:t>this</a:t>
            </a:r>
            <a:r>
              <a:rPr lang="en-GB" sz="2400" spc="-43" dirty="0">
                <a:latin typeface="Bahnschrift" panose="020B0502040204020203" pitchFamily="34" charset="0"/>
                <a:cs typeface="Calibri"/>
              </a:rPr>
              <a:t> </a:t>
            </a:r>
            <a:r>
              <a:rPr lang="en-GB" sz="2400" dirty="0">
                <a:latin typeface="Bahnschrift" panose="020B0502040204020203" pitchFamily="34" charset="0"/>
                <a:cs typeface="Calibri"/>
              </a:rPr>
              <a:t>called</a:t>
            </a:r>
            <a:r>
              <a:rPr lang="en-GB" sz="2400" spc="-37" dirty="0">
                <a:latin typeface="Bahnschrift" panose="020B0502040204020203" pitchFamily="34" charset="0"/>
                <a:cs typeface="Calibri"/>
              </a:rPr>
              <a:t> </a:t>
            </a:r>
            <a:r>
              <a:rPr lang="en-GB" sz="2400" dirty="0">
                <a:latin typeface="Bahnschrift" panose="020B0502040204020203" pitchFamily="34" charset="0"/>
                <a:cs typeface="Calibri"/>
              </a:rPr>
              <a:t>a</a:t>
            </a:r>
            <a:r>
              <a:rPr lang="en-GB" sz="2400" spc="-32" dirty="0">
                <a:latin typeface="Bahnschrift" panose="020B0502040204020203" pitchFamily="34" charset="0"/>
                <a:cs typeface="Calibri"/>
              </a:rPr>
              <a:t> </a:t>
            </a:r>
            <a:r>
              <a:rPr lang="en-GB" sz="2400" spc="-11" dirty="0">
                <a:latin typeface="Bahnschrift" panose="020B0502040204020203" pitchFamily="34" charset="0"/>
                <a:cs typeface="Calibri"/>
              </a:rPr>
              <a:t>projection.</a:t>
            </a:r>
            <a:endParaRPr lang="en-GB" sz="2400" dirty="0">
              <a:latin typeface="Bahnschrift" panose="020B0502040204020203" pitchFamily="34" charset="0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15395637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6217819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bg>
      <p:bgPr>
        <a:solidFill>
          <a:srgbClr val="92929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7C258E-9308-4444-93ED-24BEB5CF7B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0131" y="2675400"/>
            <a:ext cx="16740000" cy="4402800"/>
          </a:xfrm>
          <a:ln w="12700">
            <a:miter lim="400000"/>
          </a:ln>
        </p:spPr>
        <p:txBody>
          <a:bodyPr lIns="50800" tIns="50800" rIns="50800" bIns="50800" anchor="ctr">
            <a:normAutofit/>
          </a:bodyPr>
          <a:lstStyle>
            <a:lvl1pPr>
              <a:defRPr lang="en-GB" sz="8000" b="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99181698"/>
      </p:ext>
    </p:extLst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hoto - Horizont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Image"/>
          <p:cNvSpPr>
            <a:spLocks noGrp="1"/>
          </p:cNvSpPr>
          <p:nvPr>
            <p:ph type="pic" idx="13"/>
          </p:nvPr>
        </p:nvSpPr>
        <p:spPr>
          <a:xfrm>
            <a:off x="493200" y="635000"/>
            <a:ext cx="13039065" cy="591820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21" name="Title Text"/>
          <p:cNvSpPr txBox="1">
            <a:spLocks noGrp="1"/>
          </p:cNvSpPr>
          <p:nvPr>
            <p:ph type="title"/>
          </p:nvPr>
        </p:nvSpPr>
        <p:spPr>
          <a:xfrm>
            <a:off x="493200" y="7309703"/>
            <a:ext cx="13953493" cy="830997"/>
          </a:xfrm>
          <a:prstGeom prst="rect">
            <a:avLst/>
          </a:prstGeom>
        </p:spPr>
        <p:txBody>
          <a:bodyPr anchor="b"/>
          <a:lstStyle>
            <a:lvl1pPr algn="l">
              <a:defRPr/>
            </a:lvl1pPr>
          </a:lstStyle>
          <a:p>
            <a:r>
              <a:t>Title Text</a:t>
            </a:r>
          </a:p>
        </p:txBody>
      </p:sp>
      <p:sp>
        <p:nvSpPr>
          <p:cNvPr id="22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493200" y="8191500"/>
            <a:ext cx="13953493" cy="1130300"/>
          </a:xfrm>
          <a:prstGeom prst="rect">
            <a:avLst/>
          </a:prstGeom>
        </p:spPr>
        <p:txBody>
          <a:bodyPr anchor="t"/>
          <a:lstStyle>
            <a:lvl1pPr marL="571500" marR="0" indent="-57150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kumimoji="0" lang="en-US" sz="40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Bahnschrift" panose="020B0502040204020203" pitchFamily="34" charset="0"/>
                <a:ea typeface="+mn-ea"/>
                <a:cs typeface="+mn-cs"/>
                <a:sym typeface="Helvetica Light"/>
              </a:defRPr>
            </a:lvl1pPr>
            <a:lvl2pPr marL="571500" marR="0" indent="-57150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kumimoji="0" lang="en-US" sz="40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Bahnschrift" panose="020B0502040204020203" pitchFamily="34" charset="0"/>
                <a:ea typeface="+mn-ea"/>
                <a:cs typeface="+mn-cs"/>
                <a:sym typeface="Helvetica Light"/>
              </a:defRPr>
            </a:lvl2pPr>
            <a:lvl3pPr marL="571500" marR="0" indent="-57150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kumimoji="0" lang="en-US" sz="40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Bahnschrift" panose="020B0502040204020203" pitchFamily="34" charset="0"/>
                <a:ea typeface="+mn-ea"/>
                <a:cs typeface="+mn-cs"/>
                <a:sym typeface="Helvetica Light"/>
              </a:defRPr>
            </a:lvl3pPr>
            <a:lvl4pPr marL="571500" marR="0" indent="-57150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kumimoji="0" lang="en-US" sz="40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Bahnschrift" panose="020B0502040204020203" pitchFamily="34" charset="0"/>
                <a:ea typeface="+mn-ea"/>
                <a:cs typeface="+mn-cs"/>
                <a:sym typeface="Helvetica Light"/>
              </a:defRPr>
            </a:lvl4pPr>
            <a:lvl5pPr marL="0" indent="1219261" algn="l">
              <a:spcBef>
                <a:spcPts val="0"/>
              </a:spcBef>
              <a:buSzTx/>
              <a:buNone/>
              <a:defRPr sz="4267"/>
            </a:lvl5pPr>
          </a:lstStyle>
          <a:p>
            <a:r>
              <a:rPr dirty="0"/>
              <a:t>Body Level One</a:t>
            </a:r>
          </a:p>
          <a:p>
            <a:pPr lvl="1"/>
            <a:r>
              <a:rPr dirty="0"/>
              <a:t>Body Level Two</a:t>
            </a:r>
          </a:p>
          <a:p>
            <a:pPr lvl="2"/>
            <a:r>
              <a:rPr dirty="0"/>
              <a:t>Body Level Three</a:t>
            </a:r>
          </a:p>
          <a:p>
            <a:pPr lvl="3"/>
            <a:r>
              <a:rPr dirty="0"/>
              <a:t>Body Level Four</a:t>
            </a:r>
          </a:p>
          <a:p>
            <a:pPr lvl="3"/>
            <a:r>
              <a:rPr dirty="0"/>
              <a:t>Body Level Five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FE187668-94A2-4A85-9DE7-0DE526B2EB0D}"/>
              </a:ext>
            </a:extLst>
          </p:cNvPr>
          <p:cNvSpPr txBox="1">
            <a:spLocks noGrp="1"/>
          </p:cNvSpPr>
          <p:nvPr>
            <p:ph type="sldNum" sz="quarter" idx="2"/>
          </p:nvPr>
        </p:nvSpPr>
        <p:spPr>
          <a:xfrm>
            <a:off x="16255599" y="9015990"/>
            <a:ext cx="423193" cy="410369"/>
          </a:xfrm>
          <a:prstGeom prst="rect">
            <a:avLst/>
          </a:prstGeom>
        </p:spPr>
        <p:txBody>
          <a:bodyPr/>
          <a:lstStyle>
            <a:lvl1pPr>
              <a:defRPr sz="2000">
                <a:latin typeface="Bahnschrift Light" panose="020B0502040204020203" pitchFamily="34" charset="0"/>
              </a:defRPr>
            </a:lvl1pPr>
          </a:lstStyle>
          <a:p>
            <a:fld id="{86CB4B4D-7CA3-9044-876B-883B54F8677D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algn="l">
              <a:defRPr/>
            </a:lvl1pPr>
          </a:lstStyle>
          <a:p>
            <a:r>
              <a:t>Title Text</a:t>
            </a:r>
          </a:p>
        </p:txBody>
      </p:sp>
      <p:sp>
        <p:nvSpPr>
          <p:cNvPr id="57" name="Body Level One…"/>
          <p:cNvSpPr txBox="1">
            <a:spLocks noGrp="1"/>
          </p:cNvSpPr>
          <p:nvPr>
            <p:ph type="body" idx="1" hasCustomPrompt="1"/>
          </p:nvPr>
        </p:nvSpPr>
        <p:spPr>
          <a:prstGeom prst="rect">
            <a:avLst/>
          </a:prstGeom>
        </p:spPr>
        <p:txBody>
          <a:bodyPr anchor="t">
            <a:normAutofit/>
          </a:bodyPr>
          <a:lstStyle>
            <a:lvl1pPr marL="571500" marR="0" indent="-57150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kumimoji="0" lang="en-US" sz="40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Bahnschrift" panose="020B0502040204020203" pitchFamily="34" charset="0"/>
                <a:ea typeface="+mn-ea"/>
                <a:cs typeface="+mn-cs"/>
                <a:sym typeface="Helvetica Light"/>
              </a:defRPr>
            </a:lvl1pPr>
            <a:lvl2pPr marL="571500" marR="0" indent="-57150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kumimoji="0" lang="en-US" sz="40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Bahnschrift" panose="020B0502040204020203" pitchFamily="34" charset="0"/>
                <a:ea typeface="+mn-ea"/>
                <a:cs typeface="+mn-cs"/>
                <a:sym typeface="Helvetica Light"/>
              </a:defRPr>
            </a:lvl2pPr>
            <a:lvl3pPr marL="571500" marR="0" indent="-57150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kumimoji="0" lang="en-US" sz="40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Bahnschrift" panose="020B0502040204020203" pitchFamily="34" charset="0"/>
                <a:ea typeface="+mn-ea"/>
                <a:cs typeface="+mn-cs"/>
                <a:sym typeface="Helvetica Light"/>
              </a:defRPr>
            </a:lvl3pPr>
            <a:lvl4pPr marL="571500" marR="0" indent="-57150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kumimoji="0" lang="en-US" sz="40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Bahnschrift" panose="020B0502040204020203" pitchFamily="34" charset="0"/>
                <a:ea typeface="+mn-ea"/>
                <a:cs typeface="+mn-cs"/>
                <a:sym typeface="Helvetica Light"/>
              </a:defRPr>
            </a:lvl4pPr>
            <a:lvl5pPr marL="571500" marR="0" indent="-57150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kumimoji="0" lang="en-US" sz="40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Bahnschrift" panose="020B0502040204020203" pitchFamily="34" charset="0"/>
                <a:ea typeface="+mn-ea"/>
                <a:cs typeface="+mn-cs"/>
                <a:sym typeface="Helvetica Light"/>
              </a:defRPr>
            </a:lvl5pPr>
          </a:lstStyle>
          <a:p>
            <a:r>
              <a:rPr dirty="0"/>
              <a:t>Body Level One</a:t>
            </a:r>
          </a:p>
          <a:p>
            <a:pPr lvl="1"/>
            <a:r>
              <a:rPr dirty="0"/>
              <a:t>Body Level Two</a:t>
            </a:r>
          </a:p>
          <a:p>
            <a:pPr lvl="2"/>
            <a:r>
              <a:rPr dirty="0"/>
              <a:t>Body Level Three</a:t>
            </a:r>
          </a:p>
          <a:p>
            <a:pPr lvl="3"/>
            <a:r>
              <a:rPr dirty="0"/>
              <a:t>Body Level Four</a:t>
            </a:r>
          </a:p>
          <a:p>
            <a:pPr lvl="4"/>
            <a:r>
              <a:rPr dirty="0"/>
              <a:t>Body Level Five</a:t>
            </a:r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F04B7291-6736-40D7-9F82-6A1F6297E12F}"/>
              </a:ext>
            </a:extLst>
          </p:cNvPr>
          <p:cNvSpPr txBox="1">
            <a:spLocks noGrp="1"/>
          </p:cNvSpPr>
          <p:nvPr>
            <p:ph type="sldNum" sz="quarter" idx="2"/>
          </p:nvPr>
        </p:nvSpPr>
        <p:spPr>
          <a:xfrm>
            <a:off x="16255599" y="9015990"/>
            <a:ext cx="423193" cy="410369"/>
          </a:xfrm>
          <a:prstGeom prst="rect">
            <a:avLst/>
          </a:prstGeom>
        </p:spPr>
        <p:txBody>
          <a:bodyPr/>
          <a:lstStyle>
            <a:lvl1pPr>
              <a:defRPr sz="2000">
                <a:latin typeface="Bahnschrift Light" panose="020B0502040204020203" pitchFamily="34" charset="0"/>
              </a:defRPr>
            </a:lvl1pPr>
          </a:lstStyle>
          <a:p>
            <a:fld id="{86CB4B4D-7CA3-9044-876B-883B54F8677D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Body Level One…"/>
          <p:cNvSpPr txBox="1">
            <a:spLocks noGrp="1"/>
          </p:cNvSpPr>
          <p:nvPr>
            <p:ph type="body" idx="1" hasCustomPrompt="1"/>
          </p:nvPr>
        </p:nvSpPr>
        <p:spPr>
          <a:xfrm>
            <a:off x="493200" y="2091600"/>
            <a:ext cx="14800185" cy="7213600"/>
          </a:xfrm>
          <a:prstGeom prst="rect">
            <a:avLst/>
          </a:prstGeom>
        </p:spPr>
        <p:txBody>
          <a:bodyPr anchor="t">
            <a:normAutofit/>
          </a:bodyPr>
          <a:lstStyle>
            <a:lvl1pPr marL="571500" marR="0" indent="-57150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kumimoji="0" lang="en-US" sz="40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Bahnschrift" panose="020B0502040204020203" pitchFamily="34" charset="0"/>
                <a:ea typeface="+mn-ea"/>
                <a:cs typeface="+mn-cs"/>
                <a:sym typeface="Helvetica Light"/>
              </a:defRPr>
            </a:lvl1pPr>
            <a:lvl2pPr marL="571500" marR="0" indent="-57150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kumimoji="0" lang="en-US" sz="40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Bahnschrift" panose="020B0502040204020203" pitchFamily="34" charset="0"/>
                <a:ea typeface="+mn-ea"/>
                <a:cs typeface="+mn-cs"/>
                <a:sym typeface="Helvetica Light"/>
              </a:defRPr>
            </a:lvl2pPr>
            <a:lvl3pPr marL="571500" marR="0" indent="-57150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kumimoji="0" lang="en-US" sz="40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Bahnschrift" panose="020B0502040204020203" pitchFamily="34" charset="0"/>
                <a:ea typeface="+mn-ea"/>
                <a:cs typeface="+mn-cs"/>
                <a:sym typeface="Helvetica Light"/>
              </a:defRPr>
            </a:lvl3pPr>
            <a:lvl4pPr marL="571500" marR="0" indent="-57150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kumimoji="0" lang="en-US" sz="40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Bahnschrift" panose="020B0502040204020203" pitchFamily="34" charset="0"/>
                <a:ea typeface="+mn-ea"/>
                <a:cs typeface="+mn-cs"/>
                <a:sym typeface="Helvetica Light"/>
              </a:defRPr>
            </a:lvl4pPr>
            <a:lvl5pPr marL="571500" marR="0" indent="-57150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kumimoji="0" lang="en-US" sz="40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Bahnschrift" panose="020B0502040204020203" pitchFamily="34" charset="0"/>
                <a:ea typeface="+mn-ea"/>
                <a:cs typeface="+mn-cs"/>
                <a:sym typeface="Helvetica Light"/>
              </a:defRPr>
            </a:lvl5pPr>
          </a:lstStyle>
          <a:p>
            <a:r>
              <a:rPr dirty="0"/>
              <a:t>Body Level One</a:t>
            </a:r>
          </a:p>
          <a:p>
            <a:pPr lvl="1"/>
            <a:r>
              <a:rPr dirty="0"/>
              <a:t>Body Level Two</a:t>
            </a:r>
          </a:p>
          <a:p>
            <a:pPr lvl="2"/>
            <a:r>
              <a:rPr dirty="0"/>
              <a:t>Body Level Three</a:t>
            </a:r>
          </a:p>
          <a:p>
            <a:pPr lvl="3"/>
            <a:r>
              <a:rPr dirty="0"/>
              <a:t>Body Level Four</a:t>
            </a:r>
          </a:p>
          <a:p>
            <a:pPr lvl="4"/>
            <a:r>
              <a:rPr dirty="0"/>
              <a:t>Body Level Five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18E468ED-94AE-41EC-A580-984BD8F3610A}"/>
              </a:ext>
            </a:extLst>
          </p:cNvPr>
          <p:cNvSpPr txBox="1">
            <a:spLocks noGrp="1"/>
          </p:cNvSpPr>
          <p:nvPr>
            <p:ph type="sldNum" sz="quarter" idx="2"/>
          </p:nvPr>
        </p:nvSpPr>
        <p:spPr>
          <a:xfrm>
            <a:off x="16255599" y="9015990"/>
            <a:ext cx="423193" cy="410369"/>
          </a:xfrm>
          <a:prstGeom prst="rect">
            <a:avLst/>
          </a:prstGeom>
        </p:spPr>
        <p:txBody>
          <a:bodyPr/>
          <a:lstStyle>
            <a:lvl1pPr>
              <a:defRPr sz="2000">
                <a:latin typeface="Bahnschrift Light" panose="020B0502040204020203" pitchFamily="34" charset="0"/>
              </a:defRPr>
            </a:lvl1pPr>
          </a:lstStyle>
          <a:p>
            <a:fld id="{86CB4B4D-7CA3-9044-876B-883B54F8677D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hoto - 3 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Image"/>
          <p:cNvSpPr>
            <a:spLocks noGrp="1"/>
          </p:cNvSpPr>
          <p:nvPr>
            <p:ph type="pic" sz="quarter" idx="13"/>
          </p:nvPr>
        </p:nvSpPr>
        <p:spPr>
          <a:xfrm>
            <a:off x="8958007" y="5092700"/>
            <a:ext cx="7112217" cy="377190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84" name="Image"/>
          <p:cNvSpPr>
            <a:spLocks noGrp="1"/>
          </p:cNvSpPr>
          <p:nvPr>
            <p:ph type="pic" sz="quarter" idx="14"/>
          </p:nvPr>
        </p:nvSpPr>
        <p:spPr>
          <a:xfrm>
            <a:off x="8966300" y="889000"/>
            <a:ext cx="7112219" cy="377190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85" name="Image"/>
          <p:cNvSpPr>
            <a:spLocks noGrp="1"/>
          </p:cNvSpPr>
          <p:nvPr>
            <p:ph type="pic" sz="half" idx="15"/>
          </p:nvPr>
        </p:nvSpPr>
        <p:spPr>
          <a:xfrm>
            <a:off x="493200" y="889000"/>
            <a:ext cx="7112217" cy="797560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9287D3C3-F9E3-4CED-9FAF-8C8AE11AC2DE}"/>
              </a:ext>
            </a:extLst>
          </p:cNvPr>
          <p:cNvSpPr txBox="1">
            <a:spLocks noGrp="1"/>
          </p:cNvSpPr>
          <p:nvPr>
            <p:ph type="sldNum" sz="quarter" idx="2"/>
          </p:nvPr>
        </p:nvSpPr>
        <p:spPr>
          <a:xfrm>
            <a:off x="16255599" y="9015990"/>
            <a:ext cx="423193" cy="410369"/>
          </a:xfrm>
          <a:prstGeom prst="rect">
            <a:avLst/>
          </a:prstGeom>
        </p:spPr>
        <p:txBody>
          <a:bodyPr/>
          <a:lstStyle>
            <a:lvl1pPr>
              <a:defRPr sz="2000">
                <a:latin typeface="Bahnschrift Light" panose="020B0502040204020203" pitchFamily="34" charset="0"/>
              </a:defRPr>
            </a:lvl1pPr>
          </a:lstStyle>
          <a:p>
            <a:fld id="{86CB4B4D-7CA3-9044-876B-883B54F8677D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Image"/>
          <p:cNvSpPr>
            <a:spLocks noGrp="1"/>
          </p:cNvSpPr>
          <p:nvPr>
            <p:ph type="pic" idx="13"/>
          </p:nvPr>
        </p:nvSpPr>
        <p:spPr>
          <a:xfrm>
            <a:off x="0" y="0"/>
            <a:ext cx="17340263" cy="975360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6CBA5B80-E23A-48AA-AC97-B8529B8532E6}"/>
              </a:ext>
            </a:extLst>
          </p:cNvPr>
          <p:cNvSpPr txBox="1">
            <a:spLocks noGrp="1"/>
          </p:cNvSpPr>
          <p:nvPr>
            <p:ph type="sldNum" sz="quarter" idx="2"/>
          </p:nvPr>
        </p:nvSpPr>
        <p:spPr>
          <a:xfrm>
            <a:off x="16255599" y="9015990"/>
            <a:ext cx="423193" cy="410369"/>
          </a:xfrm>
          <a:prstGeom prst="rect">
            <a:avLst/>
          </a:prstGeom>
        </p:spPr>
        <p:txBody>
          <a:bodyPr/>
          <a:lstStyle>
            <a:lvl1pPr>
              <a:defRPr sz="2000">
                <a:latin typeface="Bahnschrift Light" panose="020B0502040204020203" pitchFamily="34" charset="0"/>
              </a:defRPr>
            </a:lvl1pPr>
          </a:lstStyle>
          <a:p>
            <a:fld id="{86CB4B4D-7CA3-9044-876B-883B54F8677D}" type="slidenum">
              <a:rPr lang="en-GB" smtClean="0"/>
              <a:pPr/>
              <a:t>‹#›</a:t>
            </a:fld>
            <a:endParaRPr lang="en-GB" dirty="0"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A72F0B-93C6-4236-A3A6-FADD932B0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7578557-E0F2-4764-9A49-0B02F2C11F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54FD1B8-26BE-4B34-98E6-20905FF0B9A9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0619322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84FD57-FBF3-40E6-98B1-A81FC7FCC1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628694-A219-4798-AEF3-39A7B5CAF5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31702A-B8A0-4925-8682-9C13340571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0AEC66-757E-42B7-81B1-6675BCE30043}" type="datetime1">
              <a:rPr lang="en-GB" smtClean="0"/>
              <a:t>02/02/2026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323158-6913-4B67-98DE-8B43CE4FA2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7171A2-5BDF-4D44-BF13-74C768EF1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8C632D-7DBE-4534-8DFC-547A3DE1EDBD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670573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2452022" y="4371510"/>
            <a:ext cx="12436220" cy="101058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 sz="6454" b="0" i="0">
                <a:solidFill>
                  <a:srgbClr val="404040"/>
                </a:solidFill>
                <a:latin typeface="Arial MT"/>
                <a:cs typeface="Arial MT"/>
              </a:defRPr>
            </a:lvl1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0430512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>
            <a:spLocks noGrp="1"/>
          </p:cNvSpPr>
          <p:nvPr>
            <p:ph type="title"/>
          </p:nvPr>
        </p:nvSpPr>
        <p:spPr>
          <a:xfrm>
            <a:off x="493200" y="871200"/>
            <a:ext cx="14800185" cy="831600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>
            <a:spAutoFit/>
          </a:bodyPr>
          <a:lstStyle/>
          <a:p>
            <a:pPr lvl="0" algn="l" defTabSz="584200" fontAlgn="base" hangingPunct="0"/>
            <a:r>
              <a:rPr dirty="0"/>
              <a:t>Title Text</a:t>
            </a:r>
          </a:p>
        </p:txBody>
      </p:sp>
      <p:sp>
        <p:nvSpPr>
          <p:cNvPr id="3" name="Body Level One…"/>
          <p:cNvSpPr txBox="1">
            <a:spLocks noGrp="1"/>
          </p:cNvSpPr>
          <p:nvPr>
            <p:ph type="body" idx="1"/>
          </p:nvPr>
        </p:nvSpPr>
        <p:spPr>
          <a:xfrm>
            <a:off x="493200" y="2091600"/>
            <a:ext cx="11160000" cy="62865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t">
            <a:normAutofit/>
          </a:bodyPr>
          <a:lstStyle/>
          <a:p>
            <a:r>
              <a:rPr dirty="0"/>
              <a:t>Body Level One</a:t>
            </a:r>
          </a:p>
          <a:p>
            <a:pPr lvl="1"/>
            <a:r>
              <a:rPr dirty="0"/>
              <a:t>Body Level Two</a:t>
            </a:r>
          </a:p>
          <a:p>
            <a:pPr lvl="2"/>
            <a:r>
              <a:rPr dirty="0"/>
              <a:t>Body Level Three</a:t>
            </a:r>
          </a:p>
          <a:p>
            <a:pPr lvl="3"/>
            <a:r>
              <a:rPr dirty="0"/>
              <a:t>Body Level Four</a:t>
            </a:r>
          </a:p>
          <a:p>
            <a:pPr lvl="4"/>
            <a:r>
              <a:rPr dirty="0"/>
              <a:t>Body Level Five</a:t>
            </a:r>
          </a:p>
        </p:txBody>
      </p:sp>
      <p:sp>
        <p:nvSpPr>
          <p:cNvPr id="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8417208" y="9251952"/>
            <a:ext cx="488915" cy="471924"/>
          </a:xfrm>
          <a:prstGeom prst="rect">
            <a:avLst/>
          </a:prstGeom>
          <a:ln w="12700">
            <a:miter lim="400000"/>
          </a:ln>
        </p:spPr>
        <p:txBody>
          <a:bodyPr wrap="none" lIns="50800" tIns="50800" rIns="50800" bIns="50800">
            <a:spAutoFit/>
          </a:bodyPr>
          <a:lstStyle>
            <a:lvl1pPr>
              <a:defRPr sz="2400">
                <a:latin typeface="Bahnschrift" panose="020B0502040204020203" pitchFamily="34" charset="0"/>
              </a:defRPr>
            </a:lvl1pPr>
          </a:lstStyle>
          <a:p>
            <a:fld id="{86CB4B4D-7CA3-9044-876B-883B54F8677D}" type="slidenum">
              <a:rPr lang="en-GB" smtClean="0"/>
              <a:pPr/>
              <a:t>‹#›</a:t>
            </a:fld>
            <a:endParaRPr lang="en-GB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50" r:id="rId2"/>
    <p:sldLayoutId id="2147483654" r:id="rId3"/>
    <p:sldLayoutId id="2147483656" r:id="rId4"/>
    <p:sldLayoutId id="2147483657" r:id="rId5"/>
    <p:sldLayoutId id="2147483659" r:id="rId6"/>
    <p:sldLayoutId id="2147483676" r:id="rId7"/>
    <p:sldLayoutId id="2147483677" r:id="rId8"/>
    <p:sldLayoutId id="2147483678" r:id="rId9"/>
  </p:sldLayoutIdLst>
  <p:transition spd="med"/>
  <p:txStyles>
    <p:titleStyle>
      <a:lvl1pPr marL="0" marR="0" indent="0" algn="ctr" defTabSz="77897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kumimoji="0" sz="4800" b="1" i="0" u="none" strike="noStrike" cap="none" spc="0" normalizeH="0" baseline="0">
          <a:ln>
            <a:noFill/>
          </a:ln>
          <a:solidFill>
            <a:srgbClr val="333333"/>
          </a:solidFill>
          <a:effectLst/>
          <a:uFillTx/>
          <a:latin typeface="Bahnschrift" panose="020B0502040204020203" pitchFamily="34" charset="0"/>
          <a:ea typeface="+mn-ea"/>
          <a:cs typeface="+mn-cs"/>
          <a:sym typeface="Helvetica Light"/>
        </a:defRPr>
      </a:lvl1pPr>
      <a:lvl2pPr marL="0" marR="0" indent="304815" algn="ctr" defTabSz="77897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0667" b="0" i="0" u="none" strike="noStrike" cap="none" spc="0" baseline="0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2pPr>
      <a:lvl3pPr marL="0" marR="0" indent="609630" algn="ctr" defTabSz="77897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0667" b="0" i="0" u="none" strike="noStrike" cap="none" spc="0" baseline="0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3pPr>
      <a:lvl4pPr marL="0" marR="0" indent="914446" algn="ctr" defTabSz="77897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0667" b="0" i="0" u="none" strike="noStrike" cap="none" spc="0" baseline="0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4pPr>
      <a:lvl5pPr marL="0" marR="0" indent="1219261" algn="ctr" defTabSz="77897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0667" b="0" i="0" u="none" strike="noStrike" cap="none" spc="0" baseline="0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5pPr>
      <a:lvl6pPr marL="0" marR="0" indent="1524076" algn="ctr" defTabSz="77897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0667" b="0" i="0" u="none" strike="noStrike" cap="none" spc="0" baseline="0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6pPr>
      <a:lvl7pPr marL="0" marR="0" indent="1828891" algn="ctr" defTabSz="77897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0667" b="0" i="0" u="none" strike="noStrike" cap="none" spc="0" baseline="0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7pPr>
      <a:lvl8pPr marL="0" marR="0" indent="2133707" algn="ctr" defTabSz="77897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0667" b="0" i="0" u="none" strike="noStrike" cap="none" spc="0" baseline="0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8pPr>
      <a:lvl9pPr marL="0" marR="0" indent="2438522" algn="ctr" defTabSz="77897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0667" b="0" i="0" u="none" strike="noStrike" cap="none" spc="0" baseline="0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9pPr>
    </p:titleStyle>
    <p:bodyStyle>
      <a:lvl1pPr marL="571500" marR="0" indent="-571500" algn="l" defTabSz="584200" rtl="0" fontAlgn="auto" latinLnBrk="0" hangingPunct="0">
        <a:lnSpc>
          <a:spcPct val="100000"/>
        </a:lnSpc>
        <a:spcBef>
          <a:spcPts val="0"/>
        </a:spcBef>
        <a:spcAft>
          <a:spcPts val="0"/>
        </a:spcAft>
        <a:buClrTx/>
        <a:buSzTx/>
        <a:buFont typeface="Arial" panose="020B0604020202020204" pitchFamily="34" charset="0"/>
        <a:buChar char="•"/>
        <a:tabLst/>
        <a:defRPr kumimoji="0" lang="en-US" sz="4000" b="0" i="0" u="none" strike="noStrike" cap="none" spc="0" normalizeH="0" baseline="0" dirty="0">
          <a:ln>
            <a:noFill/>
          </a:ln>
          <a:solidFill>
            <a:srgbClr val="000000"/>
          </a:solidFill>
          <a:effectLst/>
          <a:uFillTx/>
          <a:latin typeface="Bahnschrift" panose="020B0502040204020203" pitchFamily="34" charset="0"/>
          <a:ea typeface="+mn-ea"/>
          <a:cs typeface="+mn-cs"/>
          <a:sym typeface="Helvetica Light"/>
        </a:defRPr>
      </a:lvl1pPr>
      <a:lvl2pPr marL="571500" marR="0" indent="-571500" algn="l" defTabSz="584200" rtl="0" fontAlgn="auto" latinLnBrk="0" hangingPunct="0">
        <a:lnSpc>
          <a:spcPct val="100000"/>
        </a:lnSpc>
        <a:spcBef>
          <a:spcPts val="0"/>
        </a:spcBef>
        <a:spcAft>
          <a:spcPts val="0"/>
        </a:spcAft>
        <a:buClrTx/>
        <a:buSzTx/>
        <a:buFont typeface="Arial" panose="020B0604020202020204" pitchFamily="34" charset="0"/>
        <a:buChar char="•"/>
        <a:tabLst/>
        <a:defRPr kumimoji="0" lang="en-US" sz="4000" b="0" i="0" u="none" strike="noStrike" cap="none" spc="0" normalizeH="0" baseline="0" dirty="0">
          <a:ln>
            <a:noFill/>
          </a:ln>
          <a:solidFill>
            <a:srgbClr val="000000"/>
          </a:solidFill>
          <a:effectLst/>
          <a:uFillTx/>
          <a:latin typeface="Bahnschrift" panose="020B0502040204020203" pitchFamily="34" charset="0"/>
          <a:ea typeface="+mn-ea"/>
          <a:cs typeface="+mn-cs"/>
          <a:sym typeface="Helvetica Light"/>
        </a:defRPr>
      </a:lvl2pPr>
      <a:lvl3pPr marL="571500" marR="0" indent="-571500" algn="l" defTabSz="584200" rtl="0" fontAlgn="auto" latinLnBrk="0" hangingPunct="0">
        <a:lnSpc>
          <a:spcPct val="100000"/>
        </a:lnSpc>
        <a:spcBef>
          <a:spcPts val="0"/>
        </a:spcBef>
        <a:spcAft>
          <a:spcPts val="0"/>
        </a:spcAft>
        <a:buClrTx/>
        <a:buSzTx/>
        <a:buFont typeface="Arial" panose="020B0604020202020204" pitchFamily="34" charset="0"/>
        <a:buChar char="•"/>
        <a:tabLst/>
        <a:defRPr kumimoji="0" lang="en-US" sz="4000" b="0" i="0" u="none" strike="noStrike" cap="none" spc="0" normalizeH="0" baseline="0" dirty="0">
          <a:ln>
            <a:noFill/>
          </a:ln>
          <a:solidFill>
            <a:srgbClr val="000000"/>
          </a:solidFill>
          <a:effectLst/>
          <a:uFillTx/>
          <a:latin typeface="Bahnschrift" panose="020B0502040204020203" pitchFamily="34" charset="0"/>
          <a:ea typeface="+mn-ea"/>
          <a:cs typeface="+mn-cs"/>
          <a:sym typeface="Helvetica Light"/>
        </a:defRPr>
      </a:lvl3pPr>
      <a:lvl4pPr marL="571500" marR="0" indent="-571500" algn="l" defTabSz="584200" rtl="0" fontAlgn="auto" latinLnBrk="0" hangingPunct="0">
        <a:lnSpc>
          <a:spcPct val="100000"/>
        </a:lnSpc>
        <a:spcBef>
          <a:spcPts val="0"/>
        </a:spcBef>
        <a:spcAft>
          <a:spcPts val="0"/>
        </a:spcAft>
        <a:buClrTx/>
        <a:buSzTx/>
        <a:buFont typeface="Arial" panose="020B0604020202020204" pitchFamily="34" charset="0"/>
        <a:buChar char="•"/>
        <a:tabLst/>
        <a:defRPr kumimoji="0" lang="en-US" sz="4000" b="0" i="0" u="none" strike="noStrike" cap="none" spc="0" normalizeH="0" baseline="0" dirty="0">
          <a:ln>
            <a:noFill/>
          </a:ln>
          <a:solidFill>
            <a:srgbClr val="000000"/>
          </a:solidFill>
          <a:effectLst/>
          <a:uFillTx/>
          <a:latin typeface="Bahnschrift" panose="020B0502040204020203" pitchFamily="34" charset="0"/>
          <a:ea typeface="+mn-ea"/>
          <a:cs typeface="+mn-cs"/>
          <a:sym typeface="Helvetica Light"/>
        </a:defRPr>
      </a:lvl4pPr>
      <a:lvl5pPr marL="571500" marR="0" indent="-571500" algn="l" defTabSz="584200" rtl="0" fontAlgn="auto" latinLnBrk="0" hangingPunct="0">
        <a:lnSpc>
          <a:spcPct val="100000"/>
        </a:lnSpc>
        <a:spcBef>
          <a:spcPts val="0"/>
        </a:spcBef>
        <a:spcAft>
          <a:spcPts val="0"/>
        </a:spcAft>
        <a:buClrTx/>
        <a:buSzTx/>
        <a:buFont typeface="Arial" panose="020B0604020202020204" pitchFamily="34" charset="0"/>
        <a:buChar char="•"/>
        <a:tabLst/>
        <a:defRPr kumimoji="0" lang="en-US" sz="4000" b="0" i="0" u="none" strike="noStrike" cap="none" spc="0" normalizeH="0" baseline="0" dirty="0">
          <a:ln>
            <a:noFill/>
          </a:ln>
          <a:solidFill>
            <a:srgbClr val="000000"/>
          </a:solidFill>
          <a:effectLst/>
          <a:uFillTx/>
          <a:latin typeface="Bahnschrift" panose="020B0502040204020203" pitchFamily="34" charset="0"/>
          <a:ea typeface="+mn-ea"/>
          <a:cs typeface="+mn-cs"/>
          <a:sym typeface="Helvetica Light"/>
        </a:defRPr>
      </a:lvl5pPr>
      <a:lvl6pPr marL="3556178" marR="0" indent="-592696" algn="l" defTabSz="778972" rtl="0" latinLnBrk="0">
        <a:lnSpc>
          <a:spcPct val="100000"/>
        </a:lnSpc>
        <a:spcBef>
          <a:spcPts val="5600"/>
        </a:spcBef>
        <a:spcAft>
          <a:spcPts val="0"/>
        </a:spcAft>
        <a:buClrTx/>
        <a:buSzPct val="75000"/>
        <a:buFontTx/>
        <a:buChar char="•"/>
        <a:tabLst/>
        <a:defRPr sz="4800" b="0" i="0" u="none" strike="noStrike" cap="none" spc="0" baseline="0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6pPr>
      <a:lvl7pPr marL="4148874" marR="0" indent="-592696" algn="l" defTabSz="778972" rtl="0" latinLnBrk="0">
        <a:lnSpc>
          <a:spcPct val="100000"/>
        </a:lnSpc>
        <a:spcBef>
          <a:spcPts val="5600"/>
        </a:spcBef>
        <a:spcAft>
          <a:spcPts val="0"/>
        </a:spcAft>
        <a:buClrTx/>
        <a:buSzPct val="75000"/>
        <a:buFontTx/>
        <a:buChar char="•"/>
        <a:tabLst/>
        <a:defRPr sz="4800" b="0" i="0" u="none" strike="noStrike" cap="none" spc="0" baseline="0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7pPr>
      <a:lvl8pPr marL="4741570" marR="0" indent="-592696" algn="l" defTabSz="778972" rtl="0" latinLnBrk="0">
        <a:lnSpc>
          <a:spcPct val="100000"/>
        </a:lnSpc>
        <a:spcBef>
          <a:spcPts val="5600"/>
        </a:spcBef>
        <a:spcAft>
          <a:spcPts val="0"/>
        </a:spcAft>
        <a:buClrTx/>
        <a:buSzPct val="75000"/>
        <a:buFontTx/>
        <a:buChar char="•"/>
        <a:tabLst/>
        <a:defRPr sz="4800" b="0" i="0" u="none" strike="noStrike" cap="none" spc="0" baseline="0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8pPr>
      <a:lvl9pPr marL="5334267" marR="0" indent="-592696" algn="l" defTabSz="778972" rtl="0" latinLnBrk="0">
        <a:lnSpc>
          <a:spcPct val="100000"/>
        </a:lnSpc>
        <a:spcBef>
          <a:spcPts val="5600"/>
        </a:spcBef>
        <a:spcAft>
          <a:spcPts val="0"/>
        </a:spcAft>
        <a:buClrTx/>
        <a:buSzPct val="75000"/>
        <a:buFontTx/>
        <a:buChar char="•"/>
        <a:tabLst/>
        <a:defRPr sz="4800" b="0" i="0" u="none" strike="noStrike" cap="none" spc="0" baseline="0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9pPr>
    </p:bodyStyle>
    <p:otherStyle>
      <a:lvl1pPr marL="0" marR="0" indent="0" algn="ctr" defTabSz="77897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1pPr>
      <a:lvl2pPr marL="0" marR="0" indent="304815" algn="ctr" defTabSz="77897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2pPr>
      <a:lvl3pPr marL="0" marR="0" indent="609630" algn="ctr" defTabSz="77897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3pPr>
      <a:lvl4pPr marL="0" marR="0" indent="914446" algn="ctr" defTabSz="77897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4pPr>
      <a:lvl5pPr marL="0" marR="0" indent="1219261" algn="ctr" defTabSz="77897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5pPr>
      <a:lvl6pPr marL="0" marR="0" indent="1524076" algn="ctr" defTabSz="77897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6pPr>
      <a:lvl7pPr marL="0" marR="0" indent="1828891" algn="ctr" defTabSz="77897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7pPr>
      <a:lvl8pPr marL="0" marR="0" indent="2133707" algn="ctr" defTabSz="77897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8pPr>
      <a:lvl9pPr marL="0" marR="0" indent="2438522" algn="ctr" defTabSz="77897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open.lib.umn.edu/mapping/chapter/7-lying-with-maps/" TargetMode="Externa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://colorbrewer2.org/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5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gif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gif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4CF31C27-D594-4C5E-A1CD-12AF80B566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" y="5902744"/>
            <a:ext cx="9994265" cy="3583203"/>
          </a:xfrm>
        </p:spPr>
        <p:txBody>
          <a:bodyPr vert="horz" wrap="square" lIns="0" tIns="12869" rIns="0" bIns="0" rtlCol="0">
            <a:spAutoFit/>
          </a:bodyPr>
          <a:lstStyle/>
          <a:p>
            <a:pPr marL="13547">
              <a:spcBef>
                <a:spcPts val="101"/>
              </a:spcBef>
            </a:pPr>
            <a:r>
              <a:rPr lang="en-GB" spc="-11" dirty="0"/>
              <a:t>Map Design and Statistical Visualisation</a:t>
            </a:r>
            <a:br>
              <a:rPr lang="en-GB" spc="-11" dirty="0"/>
            </a:br>
            <a:br>
              <a:rPr lang="en-GB" spc="-11" dirty="0"/>
            </a:br>
            <a:r>
              <a:rPr lang="en-GB" sz="4000" spc="-11" dirty="0">
                <a:latin typeface="Bahnschrift Light" panose="020B0502040204020203" pitchFamily="34" charset="0"/>
              </a:rPr>
              <a:t>ENVS456 – week 2</a:t>
            </a:r>
            <a:br>
              <a:rPr lang="en-GB" spc="-11" dirty="0"/>
            </a:br>
            <a:r>
              <a:rPr lang="en-GB" i="1" spc="-11" dirty="0"/>
              <a:t>Gabriele Filomena</a:t>
            </a:r>
          </a:p>
        </p:txBody>
      </p:sp>
      <p:sp>
        <p:nvSpPr>
          <p:cNvPr id="11" name="AutoShape 2" descr="https://globalfishingwatch.org/wp-content/uploads/GFW-visualization-all-activity_North-Sea-with-key_v2-1400x916.webp">
            <a:extLst>
              <a:ext uri="{FF2B5EF4-FFF2-40B4-BE49-F238E27FC236}">
                <a16:creationId xmlns:a16="http://schemas.microsoft.com/office/drawing/2014/main" id="{02F92135-DE07-4B56-B181-FE32829A64A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8516938" y="47244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2" name="AutoShape 4" descr="https://globalfishingwatch.org/wp-content/uploads/GFW-visualization-all-activity_North-Sea-with-key_v2-1400x916.webp">
            <a:extLst>
              <a:ext uri="{FF2B5EF4-FFF2-40B4-BE49-F238E27FC236}">
                <a16:creationId xmlns:a16="http://schemas.microsoft.com/office/drawing/2014/main" id="{8113C82B-10E0-4795-B6ED-EE54D5C5CFA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8669338" y="48768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pic>
        <p:nvPicPr>
          <p:cNvPr id="12298" name="Picture 10" descr="https://media.springernature.com/lw685/springer-static/image/art%3A10.1038%2Fs41586-023-06825-8/MediaObjects/41586_2023_6825_Fig2_HTML.png?">
            <a:extLst>
              <a:ext uri="{FF2B5EF4-FFF2-40B4-BE49-F238E27FC236}">
                <a16:creationId xmlns:a16="http://schemas.microsoft.com/office/drawing/2014/main" id="{A55E46A0-432D-4033-BB59-F3A7ED7295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16185" y="252412"/>
            <a:ext cx="6524625" cy="92487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AE85CD0E-5519-4306-A570-33B46E7CADD7}"/>
              </a:ext>
            </a:extLst>
          </p:cNvPr>
          <p:cNvSpPr/>
          <p:nvPr/>
        </p:nvSpPr>
        <p:spPr>
          <a:xfrm>
            <a:off x="10116185" y="9485947"/>
            <a:ext cx="6524625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/>
            <a:r>
              <a:rPr lang="en-GB" sz="1400" dirty="0">
                <a:latin typeface="Bahnschrift" panose="020B0502040204020203" pitchFamily="34" charset="0"/>
              </a:rPr>
              <a:t>Source: https://www.nature.com/articles/s41586-023-06825-8</a:t>
            </a:r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4CF31C27-D594-4C5E-A1CD-12AF80B566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wrap="square" lIns="0" tIns="12869" rIns="0" bIns="0" rtlCol="0">
            <a:spAutoFit/>
          </a:bodyPr>
          <a:lstStyle/>
          <a:p>
            <a:pPr marL="13547">
              <a:spcBef>
                <a:spcPts val="101"/>
              </a:spcBef>
            </a:pPr>
            <a:r>
              <a:rPr lang="en-GB" spc="-11" dirty="0"/>
              <a:t>Agenda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68386F04-F31C-45D6-91A9-D8EBCF9148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pc="-224" dirty="0">
                <a:solidFill>
                  <a:srgbClr val="454545"/>
                </a:solidFill>
                <a:cs typeface="Times New Roman"/>
              </a:rPr>
              <a:t>V</a:t>
            </a:r>
            <a:r>
              <a:rPr lang="en-GB" spc="5" dirty="0">
                <a:solidFill>
                  <a:srgbClr val="454545"/>
                </a:solidFill>
                <a:cs typeface="Times New Roman"/>
              </a:rPr>
              <a:t>isualisation</a:t>
            </a:r>
            <a:endParaRPr lang="en-GB" spc="-53" dirty="0">
              <a:solidFill>
                <a:srgbClr val="454545"/>
              </a:solidFill>
              <a:cs typeface="Times New Roman"/>
            </a:endParaRPr>
          </a:p>
          <a:p>
            <a:r>
              <a:rPr lang="en-GB" spc="-224" dirty="0" err="1">
                <a:solidFill>
                  <a:srgbClr val="454545"/>
                </a:solidFill>
                <a:cs typeface="Times New Roman"/>
              </a:rPr>
              <a:t>Geov</a:t>
            </a:r>
            <a:r>
              <a:rPr lang="en-GB" spc="5" dirty="0" err="1">
                <a:solidFill>
                  <a:srgbClr val="454545"/>
                </a:solidFill>
                <a:cs typeface="Times New Roman"/>
              </a:rPr>
              <a:t>isualisation</a:t>
            </a:r>
            <a:r>
              <a:rPr lang="en-GB" spc="11" dirty="0">
                <a:solidFill>
                  <a:srgbClr val="454545"/>
                </a:solidFill>
                <a:cs typeface="Times New Roman"/>
              </a:rPr>
              <a:t> </a:t>
            </a:r>
            <a:r>
              <a:rPr lang="en-GB" spc="16" dirty="0">
                <a:solidFill>
                  <a:srgbClr val="454545"/>
                </a:solidFill>
                <a:cs typeface="Times New Roman"/>
              </a:rPr>
              <a:t> </a:t>
            </a:r>
          </a:p>
          <a:p>
            <a:r>
              <a:rPr lang="en-GB" spc="5" dirty="0">
                <a:solidFill>
                  <a:srgbClr val="454545"/>
                </a:solidFill>
                <a:cs typeface="Times New Roman"/>
              </a:rPr>
              <a:t>Symbols</a:t>
            </a:r>
          </a:p>
          <a:p>
            <a:r>
              <a:rPr lang="en-GB" spc="-11" dirty="0">
                <a:cs typeface="Arial MT"/>
              </a:rPr>
              <a:t>Choropleths</a:t>
            </a:r>
            <a:endParaRPr lang="en-GB" spc="5" dirty="0">
              <a:solidFill>
                <a:srgbClr val="454545"/>
              </a:solidFill>
              <a:cs typeface="Times New Roman"/>
            </a:endParaRPr>
          </a:p>
          <a:p>
            <a:r>
              <a:rPr lang="en-GB" spc="5" dirty="0">
                <a:solidFill>
                  <a:srgbClr val="454545"/>
                </a:solidFill>
                <a:cs typeface="Times New Roman"/>
              </a:rPr>
              <a:t>Cartograms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85072746"/>
      </p:ext>
    </p:extLst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869" rIns="0" bIns="0" rtlCol="0">
            <a:spAutoFit/>
          </a:bodyPr>
          <a:lstStyle/>
          <a:p>
            <a:pPr marL="13547">
              <a:spcBef>
                <a:spcPts val="101"/>
              </a:spcBef>
            </a:pPr>
            <a:r>
              <a:rPr spc="-16" dirty="0">
                <a:latin typeface="Arial MT"/>
                <a:cs typeface="Arial MT"/>
              </a:rPr>
              <a:t>Visualisation</a:t>
            </a:r>
          </a:p>
        </p:txBody>
      </p:sp>
    </p:spTree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869" rIns="0" bIns="0" rtlCol="0">
            <a:spAutoFit/>
          </a:bodyPr>
          <a:lstStyle/>
          <a:p>
            <a:pPr marL="13547">
              <a:spcBef>
                <a:spcPts val="101"/>
              </a:spcBef>
            </a:pPr>
            <a:r>
              <a:rPr spc="-11" dirty="0"/>
              <a:t>What?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3AE31FE-BBD1-43F8-912F-89133F561E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93200" y="2091600"/>
            <a:ext cx="11903666" cy="6286500"/>
          </a:xfrm>
        </p:spPr>
        <p:txBody>
          <a:bodyPr/>
          <a:lstStyle/>
          <a:p>
            <a:pPr marL="151728" marR="5419" indent="0">
              <a:lnSpc>
                <a:spcPct val="108300"/>
              </a:lnSpc>
              <a:spcBef>
                <a:spcPts val="101"/>
              </a:spcBef>
              <a:buNone/>
            </a:pPr>
            <a:r>
              <a:rPr lang="en-GB" i="1" spc="-37" dirty="0">
                <a:solidFill>
                  <a:srgbClr val="454545"/>
                </a:solidFill>
                <a:cs typeface="Times New Roman"/>
              </a:rPr>
              <a:t>“Visual</a:t>
            </a:r>
            <a:r>
              <a:rPr lang="en-GB" i="1" spc="16" dirty="0">
                <a:solidFill>
                  <a:srgbClr val="454545"/>
                </a:solidFill>
                <a:cs typeface="Times New Roman"/>
              </a:rPr>
              <a:t> </a:t>
            </a:r>
            <a:r>
              <a:rPr lang="en-GB" i="1" spc="-16" dirty="0">
                <a:solidFill>
                  <a:srgbClr val="454545"/>
                </a:solidFill>
                <a:cs typeface="Times New Roman"/>
              </a:rPr>
              <a:t>representations</a:t>
            </a:r>
            <a:r>
              <a:rPr lang="en-GB" i="1" spc="21" dirty="0">
                <a:solidFill>
                  <a:srgbClr val="454545"/>
                </a:solidFill>
                <a:cs typeface="Times New Roman"/>
              </a:rPr>
              <a:t> </a:t>
            </a:r>
            <a:r>
              <a:rPr lang="en-GB" i="1" spc="5" dirty="0">
                <a:solidFill>
                  <a:srgbClr val="454545"/>
                </a:solidFill>
                <a:cs typeface="Times New Roman"/>
              </a:rPr>
              <a:t>of</a:t>
            </a:r>
            <a:r>
              <a:rPr lang="en-GB" i="1" spc="16" dirty="0">
                <a:solidFill>
                  <a:srgbClr val="454545"/>
                </a:solidFill>
                <a:cs typeface="Times New Roman"/>
              </a:rPr>
              <a:t> </a:t>
            </a:r>
            <a:r>
              <a:rPr lang="en-GB" i="1" spc="5" dirty="0">
                <a:solidFill>
                  <a:srgbClr val="454545"/>
                </a:solidFill>
                <a:cs typeface="Times New Roman"/>
              </a:rPr>
              <a:t>datasets</a:t>
            </a:r>
            <a:r>
              <a:rPr lang="en-GB" i="1" spc="21" dirty="0">
                <a:solidFill>
                  <a:srgbClr val="454545"/>
                </a:solidFill>
                <a:cs typeface="Times New Roman"/>
              </a:rPr>
              <a:t> </a:t>
            </a:r>
            <a:r>
              <a:rPr lang="en-GB" i="1" spc="5" dirty="0">
                <a:solidFill>
                  <a:srgbClr val="454545"/>
                </a:solidFill>
                <a:cs typeface="Times New Roman"/>
              </a:rPr>
              <a:t>designed</a:t>
            </a:r>
            <a:r>
              <a:rPr lang="en-GB" i="1" spc="16" dirty="0">
                <a:solidFill>
                  <a:srgbClr val="454545"/>
                </a:solidFill>
                <a:cs typeface="Times New Roman"/>
              </a:rPr>
              <a:t> </a:t>
            </a:r>
            <a:r>
              <a:rPr lang="en-GB" i="1" spc="5" dirty="0">
                <a:solidFill>
                  <a:srgbClr val="454545"/>
                </a:solidFill>
                <a:cs typeface="Times New Roman"/>
              </a:rPr>
              <a:t>to</a:t>
            </a:r>
            <a:r>
              <a:rPr lang="en-GB" i="1" spc="21" dirty="0">
                <a:solidFill>
                  <a:srgbClr val="454545"/>
                </a:solidFill>
                <a:cs typeface="Times New Roman"/>
              </a:rPr>
              <a:t> </a:t>
            </a:r>
            <a:r>
              <a:rPr lang="en-GB" i="1" spc="5" dirty="0">
                <a:solidFill>
                  <a:srgbClr val="454545"/>
                </a:solidFill>
                <a:cs typeface="Times New Roman"/>
              </a:rPr>
              <a:t>help </a:t>
            </a:r>
            <a:r>
              <a:rPr lang="en-GB" i="1" spc="-987" dirty="0">
                <a:solidFill>
                  <a:srgbClr val="454545"/>
                </a:solidFill>
                <a:cs typeface="Times New Roman"/>
              </a:rPr>
              <a:t> </a:t>
            </a:r>
            <a:r>
              <a:rPr lang="en-GB" i="1" spc="5" dirty="0">
                <a:solidFill>
                  <a:srgbClr val="454545"/>
                </a:solidFill>
                <a:cs typeface="Times New Roman"/>
              </a:rPr>
              <a:t>people carry out tasks </a:t>
            </a:r>
            <a:r>
              <a:rPr lang="en-GB" i="1" spc="-27" dirty="0">
                <a:solidFill>
                  <a:srgbClr val="454545"/>
                </a:solidFill>
                <a:cs typeface="Times New Roman"/>
              </a:rPr>
              <a:t>more</a:t>
            </a:r>
            <a:r>
              <a:rPr lang="en-GB" i="1" spc="5" dirty="0">
                <a:solidFill>
                  <a:srgbClr val="454545"/>
                </a:solidFill>
                <a:cs typeface="Times New Roman"/>
              </a:rPr>
              <a:t> effectively”</a:t>
            </a:r>
            <a:endParaRPr lang="en-GB" dirty="0">
              <a:cs typeface="Times New Roman"/>
            </a:endParaRPr>
          </a:p>
          <a:p>
            <a:pPr marL="0" indent="0">
              <a:spcBef>
                <a:spcPts val="2240"/>
              </a:spcBef>
              <a:buNone/>
            </a:pPr>
            <a:r>
              <a:rPr lang="en-GB" spc="11" dirty="0" err="1">
                <a:solidFill>
                  <a:srgbClr val="454545"/>
                </a:solidFill>
                <a:cs typeface="Times New Roman"/>
              </a:rPr>
              <a:t>Munzner</a:t>
            </a:r>
            <a:r>
              <a:rPr lang="en-GB" spc="-27" dirty="0">
                <a:solidFill>
                  <a:srgbClr val="454545"/>
                </a:solidFill>
                <a:cs typeface="Times New Roman"/>
              </a:rPr>
              <a:t> </a:t>
            </a:r>
            <a:r>
              <a:rPr lang="en-GB" spc="5" dirty="0">
                <a:solidFill>
                  <a:srgbClr val="454545"/>
                </a:solidFill>
                <a:cs typeface="Times New Roman"/>
              </a:rPr>
              <a:t>(2014)</a:t>
            </a:r>
            <a:endParaRPr lang="en-GB" dirty="0">
              <a:cs typeface="Times New Roman"/>
            </a:endParaRPr>
          </a:p>
          <a:p>
            <a:endParaRPr lang="en-GB" dirty="0"/>
          </a:p>
        </p:txBody>
      </p:sp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869" rIns="0" bIns="0" rtlCol="0">
            <a:spAutoFit/>
          </a:bodyPr>
          <a:lstStyle/>
          <a:p>
            <a:pPr marL="13547">
              <a:spcBef>
                <a:spcPts val="101"/>
              </a:spcBef>
            </a:pPr>
            <a:r>
              <a:rPr spc="-11" dirty="0"/>
              <a:t>When?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51F002A-FA9F-4404-9557-A243CCE742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93199" y="2091600"/>
            <a:ext cx="14800185" cy="6286500"/>
          </a:xfrm>
        </p:spPr>
        <p:txBody>
          <a:bodyPr/>
          <a:lstStyle/>
          <a:p>
            <a:pPr marL="524950">
              <a:spcBef>
                <a:spcPts val="2640"/>
              </a:spcBef>
            </a:pPr>
            <a:r>
              <a:rPr lang="en-GB" i="1" spc="11" dirty="0">
                <a:solidFill>
                  <a:srgbClr val="454545"/>
                </a:solidFill>
                <a:cs typeface="Times New Roman"/>
              </a:rPr>
              <a:t>Keep</a:t>
            </a:r>
            <a:r>
              <a:rPr lang="en-GB" i="1" dirty="0">
                <a:solidFill>
                  <a:srgbClr val="454545"/>
                </a:solidFill>
                <a:cs typeface="Times New Roman"/>
              </a:rPr>
              <a:t> </a:t>
            </a:r>
            <a:r>
              <a:rPr lang="en-GB" spc="5" dirty="0">
                <a:solidFill>
                  <a:srgbClr val="454545"/>
                </a:solidFill>
                <a:cs typeface="Times New Roman"/>
              </a:rPr>
              <a:t>the</a:t>
            </a:r>
            <a:r>
              <a:rPr lang="en-GB" dirty="0">
                <a:solidFill>
                  <a:srgbClr val="454545"/>
                </a:solidFill>
                <a:cs typeface="Times New Roman"/>
              </a:rPr>
              <a:t> </a:t>
            </a:r>
            <a:r>
              <a:rPr lang="en-GB" spc="11" dirty="0">
                <a:solidFill>
                  <a:srgbClr val="454545"/>
                </a:solidFill>
                <a:cs typeface="Times New Roman"/>
              </a:rPr>
              <a:t>human</a:t>
            </a:r>
            <a:r>
              <a:rPr lang="en-GB" spc="-5" dirty="0">
                <a:solidFill>
                  <a:srgbClr val="454545"/>
                </a:solidFill>
                <a:cs typeface="Times New Roman"/>
              </a:rPr>
              <a:t> </a:t>
            </a:r>
            <a:r>
              <a:rPr lang="en-GB" spc="5" dirty="0">
                <a:solidFill>
                  <a:srgbClr val="454545"/>
                </a:solidFill>
                <a:cs typeface="Times New Roman"/>
              </a:rPr>
              <a:t>in</a:t>
            </a:r>
            <a:r>
              <a:rPr lang="en-GB" dirty="0">
                <a:solidFill>
                  <a:srgbClr val="454545"/>
                </a:solidFill>
                <a:cs typeface="Times New Roman"/>
              </a:rPr>
              <a:t> </a:t>
            </a:r>
            <a:r>
              <a:rPr lang="en-GB" spc="5" dirty="0">
                <a:solidFill>
                  <a:srgbClr val="454545"/>
                </a:solidFill>
                <a:cs typeface="Times New Roman"/>
              </a:rPr>
              <a:t>the</a:t>
            </a:r>
            <a:r>
              <a:rPr lang="en-GB" dirty="0">
                <a:solidFill>
                  <a:srgbClr val="454545"/>
                </a:solidFill>
                <a:cs typeface="Times New Roman"/>
              </a:rPr>
              <a:t> </a:t>
            </a:r>
            <a:r>
              <a:rPr lang="en-GB" spc="5" dirty="0">
                <a:solidFill>
                  <a:srgbClr val="454545"/>
                </a:solidFill>
                <a:cs typeface="Times New Roman"/>
              </a:rPr>
              <a:t>loop</a:t>
            </a:r>
            <a:endParaRPr lang="en-GB" dirty="0">
              <a:cs typeface="Times New Roman"/>
            </a:endParaRPr>
          </a:p>
          <a:p>
            <a:pPr marL="524950" marR="5419">
              <a:lnSpc>
                <a:spcPct val="125000"/>
              </a:lnSpc>
            </a:pPr>
            <a:r>
              <a:rPr lang="en-GB" i="1" spc="11" dirty="0">
                <a:solidFill>
                  <a:srgbClr val="454545"/>
                </a:solidFill>
                <a:cs typeface="Times New Roman"/>
              </a:rPr>
              <a:t>Augment </a:t>
            </a:r>
            <a:r>
              <a:rPr lang="en-GB" spc="5" dirty="0">
                <a:solidFill>
                  <a:srgbClr val="454545"/>
                </a:solidFill>
                <a:cs typeface="Times New Roman"/>
              </a:rPr>
              <a:t>memory/internal representation </a:t>
            </a:r>
          </a:p>
          <a:p>
            <a:pPr marL="524950" marR="5419">
              <a:lnSpc>
                <a:spcPct val="125000"/>
              </a:lnSpc>
            </a:pPr>
            <a:r>
              <a:rPr lang="en-GB" i="1" spc="11" dirty="0">
                <a:solidFill>
                  <a:srgbClr val="454545"/>
                </a:solidFill>
                <a:cs typeface="Times New Roman"/>
              </a:rPr>
              <a:t>Ask </a:t>
            </a:r>
            <a:r>
              <a:rPr lang="en-GB" spc="11" dirty="0">
                <a:solidFill>
                  <a:srgbClr val="454545"/>
                </a:solidFill>
                <a:cs typeface="Times New Roman"/>
              </a:rPr>
              <a:t>new </a:t>
            </a:r>
            <a:r>
              <a:rPr lang="en-GB" spc="5" dirty="0">
                <a:solidFill>
                  <a:srgbClr val="454545"/>
                </a:solidFill>
                <a:cs typeface="Times New Roman"/>
              </a:rPr>
              <a:t>questions rather than </a:t>
            </a:r>
            <a:r>
              <a:rPr lang="en-GB" i="1" spc="11" dirty="0">
                <a:solidFill>
                  <a:srgbClr val="454545"/>
                </a:solidFill>
                <a:cs typeface="Times New Roman"/>
              </a:rPr>
              <a:t>answering </a:t>
            </a:r>
            <a:r>
              <a:rPr lang="en-GB" i="1" spc="-987" dirty="0">
                <a:solidFill>
                  <a:srgbClr val="454545"/>
                </a:solidFill>
                <a:cs typeface="Times New Roman"/>
              </a:rPr>
              <a:t> </a:t>
            </a:r>
            <a:r>
              <a:rPr lang="en-GB" spc="5" dirty="0">
                <a:solidFill>
                  <a:srgbClr val="454545"/>
                </a:solidFill>
                <a:cs typeface="Times New Roman"/>
              </a:rPr>
              <a:t>existing</a:t>
            </a:r>
            <a:r>
              <a:rPr lang="en-GB" dirty="0">
                <a:solidFill>
                  <a:srgbClr val="454545"/>
                </a:solidFill>
                <a:cs typeface="Times New Roman"/>
              </a:rPr>
              <a:t> </a:t>
            </a:r>
            <a:r>
              <a:rPr lang="en-GB" spc="11" dirty="0">
                <a:solidFill>
                  <a:srgbClr val="454545"/>
                </a:solidFill>
                <a:cs typeface="Times New Roman"/>
              </a:rPr>
              <a:t>ones</a:t>
            </a:r>
            <a:endParaRPr lang="en-GB" dirty="0">
              <a:cs typeface="Times New Roman"/>
            </a:endParaRPr>
          </a:p>
          <a:p>
            <a:endParaRPr lang="en-GB" dirty="0"/>
          </a:p>
        </p:txBody>
      </p:sp>
    </p:spTree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869" rIns="0" bIns="0" rtlCol="0">
            <a:spAutoFit/>
          </a:bodyPr>
          <a:lstStyle/>
          <a:p>
            <a:pPr marL="13547">
              <a:spcBef>
                <a:spcPts val="101"/>
              </a:spcBef>
            </a:pPr>
            <a:r>
              <a:rPr spc="-11" dirty="0"/>
              <a:t>Why</a:t>
            </a:r>
            <a:r>
              <a:rPr spc="-5" dirty="0"/>
              <a:t>?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808C4FB3-64C8-49E6-9BC1-C9508B33BC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93199" y="2091600"/>
            <a:ext cx="15264961" cy="6286500"/>
          </a:xfrm>
        </p:spPr>
        <p:txBody>
          <a:bodyPr/>
          <a:lstStyle/>
          <a:p>
            <a:pPr marL="13547">
              <a:spcBef>
                <a:spcPts val="1301"/>
              </a:spcBef>
            </a:pPr>
            <a:r>
              <a:rPr lang="en-GB" i="1" spc="5" dirty="0">
                <a:solidFill>
                  <a:srgbClr val="454545"/>
                </a:solidFill>
                <a:cs typeface="Times New Roman"/>
              </a:rPr>
              <a:t>Bridges</a:t>
            </a:r>
            <a:r>
              <a:rPr lang="en-GB" spc="-5" dirty="0">
                <a:solidFill>
                  <a:srgbClr val="454545"/>
                </a:solidFill>
                <a:cs typeface="Times New Roman"/>
              </a:rPr>
              <a:t> </a:t>
            </a:r>
            <a:r>
              <a:rPr lang="en-GB" spc="11" dirty="0">
                <a:solidFill>
                  <a:srgbClr val="454545"/>
                </a:solidFill>
                <a:cs typeface="Times New Roman"/>
              </a:rPr>
              <a:t>human</a:t>
            </a:r>
            <a:r>
              <a:rPr lang="en-GB" spc="-5" dirty="0">
                <a:solidFill>
                  <a:srgbClr val="454545"/>
                </a:solidFill>
                <a:cs typeface="Times New Roman"/>
              </a:rPr>
              <a:t> </a:t>
            </a:r>
            <a:r>
              <a:rPr lang="en-GB" spc="11" dirty="0">
                <a:solidFill>
                  <a:srgbClr val="454545"/>
                </a:solidFill>
                <a:cs typeface="Times New Roman"/>
              </a:rPr>
              <a:t>and</a:t>
            </a:r>
            <a:r>
              <a:rPr lang="en-GB" dirty="0">
                <a:solidFill>
                  <a:srgbClr val="454545"/>
                </a:solidFill>
                <a:cs typeface="Times New Roman"/>
              </a:rPr>
              <a:t> </a:t>
            </a:r>
            <a:r>
              <a:rPr lang="en-GB" spc="11" dirty="0">
                <a:solidFill>
                  <a:srgbClr val="454545"/>
                </a:solidFill>
                <a:cs typeface="Times New Roman"/>
              </a:rPr>
              <a:t>machine</a:t>
            </a:r>
            <a:endParaRPr lang="en-GB" dirty="0">
              <a:cs typeface="Times New Roman"/>
            </a:endParaRPr>
          </a:p>
          <a:p>
            <a:pPr marL="13547" marR="1568076">
              <a:lnSpc>
                <a:spcPct val="125000"/>
              </a:lnSpc>
            </a:pPr>
            <a:r>
              <a:rPr lang="en-GB" i="1" spc="5" dirty="0">
                <a:solidFill>
                  <a:srgbClr val="454545"/>
                </a:solidFill>
                <a:cs typeface="Times New Roman"/>
              </a:rPr>
              <a:t>Relies</a:t>
            </a:r>
            <a:r>
              <a:rPr lang="en-GB" spc="5" dirty="0">
                <a:solidFill>
                  <a:srgbClr val="454545"/>
                </a:solidFill>
                <a:cs typeface="Times New Roman"/>
              </a:rPr>
              <a:t> </a:t>
            </a:r>
            <a:r>
              <a:rPr lang="en-GB" spc="11" dirty="0">
                <a:solidFill>
                  <a:srgbClr val="454545"/>
                </a:solidFill>
                <a:cs typeface="Times New Roman"/>
              </a:rPr>
              <a:t>on</a:t>
            </a:r>
            <a:r>
              <a:rPr lang="en-GB" spc="5" dirty="0">
                <a:solidFill>
                  <a:srgbClr val="454545"/>
                </a:solidFill>
                <a:cs typeface="Times New Roman"/>
              </a:rPr>
              <a:t> vision</a:t>
            </a:r>
          </a:p>
          <a:p>
            <a:pPr marL="13547" marR="1568076">
              <a:lnSpc>
                <a:spcPct val="125000"/>
              </a:lnSpc>
            </a:pPr>
            <a:r>
              <a:rPr lang="en-GB" spc="5" dirty="0">
                <a:solidFill>
                  <a:srgbClr val="454545"/>
                </a:solidFill>
                <a:cs typeface="Times New Roman"/>
              </a:rPr>
              <a:t>External representations</a:t>
            </a:r>
            <a:r>
              <a:rPr lang="en-GB" spc="11" dirty="0">
                <a:solidFill>
                  <a:srgbClr val="454545"/>
                </a:solidFill>
                <a:cs typeface="Times New Roman"/>
              </a:rPr>
              <a:t> work</a:t>
            </a:r>
            <a:r>
              <a:rPr lang="en-GB" spc="5" dirty="0">
                <a:solidFill>
                  <a:srgbClr val="454545"/>
                </a:solidFill>
                <a:cs typeface="Times New Roman"/>
              </a:rPr>
              <a:t> around</a:t>
            </a:r>
            <a:r>
              <a:rPr lang="en-GB" spc="11" dirty="0">
                <a:solidFill>
                  <a:srgbClr val="454545"/>
                </a:solidFill>
                <a:cs typeface="Times New Roman"/>
              </a:rPr>
              <a:t> </a:t>
            </a:r>
            <a:r>
              <a:rPr lang="en-GB" spc="5" dirty="0">
                <a:solidFill>
                  <a:srgbClr val="454545"/>
                </a:solidFill>
                <a:cs typeface="Times New Roman"/>
              </a:rPr>
              <a:t>limits </a:t>
            </a:r>
            <a:r>
              <a:rPr lang="en-GB" spc="11" dirty="0">
                <a:solidFill>
                  <a:srgbClr val="454545"/>
                </a:solidFill>
                <a:cs typeface="Times New Roman"/>
              </a:rPr>
              <a:t>of</a:t>
            </a:r>
            <a:r>
              <a:rPr lang="en-GB" dirty="0">
                <a:cs typeface="Times New Roman"/>
              </a:rPr>
              <a:t> </a:t>
            </a:r>
            <a:r>
              <a:rPr lang="en-GB" spc="5" dirty="0">
                <a:solidFill>
                  <a:srgbClr val="454545"/>
                </a:solidFill>
                <a:cs typeface="Times New Roman"/>
              </a:rPr>
              <a:t>internal</a:t>
            </a:r>
            <a:r>
              <a:rPr lang="en-GB" dirty="0">
                <a:solidFill>
                  <a:srgbClr val="454545"/>
                </a:solidFill>
                <a:cs typeface="Times New Roman"/>
              </a:rPr>
              <a:t> </a:t>
            </a:r>
            <a:r>
              <a:rPr lang="en-GB" spc="5" dirty="0">
                <a:solidFill>
                  <a:srgbClr val="454545"/>
                </a:solidFill>
                <a:cs typeface="Times New Roman"/>
              </a:rPr>
              <a:t>cognition/memory</a:t>
            </a:r>
            <a:endParaRPr lang="en-GB" dirty="0">
              <a:cs typeface="Times New Roman"/>
            </a:endParaRPr>
          </a:p>
        </p:txBody>
      </p:sp>
    </p:spTree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776699" y="929281"/>
            <a:ext cx="15786864" cy="751658"/>
          </a:xfrm>
          <a:prstGeom prst="rect">
            <a:avLst/>
          </a:prstGeom>
        </p:spPr>
        <p:txBody>
          <a:bodyPr vert="horz" wrap="square" lIns="0" tIns="12869" rIns="0" bIns="0" rtlCol="0">
            <a:spAutoFit/>
          </a:bodyPr>
          <a:lstStyle/>
          <a:p>
            <a:pPr marL="13547">
              <a:spcBef>
                <a:spcPts val="101"/>
              </a:spcBef>
            </a:pPr>
            <a:r>
              <a:rPr spc="-11" dirty="0"/>
              <a:t>How</a:t>
            </a:r>
            <a:r>
              <a:rPr spc="-5" dirty="0"/>
              <a:t>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230243" y="6126707"/>
            <a:ext cx="12868507" cy="633336"/>
          </a:xfrm>
          <a:prstGeom prst="rect">
            <a:avLst/>
          </a:prstGeom>
        </p:spPr>
        <p:txBody>
          <a:bodyPr vert="horz" wrap="square" lIns="0" tIns="17611" rIns="0" bIns="0" rtlCol="0">
            <a:spAutoFit/>
          </a:bodyPr>
          <a:lstStyle/>
          <a:p>
            <a:pPr marL="13547">
              <a:spcBef>
                <a:spcPts val="139"/>
              </a:spcBef>
            </a:pPr>
            <a:r>
              <a:rPr sz="4000" spc="11" dirty="0">
                <a:solidFill>
                  <a:srgbClr val="454545"/>
                </a:solidFill>
                <a:latin typeface="Bahnschrift" panose="020B0502040204020203" pitchFamily="34" charset="0"/>
                <a:cs typeface="Times New Roman"/>
              </a:rPr>
              <a:t>Most</a:t>
            </a:r>
            <a:r>
              <a:rPr sz="4000" dirty="0">
                <a:solidFill>
                  <a:srgbClr val="454545"/>
                </a:solidFill>
                <a:latin typeface="Bahnschrift" panose="020B0502040204020203" pitchFamily="34" charset="0"/>
                <a:cs typeface="Times New Roman"/>
              </a:rPr>
              <a:t> ineffective </a:t>
            </a:r>
            <a:r>
              <a:rPr sz="4000" spc="5" dirty="0">
                <a:solidFill>
                  <a:srgbClr val="454545"/>
                </a:solidFill>
                <a:latin typeface="Bahnschrift" panose="020B0502040204020203" pitchFamily="34" charset="0"/>
                <a:cs typeface="Times New Roman"/>
              </a:rPr>
              <a:t>designs are</a:t>
            </a:r>
            <a:r>
              <a:rPr sz="4000" dirty="0">
                <a:solidFill>
                  <a:srgbClr val="454545"/>
                </a:solidFill>
                <a:latin typeface="Bahnschrift" panose="020B0502040204020203" pitchFamily="34" charset="0"/>
                <a:cs typeface="Times New Roman"/>
              </a:rPr>
              <a:t> </a:t>
            </a:r>
            <a:r>
              <a:rPr sz="4000" spc="11" dirty="0">
                <a:solidFill>
                  <a:srgbClr val="454545"/>
                </a:solidFill>
                <a:latin typeface="Bahnschrift" panose="020B0502040204020203" pitchFamily="34" charset="0"/>
                <a:cs typeface="Times New Roman"/>
              </a:rPr>
              <a:t>due</a:t>
            </a:r>
            <a:r>
              <a:rPr sz="4000" dirty="0">
                <a:solidFill>
                  <a:srgbClr val="454545"/>
                </a:solidFill>
                <a:latin typeface="Bahnschrift" panose="020B0502040204020203" pitchFamily="34" charset="0"/>
                <a:cs typeface="Times New Roman"/>
              </a:rPr>
              <a:t> </a:t>
            </a:r>
            <a:r>
              <a:rPr sz="4000" spc="5" dirty="0">
                <a:solidFill>
                  <a:srgbClr val="454545"/>
                </a:solidFill>
                <a:latin typeface="Bahnschrift" panose="020B0502040204020203" pitchFamily="34" charset="0"/>
                <a:cs typeface="Times New Roman"/>
              </a:rPr>
              <a:t>to </a:t>
            </a:r>
            <a:r>
              <a:rPr sz="4000" spc="11" dirty="0">
                <a:solidFill>
                  <a:srgbClr val="454545"/>
                </a:solidFill>
                <a:latin typeface="Bahnschrift" panose="020B0502040204020203" pitchFamily="34" charset="0"/>
                <a:cs typeface="Times New Roman"/>
              </a:rPr>
              <a:t>a</a:t>
            </a:r>
            <a:r>
              <a:rPr sz="4000" dirty="0">
                <a:solidFill>
                  <a:srgbClr val="454545"/>
                </a:solidFill>
                <a:latin typeface="Bahnschrift" panose="020B0502040204020203" pitchFamily="34" charset="0"/>
                <a:cs typeface="Times New Roman"/>
              </a:rPr>
              <a:t> </a:t>
            </a:r>
            <a:r>
              <a:rPr sz="4000" spc="11" dirty="0">
                <a:solidFill>
                  <a:srgbClr val="454545"/>
                </a:solidFill>
                <a:latin typeface="Bahnschrift" panose="020B0502040204020203" pitchFamily="34" charset="0"/>
                <a:cs typeface="Times New Roman"/>
              </a:rPr>
              <a:t>poor</a:t>
            </a:r>
            <a:r>
              <a:rPr sz="4000" spc="5" dirty="0">
                <a:solidFill>
                  <a:srgbClr val="454545"/>
                </a:solidFill>
                <a:latin typeface="Bahnschrift" panose="020B0502040204020203" pitchFamily="34" charset="0"/>
                <a:cs typeface="Times New Roman"/>
              </a:rPr>
              <a:t> </a:t>
            </a:r>
            <a:r>
              <a:rPr sz="4000" spc="11" dirty="0">
                <a:solidFill>
                  <a:srgbClr val="454545"/>
                </a:solidFill>
                <a:latin typeface="Bahnschrift" panose="020B0502040204020203" pitchFamily="34" charset="0"/>
                <a:cs typeface="Times New Roman"/>
              </a:rPr>
              <a:t>match</a:t>
            </a:r>
            <a:endParaRPr sz="4000" dirty="0">
              <a:latin typeface="Bahnschrift" panose="020B0502040204020203" pitchFamily="34" charset="0"/>
              <a:cs typeface="Times New Roman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6824398" y="3092470"/>
            <a:ext cx="3691467" cy="557845"/>
          </a:xfrm>
          <a:prstGeom prst="rect">
            <a:avLst/>
          </a:prstGeom>
          <a:solidFill>
            <a:srgbClr val="831212"/>
          </a:solidFill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4160"/>
              </a:lnSpc>
            </a:pPr>
            <a:r>
              <a:rPr sz="4000" i="1" spc="11" dirty="0">
                <a:solidFill>
                  <a:srgbClr val="F5F4F1"/>
                </a:solidFill>
                <a:latin typeface="Bahnschrift" panose="020B0502040204020203" pitchFamily="34" charset="0"/>
                <a:cs typeface="Courier New"/>
              </a:rPr>
              <a:t>what-why-how</a:t>
            </a:r>
            <a:endParaRPr sz="4000" dirty="0">
              <a:latin typeface="Bahnschrift" panose="020B0502040204020203" pitchFamily="34" charset="0"/>
              <a:cs typeface="Courier New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6363811" y="4826000"/>
            <a:ext cx="4612640" cy="557845"/>
          </a:xfrm>
          <a:prstGeom prst="rect">
            <a:avLst/>
          </a:prstGeom>
          <a:solidFill>
            <a:srgbClr val="831212"/>
          </a:solidFill>
        </p:spPr>
        <p:txBody>
          <a:bodyPr vert="horz" wrap="square" lIns="0" tIns="0" rIns="0" bIns="0" rtlCol="0">
            <a:spAutoFit/>
          </a:bodyPr>
          <a:lstStyle/>
          <a:p>
            <a:pPr marL="2032">
              <a:lnSpc>
                <a:spcPts val="4160"/>
              </a:lnSpc>
            </a:pPr>
            <a:r>
              <a:rPr sz="4000" i="1" spc="11" dirty="0">
                <a:solidFill>
                  <a:srgbClr val="F5F4F1"/>
                </a:solidFill>
                <a:latin typeface="Bahnschrift" panose="020B0502040204020203" pitchFamily="34" charset="0"/>
                <a:cs typeface="Courier New"/>
              </a:rPr>
              <a:t>data-task-idiom</a:t>
            </a:r>
            <a:endParaRPr sz="4000" dirty="0">
              <a:latin typeface="Bahnschrift" panose="020B0502040204020203" pitchFamily="34" charset="0"/>
              <a:cs typeface="Courier New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8B4C27D-41B1-4BB4-BB2B-20994B0E5321}"/>
              </a:ext>
            </a:extLst>
          </p:cNvPr>
          <p:cNvSpPr/>
          <p:nvPr/>
        </p:nvSpPr>
        <p:spPr>
          <a:xfrm>
            <a:off x="8462150" y="3960690"/>
            <a:ext cx="417550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i="1" spc="16" dirty="0">
                <a:solidFill>
                  <a:srgbClr val="454545"/>
                </a:solidFill>
                <a:latin typeface="Times New Roman"/>
                <a:cs typeface="Times New Roman"/>
              </a:rPr>
              <a:t>↓</a:t>
            </a:r>
            <a:endParaRPr lang="en-GB" dirty="0">
              <a:latin typeface="Times New Roman"/>
              <a:cs typeface="Times New Roman"/>
            </a:endParaRPr>
          </a:p>
        </p:txBody>
      </p:sp>
      <p:sp>
        <p:nvSpPr>
          <p:cNvPr id="9" name="object 7">
            <a:extLst>
              <a:ext uri="{FF2B5EF4-FFF2-40B4-BE49-F238E27FC236}">
                <a16:creationId xmlns:a16="http://schemas.microsoft.com/office/drawing/2014/main" id="{F656757D-EE7F-46F6-BB6B-8E8E648CCC3E}"/>
              </a:ext>
            </a:extLst>
          </p:cNvPr>
          <p:cNvSpPr txBox="1"/>
          <p:nvPr/>
        </p:nvSpPr>
        <p:spPr>
          <a:xfrm>
            <a:off x="3671073" y="7510969"/>
            <a:ext cx="9998117" cy="908967"/>
          </a:xfrm>
          <a:prstGeom prst="rect">
            <a:avLst/>
          </a:prstGeom>
          <a:ln w="31242">
            <a:solidFill>
              <a:srgbClr val="000000"/>
            </a:solidFill>
          </a:ln>
        </p:spPr>
        <p:txBody>
          <a:bodyPr vert="horz" wrap="square" lIns="0" tIns="290576" rIns="0" bIns="0" rtlCol="0" anchor="ctr">
            <a:spAutoFit/>
          </a:bodyPr>
          <a:lstStyle/>
          <a:p>
            <a:r>
              <a:rPr lang="en-GB" sz="4000" i="1" spc="5" dirty="0">
                <a:solidFill>
                  <a:srgbClr val="454545"/>
                </a:solidFill>
                <a:latin typeface="Bahnschrift" panose="020B0502040204020203" pitchFamily="34" charset="0"/>
                <a:cs typeface="Times New Roman"/>
              </a:rPr>
              <a:t>Do</a:t>
            </a:r>
            <a:r>
              <a:rPr sz="4000" i="1" spc="5" dirty="0">
                <a:solidFill>
                  <a:srgbClr val="454545"/>
                </a:solidFill>
                <a:latin typeface="Bahnschrift" panose="020B0502040204020203" pitchFamily="34" charset="0"/>
                <a:cs typeface="Times New Roman"/>
              </a:rPr>
              <a:t>main-specific</a:t>
            </a:r>
            <a:r>
              <a:rPr sz="4000" i="1" dirty="0">
                <a:solidFill>
                  <a:srgbClr val="454545"/>
                </a:solidFill>
                <a:latin typeface="Bahnschrift" panose="020B0502040204020203" pitchFamily="34" charset="0"/>
                <a:cs typeface="Times New Roman"/>
              </a:rPr>
              <a:t> </a:t>
            </a:r>
            <a:r>
              <a:rPr sz="4000" i="1" spc="27" dirty="0">
                <a:solidFill>
                  <a:srgbClr val="454545"/>
                </a:solidFill>
                <a:latin typeface="Bahnschrift" panose="020B0502040204020203" pitchFamily="34" charset="0"/>
                <a:cs typeface="Times New Roman"/>
              </a:rPr>
              <a:t>→</a:t>
            </a:r>
            <a:r>
              <a:rPr sz="4000" i="1" spc="5" dirty="0">
                <a:solidFill>
                  <a:srgbClr val="454545"/>
                </a:solidFill>
                <a:latin typeface="Bahnschrift" panose="020B0502040204020203" pitchFamily="34" charset="0"/>
                <a:cs typeface="Times New Roman"/>
              </a:rPr>
              <a:t>Abstract</a:t>
            </a:r>
            <a:r>
              <a:rPr sz="4000" i="1" dirty="0">
                <a:solidFill>
                  <a:srgbClr val="454545"/>
                </a:solidFill>
                <a:latin typeface="Bahnschrift" panose="020B0502040204020203" pitchFamily="34" charset="0"/>
                <a:cs typeface="Times New Roman"/>
              </a:rPr>
              <a:t> </a:t>
            </a:r>
            <a:r>
              <a:rPr sz="4000" i="1" spc="11" dirty="0">
                <a:solidFill>
                  <a:srgbClr val="454545"/>
                </a:solidFill>
                <a:latin typeface="Bahnschrift" panose="020B0502040204020203" pitchFamily="34" charset="0"/>
                <a:cs typeface="Times New Roman"/>
              </a:rPr>
              <a:t>form</a:t>
            </a:r>
            <a:endParaRPr lang="en-GB" sz="4000" i="1" spc="11" dirty="0">
              <a:solidFill>
                <a:srgbClr val="454545"/>
              </a:solidFill>
              <a:latin typeface="Bahnschrift" panose="020B0502040204020203" pitchFamily="34" charset="0"/>
              <a:cs typeface="Times New Roman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869" rIns="0" bIns="0" rtlCol="0">
            <a:spAutoFit/>
          </a:bodyPr>
          <a:lstStyle/>
          <a:p>
            <a:pPr marL="13547">
              <a:spcBef>
                <a:spcPts val="101"/>
              </a:spcBef>
            </a:pPr>
            <a:r>
              <a:rPr spc="-11" dirty="0"/>
              <a:t>How</a:t>
            </a:r>
            <a:r>
              <a:rPr spc="-5" dirty="0"/>
              <a:t>?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EB0BC90-270B-450C-BDE0-3780423EA6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93200" y="2091600"/>
            <a:ext cx="12878026" cy="6286500"/>
          </a:xfrm>
        </p:spPr>
        <p:txBody>
          <a:bodyPr>
            <a:normAutofit/>
          </a:bodyPr>
          <a:lstStyle/>
          <a:p>
            <a:pPr marL="13547">
              <a:spcBef>
                <a:spcPts val="2741"/>
              </a:spcBef>
            </a:pPr>
            <a:r>
              <a:rPr lang="en-GB" spc="-69" dirty="0">
                <a:solidFill>
                  <a:srgbClr val="454545"/>
                </a:solidFill>
                <a:cs typeface="Times New Roman"/>
              </a:rPr>
              <a:t>Visualisation</a:t>
            </a:r>
            <a:r>
              <a:rPr lang="en-GB" spc="-16" dirty="0">
                <a:solidFill>
                  <a:srgbClr val="454545"/>
                </a:solidFill>
                <a:cs typeface="Times New Roman"/>
              </a:rPr>
              <a:t> </a:t>
            </a:r>
            <a:r>
              <a:rPr lang="en-GB" spc="5" dirty="0">
                <a:solidFill>
                  <a:srgbClr val="454545"/>
                </a:solidFill>
                <a:cs typeface="Times New Roman"/>
              </a:rPr>
              <a:t>is</a:t>
            </a:r>
            <a:r>
              <a:rPr lang="en-GB" spc="-21" dirty="0">
                <a:solidFill>
                  <a:srgbClr val="454545"/>
                </a:solidFill>
                <a:cs typeface="Times New Roman"/>
              </a:rPr>
              <a:t> </a:t>
            </a:r>
            <a:r>
              <a:rPr lang="en-GB" spc="5" dirty="0">
                <a:solidFill>
                  <a:srgbClr val="454545"/>
                </a:solidFill>
                <a:cs typeface="Times New Roman"/>
              </a:rPr>
              <a:t>multi-use:</a:t>
            </a:r>
            <a:endParaRPr lang="en-GB" dirty="0">
              <a:cs typeface="Times New Roman"/>
            </a:endParaRPr>
          </a:p>
          <a:p>
            <a:pPr marL="1757057">
              <a:spcBef>
                <a:spcPts val="2640"/>
              </a:spcBef>
            </a:pPr>
            <a:r>
              <a:rPr lang="en-GB" spc="5" dirty="0">
                <a:solidFill>
                  <a:srgbClr val="454545"/>
                </a:solidFill>
                <a:cs typeface="Times New Roman"/>
              </a:rPr>
              <a:t>Exploring</a:t>
            </a:r>
            <a:endParaRPr lang="en-GB" dirty="0">
              <a:cs typeface="Times New Roman"/>
            </a:endParaRPr>
          </a:p>
          <a:p>
            <a:pPr marL="1757057">
              <a:spcBef>
                <a:spcPts val="1200"/>
              </a:spcBef>
            </a:pPr>
            <a:r>
              <a:rPr lang="en-GB" spc="11" dirty="0">
                <a:solidFill>
                  <a:srgbClr val="454545"/>
                </a:solidFill>
                <a:cs typeface="Times New Roman"/>
              </a:rPr>
              <a:t>Checking</a:t>
            </a:r>
            <a:r>
              <a:rPr lang="en-GB" spc="-11" dirty="0">
                <a:solidFill>
                  <a:srgbClr val="454545"/>
                </a:solidFill>
                <a:cs typeface="Times New Roman"/>
              </a:rPr>
              <a:t> </a:t>
            </a:r>
            <a:r>
              <a:rPr lang="en-GB" spc="5" dirty="0">
                <a:solidFill>
                  <a:srgbClr val="454545"/>
                </a:solidFill>
                <a:cs typeface="Times New Roman"/>
              </a:rPr>
              <a:t>pre-conceived</a:t>
            </a:r>
            <a:r>
              <a:rPr lang="en-GB" spc="-5" dirty="0">
                <a:solidFill>
                  <a:srgbClr val="454545"/>
                </a:solidFill>
                <a:cs typeface="Times New Roman"/>
              </a:rPr>
              <a:t> </a:t>
            </a:r>
            <a:r>
              <a:rPr lang="en-GB" spc="5" dirty="0">
                <a:solidFill>
                  <a:srgbClr val="454545"/>
                </a:solidFill>
                <a:cs typeface="Times New Roman"/>
              </a:rPr>
              <a:t>ideas</a:t>
            </a:r>
            <a:endParaRPr lang="en-GB" dirty="0">
              <a:cs typeface="Times New Roman"/>
            </a:endParaRPr>
          </a:p>
          <a:p>
            <a:pPr marL="1757057" marR="379319">
              <a:lnSpc>
                <a:spcPct val="125000"/>
              </a:lnSpc>
            </a:pPr>
            <a:r>
              <a:rPr lang="en-GB" spc="5" dirty="0">
                <a:solidFill>
                  <a:srgbClr val="454545"/>
                </a:solidFill>
                <a:cs typeface="Times New Roman"/>
              </a:rPr>
              <a:t>Long-term</a:t>
            </a:r>
            <a:r>
              <a:rPr lang="en-GB" spc="11" dirty="0">
                <a:solidFill>
                  <a:srgbClr val="454545"/>
                </a:solidFill>
                <a:cs typeface="Times New Roman"/>
              </a:rPr>
              <a:t> use </a:t>
            </a:r>
            <a:r>
              <a:rPr lang="en-GB" spc="5" dirty="0">
                <a:solidFill>
                  <a:srgbClr val="454545"/>
                </a:solidFill>
                <a:cs typeface="Times New Roman"/>
              </a:rPr>
              <a:t>in</a:t>
            </a:r>
            <a:r>
              <a:rPr lang="en-GB" spc="11" dirty="0">
                <a:solidFill>
                  <a:srgbClr val="454545"/>
                </a:solidFill>
                <a:cs typeface="Times New Roman"/>
              </a:rPr>
              <a:t> </a:t>
            </a:r>
            <a:r>
              <a:rPr lang="en-GB" spc="5" dirty="0">
                <a:solidFill>
                  <a:srgbClr val="454545"/>
                </a:solidFill>
                <a:cs typeface="Times New Roman"/>
              </a:rPr>
              <a:t>workflows/processes </a:t>
            </a:r>
            <a:r>
              <a:rPr lang="en-GB" spc="-987" dirty="0">
                <a:solidFill>
                  <a:srgbClr val="454545"/>
                </a:solidFill>
                <a:cs typeface="Times New Roman"/>
              </a:rPr>
              <a:t> </a:t>
            </a:r>
          </a:p>
          <a:p>
            <a:pPr marL="1757057" marR="379319">
              <a:lnSpc>
                <a:spcPct val="125000"/>
              </a:lnSpc>
            </a:pPr>
            <a:r>
              <a:rPr lang="en-GB" spc="5" dirty="0">
                <a:solidFill>
                  <a:srgbClr val="454545"/>
                </a:solidFill>
                <a:cs typeface="Times New Roman"/>
              </a:rPr>
              <a:t>Presentation</a:t>
            </a:r>
            <a:endParaRPr lang="en-GB" dirty="0">
              <a:cs typeface="Times New Roman"/>
            </a:endParaRPr>
          </a:p>
          <a:p>
            <a:pPr marL="0" marR="5419" indent="0">
              <a:lnSpc>
                <a:spcPct val="108300"/>
              </a:lnSpc>
              <a:spcBef>
                <a:spcPts val="2160"/>
              </a:spcBef>
              <a:buNone/>
            </a:pPr>
            <a:r>
              <a:rPr lang="en-GB" spc="21" dirty="0">
                <a:solidFill>
                  <a:srgbClr val="454545"/>
                </a:solidFill>
                <a:cs typeface="Times New Roman"/>
              </a:rPr>
              <a:t>A </a:t>
            </a:r>
            <a:r>
              <a:rPr lang="en-GB" spc="5" dirty="0">
                <a:solidFill>
                  <a:srgbClr val="454545"/>
                </a:solidFill>
                <a:cs typeface="Times New Roman"/>
              </a:rPr>
              <a:t>tool that serves well for </a:t>
            </a:r>
            <a:r>
              <a:rPr lang="en-GB" spc="11" dirty="0">
                <a:solidFill>
                  <a:srgbClr val="454545"/>
                </a:solidFill>
                <a:cs typeface="Times New Roman"/>
              </a:rPr>
              <a:t>one </a:t>
            </a:r>
            <a:r>
              <a:rPr lang="en-GB" spc="5" dirty="0">
                <a:solidFill>
                  <a:srgbClr val="454545"/>
                </a:solidFill>
                <a:cs typeface="Times New Roman"/>
              </a:rPr>
              <a:t>task </a:t>
            </a:r>
            <a:r>
              <a:rPr lang="en-GB" spc="11" dirty="0">
                <a:solidFill>
                  <a:srgbClr val="454545"/>
                </a:solidFill>
                <a:cs typeface="Times New Roman"/>
              </a:rPr>
              <a:t>can be </a:t>
            </a:r>
            <a:r>
              <a:rPr lang="en-GB" spc="5" dirty="0">
                <a:solidFill>
                  <a:srgbClr val="454545"/>
                </a:solidFill>
                <a:cs typeface="Times New Roman"/>
              </a:rPr>
              <a:t>poorly </a:t>
            </a:r>
            <a:r>
              <a:rPr lang="en-GB" spc="-987" dirty="0">
                <a:solidFill>
                  <a:srgbClr val="454545"/>
                </a:solidFill>
                <a:cs typeface="Times New Roman"/>
              </a:rPr>
              <a:t> </a:t>
            </a:r>
            <a:r>
              <a:rPr lang="en-GB" spc="5" dirty="0">
                <a:solidFill>
                  <a:srgbClr val="454545"/>
                </a:solidFill>
                <a:cs typeface="Times New Roman"/>
              </a:rPr>
              <a:t>suited</a:t>
            </a:r>
            <a:r>
              <a:rPr lang="en-GB" dirty="0">
                <a:solidFill>
                  <a:srgbClr val="454545"/>
                </a:solidFill>
                <a:cs typeface="Times New Roman"/>
              </a:rPr>
              <a:t> </a:t>
            </a:r>
            <a:r>
              <a:rPr lang="en-GB" spc="5" dirty="0">
                <a:solidFill>
                  <a:srgbClr val="454545"/>
                </a:solidFill>
                <a:cs typeface="Times New Roman"/>
              </a:rPr>
              <a:t>for another</a:t>
            </a:r>
            <a:endParaRPr lang="en-GB" dirty="0">
              <a:cs typeface="Times New Roman"/>
            </a:endParaRPr>
          </a:p>
          <a:p>
            <a:endParaRPr lang="en-GB" dirty="0"/>
          </a:p>
        </p:txBody>
      </p:sp>
    </p:spTree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00131" y="4254749"/>
            <a:ext cx="16740000" cy="1244101"/>
          </a:xfrm>
          <a:prstGeom prst="rect">
            <a:avLst/>
          </a:prstGeom>
        </p:spPr>
        <p:txBody>
          <a:bodyPr vert="horz" wrap="square" lIns="0" tIns="12869" rIns="0" bIns="0" rtlCol="0">
            <a:spAutoFit/>
          </a:bodyPr>
          <a:lstStyle/>
          <a:p>
            <a:pPr marL="13547">
              <a:spcBef>
                <a:spcPts val="101"/>
              </a:spcBef>
            </a:pPr>
            <a:r>
              <a:rPr lang="en-GB" spc="-16" dirty="0" err="1">
                <a:latin typeface="Arial MT"/>
                <a:cs typeface="Arial MT"/>
              </a:rPr>
              <a:t>Geov</a:t>
            </a:r>
            <a:r>
              <a:rPr spc="-16" dirty="0" err="1">
                <a:latin typeface="Arial MT"/>
                <a:cs typeface="Arial MT"/>
              </a:rPr>
              <a:t>isualisation</a:t>
            </a:r>
            <a:endParaRPr spc="-16" dirty="0">
              <a:latin typeface="Arial MT"/>
              <a:cs typeface="Arial MT"/>
            </a:endParaRPr>
          </a:p>
        </p:txBody>
      </p:sp>
    </p:spTree>
    <p:extLst>
      <p:ext uri="{BB962C8B-B14F-4D97-AF65-F5344CB8AC3E}">
        <p14:creationId xmlns:p14="http://schemas.microsoft.com/office/powerpoint/2010/main" val="271685556"/>
      </p:ext>
    </p:extLst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3195840" y="2613808"/>
            <a:ext cx="10949093" cy="4606047"/>
          </a:xfrm>
          <a:prstGeom prst="rect">
            <a:avLst/>
          </a:prstGeom>
        </p:spPr>
        <p:txBody>
          <a:bodyPr vert="horz" wrap="square" lIns="0" tIns="12869" rIns="0" bIns="0" rtlCol="0">
            <a:spAutoFit/>
          </a:bodyPr>
          <a:lstStyle/>
          <a:p>
            <a:pPr marL="13547" marR="5419">
              <a:lnSpc>
                <a:spcPct val="108300"/>
              </a:lnSpc>
              <a:spcBef>
                <a:spcPts val="101"/>
              </a:spcBef>
            </a:pPr>
            <a:r>
              <a:rPr sz="4000" i="1" spc="11" dirty="0">
                <a:solidFill>
                  <a:srgbClr val="454545"/>
                </a:solidFill>
                <a:latin typeface="Bahnschrift" panose="020B0502040204020203" pitchFamily="34" charset="0"/>
                <a:cs typeface="Times New Roman"/>
              </a:rPr>
              <a:t>The most </a:t>
            </a:r>
            <a:r>
              <a:rPr sz="4000" i="1" spc="5" dirty="0">
                <a:solidFill>
                  <a:srgbClr val="454545"/>
                </a:solidFill>
                <a:latin typeface="Bahnschrift" panose="020B0502040204020203" pitchFamily="34" charset="0"/>
                <a:cs typeface="Times New Roman"/>
              </a:rPr>
              <a:t>extensive data </a:t>
            </a:r>
            <a:r>
              <a:rPr sz="4000" i="1" spc="11" dirty="0">
                <a:solidFill>
                  <a:srgbClr val="454545"/>
                </a:solidFill>
                <a:latin typeface="Bahnschrift" panose="020B0502040204020203" pitchFamily="34" charset="0"/>
                <a:cs typeface="Times New Roman"/>
              </a:rPr>
              <a:t>maps […] </a:t>
            </a:r>
            <a:r>
              <a:rPr sz="4000" i="1" spc="5" dirty="0">
                <a:solidFill>
                  <a:srgbClr val="454545"/>
                </a:solidFill>
                <a:latin typeface="Bahnschrift" panose="020B0502040204020203" pitchFamily="34" charset="0"/>
                <a:cs typeface="Times New Roman"/>
              </a:rPr>
              <a:t>place millions of </a:t>
            </a:r>
            <a:r>
              <a:rPr sz="4000" i="1" spc="-987" dirty="0">
                <a:solidFill>
                  <a:srgbClr val="454545"/>
                </a:solidFill>
                <a:latin typeface="Bahnschrift" panose="020B0502040204020203" pitchFamily="34" charset="0"/>
                <a:cs typeface="Times New Roman"/>
              </a:rPr>
              <a:t> </a:t>
            </a:r>
            <a:r>
              <a:rPr sz="4000" i="1" spc="5" dirty="0">
                <a:solidFill>
                  <a:srgbClr val="454545"/>
                </a:solidFill>
                <a:latin typeface="Bahnschrift" panose="020B0502040204020203" pitchFamily="34" charset="0"/>
                <a:cs typeface="Times New Roman"/>
              </a:rPr>
              <a:t>bits</a:t>
            </a:r>
            <a:r>
              <a:rPr sz="4000" i="1" dirty="0">
                <a:solidFill>
                  <a:srgbClr val="454545"/>
                </a:solidFill>
                <a:latin typeface="Bahnschrift" panose="020B0502040204020203" pitchFamily="34" charset="0"/>
                <a:cs typeface="Times New Roman"/>
              </a:rPr>
              <a:t> </a:t>
            </a:r>
            <a:r>
              <a:rPr sz="4000" i="1" spc="5" dirty="0">
                <a:solidFill>
                  <a:srgbClr val="454545"/>
                </a:solidFill>
                <a:latin typeface="Bahnschrift" panose="020B0502040204020203" pitchFamily="34" charset="0"/>
                <a:cs typeface="Times New Roman"/>
              </a:rPr>
              <a:t>of information </a:t>
            </a:r>
            <a:r>
              <a:rPr sz="4000" i="1" spc="11" dirty="0">
                <a:solidFill>
                  <a:srgbClr val="454545"/>
                </a:solidFill>
                <a:latin typeface="Bahnschrift" panose="020B0502040204020203" pitchFamily="34" charset="0"/>
                <a:cs typeface="Times New Roman"/>
              </a:rPr>
              <a:t>on</a:t>
            </a:r>
            <a:r>
              <a:rPr sz="4000" i="1" spc="5" dirty="0">
                <a:solidFill>
                  <a:srgbClr val="454545"/>
                </a:solidFill>
                <a:latin typeface="Bahnschrift" panose="020B0502040204020203" pitchFamily="34" charset="0"/>
                <a:cs typeface="Times New Roman"/>
              </a:rPr>
              <a:t> </a:t>
            </a:r>
            <a:r>
              <a:rPr sz="4000" i="1" spc="16" dirty="0">
                <a:solidFill>
                  <a:srgbClr val="454545"/>
                </a:solidFill>
                <a:latin typeface="Bahnschrift" panose="020B0502040204020203" pitchFamily="34" charset="0"/>
                <a:cs typeface="Times New Roman"/>
              </a:rPr>
              <a:t>a</a:t>
            </a:r>
            <a:r>
              <a:rPr sz="4000" i="1" spc="5" dirty="0">
                <a:solidFill>
                  <a:srgbClr val="454545"/>
                </a:solidFill>
                <a:latin typeface="Bahnschrift" panose="020B0502040204020203" pitchFamily="34" charset="0"/>
                <a:cs typeface="Times New Roman"/>
              </a:rPr>
              <a:t> single </a:t>
            </a:r>
            <a:r>
              <a:rPr sz="4000" i="1" spc="11" dirty="0">
                <a:solidFill>
                  <a:srgbClr val="454545"/>
                </a:solidFill>
                <a:latin typeface="Bahnschrift" panose="020B0502040204020203" pitchFamily="34" charset="0"/>
                <a:cs typeface="Times New Roman"/>
              </a:rPr>
              <a:t>page</a:t>
            </a:r>
            <a:r>
              <a:rPr sz="4000" i="1" spc="5" dirty="0">
                <a:solidFill>
                  <a:srgbClr val="454545"/>
                </a:solidFill>
                <a:latin typeface="Bahnschrift" panose="020B0502040204020203" pitchFamily="34" charset="0"/>
                <a:cs typeface="Times New Roman"/>
              </a:rPr>
              <a:t> </a:t>
            </a:r>
            <a:r>
              <a:rPr sz="4000" i="1" spc="-16" dirty="0">
                <a:solidFill>
                  <a:srgbClr val="454545"/>
                </a:solidFill>
                <a:latin typeface="Bahnschrift" panose="020B0502040204020203" pitchFamily="34" charset="0"/>
                <a:cs typeface="Times New Roman"/>
              </a:rPr>
              <a:t>before</a:t>
            </a:r>
            <a:r>
              <a:rPr sz="4000" i="1" spc="5" dirty="0">
                <a:solidFill>
                  <a:srgbClr val="454545"/>
                </a:solidFill>
                <a:latin typeface="Bahnschrift" panose="020B0502040204020203" pitchFamily="34" charset="0"/>
                <a:cs typeface="Times New Roman"/>
              </a:rPr>
              <a:t> </a:t>
            </a:r>
            <a:r>
              <a:rPr sz="4000" i="1" spc="11" dirty="0">
                <a:solidFill>
                  <a:srgbClr val="454545"/>
                </a:solidFill>
                <a:latin typeface="Bahnschrift" panose="020B0502040204020203" pitchFamily="34" charset="0"/>
                <a:cs typeface="Times New Roman"/>
              </a:rPr>
              <a:t>our</a:t>
            </a:r>
            <a:r>
              <a:rPr sz="4000" i="1" spc="5" dirty="0">
                <a:solidFill>
                  <a:srgbClr val="454545"/>
                </a:solidFill>
                <a:latin typeface="Bahnschrift" panose="020B0502040204020203" pitchFamily="34" charset="0"/>
                <a:cs typeface="Times New Roman"/>
              </a:rPr>
              <a:t> eyes.</a:t>
            </a:r>
            <a:endParaRPr sz="4000" dirty="0">
              <a:latin typeface="Bahnschrift" panose="020B0502040204020203" pitchFamily="34" charset="0"/>
              <a:cs typeface="Times New Roman"/>
            </a:endParaRPr>
          </a:p>
          <a:p>
            <a:pPr marL="887334" marR="879883">
              <a:lnSpc>
                <a:spcPct val="108300"/>
              </a:lnSpc>
            </a:pPr>
            <a:r>
              <a:rPr sz="4000" i="1" spc="16" dirty="0">
                <a:solidFill>
                  <a:srgbClr val="454545"/>
                </a:solidFill>
                <a:latin typeface="Bahnschrift" panose="020B0502040204020203" pitchFamily="34" charset="0"/>
                <a:cs typeface="Times New Roman"/>
              </a:rPr>
              <a:t>No </a:t>
            </a:r>
            <a:r>
              <a:rPr sz="4000" i="1" spc="5" dirty="0">
                <a:solidFill>
                  <a:srgbClr val="454545"/>
                </a:solidFill>
                <a:latin typeface="Bahnschrift" panose="020B0502040204020203" pitchFamily="34" charset="0"/>
                <a:cs typeface="Times New Roman"/>
              </a:rPr>
              <a:t>other </a:t>
            </a:r>
            <a:r>
              <a:rPr sz="4000" i="1" spc="11" dirty="0">
                <a:solidFill>
                  <a:srgbClr val="454545"/>
                </a:solidFill>
                <a:latin typeface="Bahnschrift" panose="020B0502040204020203" pitchFamily="34" charset="0"/>
                <a:cs typeface="Times New Roman"/>
              </a:rPr>
              <a:t>method </a:t>
            </a:r>
            <a:r>
              <a:rPr sz="4000" i="1" spc="5" dirty="0">
                <a:solidFill>
                  <a:srgbClr val="454545"/>
                </a:solidFill>
                <a:latin typeface="Bahnschrift" panose="020B0502040204020203" pitchFamily="34" charset="0"/>
                <a:cs typeface="Times New Roman"/>
              </a:rPr>
              <a:t>for the display of statistical </a:t>
            </a:r>
            <a:r>
              <a:rPr sz="4000" i="1" spc="-987" dirty="0">
                <a:solidFill>
                  <a:srgbClr val="454545"/>
                </a:solidFill>
                <a:latin typeface="Bahnschrift" panose="020B0502040204020203" pitchFamily="34" charset="0"/>
                <a:cs typeface="Times New Roman"/>
              </a:rPr>
              <a:t> </a:t>
            </a:r>
            <a:r>
              <a:rPr sz="4000" i="1" spc="5" dirty="0">
                <a:solidFill>
                  <a:srgbClr val="454545"/>
                </a:solidFill>
                <a:latin typeface="Bahnschrift" panose="020B0502040204020203" pitchFamily="34" charset="0"/>
                <a:cs typeface="Times New Roman"/>
              </a:rPr>
              <a:t>information</a:t>
            </a:r>
            <a:r>
              <a:rPr sz="4000" i="1" dirty="0">
                <a:solidFill>
                  <a:srgbClr val="454545"/>
                </a:solidFill>
                <a:latin typeface="Bahnschrift" panose="020B0502040204020203" pitchFamily="34" charset="0"/>
                <a:cs typeface="Times New Roman"/>
              </a:rPr>
              <a:t> </a:t>
            </a:r>
            <a:r>
              <a:rPr sz="4000" i="1" spc="5" dirty="0">
                <a:solidFill>
                  <a:srgbClr val="454545"/>
                </a:solidFill>
                <a:latin typeface="Bahnschrift" panose="020B0502040204020203" pitchFamily="34" charset="0"/>
                <a:cs typeface="Times New Roman"/>
              </a:rPr>
              <a:t>is </a:t>
            </a:r>
            <a:r>
              <a:rPr sz="4000" i="1" spc="11" dirty="0">
                <a:solidFill>
                  <a:srgbClr val="454545"/>
                </a:solidFill>
                <a:latin typeface="Bahnschrift" panose="020B0502040204020203" pitchFamily="34" charset="0"/>
                <a:cs typeface="Times New Roman"/>
              </a:rPr>
              <a:t>so</a:t>
            </a:r>
            <a:r>
              <a:rPr sz="4000" i="1" spc="5" dirty="0">
                <a:solidFill>
                  <a:srgbClr val="454545"/>
                </a:solidFill>
                <a:latin typeface="Bahnschrift" panose="020B0502040204020203" pitchFamily="34" charset="0"/>
                <a:cs typeface="Times New Roman"/>
              </a:rPr>
              <a:t> powerful</a:t>
            </a:r>
            <a:endParaRPr lang="en-GB" sz="4000" i="1" spc="5" dirty="0">
              <a:solidFill>
                <a:srgbClr val="454545"/>
              </a:solidFill>
              <a:latin typeface="Bahnschrift" panose="020B0502040204020203" pitchFamily="34" charset="0"/>
              <a:cs typeface="Times New Roman"/>
            </a:endParaRPr>
          </a:p>
          <a:p>
            <a:pPr marL="887334" marR="879883">
              <a:lnSpc>
                <a:spcPct val="108300"/>
              </a:lnSpc>
            </a:pPr>
            <a:endParaRPr lang="en-GB" sz="4000" i="1" spc="5" dirty="0">
              <a:solidFill>
                <a:srgbClr val="454545"/>
              </a:solidFill>
              <a:latin typeface="Bahnschrift" panose="020B0502040204020203" pitchFamily="34" charset="0"/>
              <a:cs typeface="Times New Roman"/>
            </a:endParaRPr>
          </a:p>
          <a:p>
            <a:pPr marL="887334" marR="879883">
              <a:lnSpc>
                <a:spcPct val="108300"/>
              </a:lnSpc>
            </a:pPr>
            <a:r>
              <a:rPr lang="en-GB" sz="4000" spc="-53" dirty="0">
                <a:latin typeface="Bahnschrift" panose="020B0502040204020203" pitchFamily="34" charset="0"/>
                <a:cs typeface="Arial MT"/>
              </a:rPr>
              <a:t>Tufte</a:t>
            </a:r>
            <a:r>
              <a:rPr lang="en-GB" sz="4000" spc="-75" dirty="0">
                <a:latin typeface="Bahnschrift" panose="020B0502040204020203" pitchFamily="34" charset="0"/>
                <a:cs typeface="Arial MT"/>
              </a:rPr>
              <a:t> </a:t>
            </a:r>
            <a:r>
              <a:rPr lang="en-GB" sz="4000" spc="-11" dirty="0">
                <a:latin typeface="Bahnschrift" panose="020B0502040204020203" pitchFamily="34" charset="0"/>
                <a:cs typeface="Arial MT"/>
              </a:rPr>
              <a:t>(1983)</a:t>
            </a:r>
            <a:endParaRPr sz="4000" dirty="0">
              <a:latin typeface="Bahnschrift" panose="020B0502040204020203" pitchFamily="34" charset="0"/>
              <a:cs typeface="Times New Roman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270039" y="871200"/>
            <a:ext cx="14800185" cy="751658"/>
          </a:xfrm>
          <a:prstGeom prst="rect">
            <a:avLst/>
          </a:prstGeom>
        </p:spPr>
        <p:txBody>
          <a:bodyPr vert="horz" wrap="square" lIns="0" tIns="12869" rIns="0" bIns="0" rtlCol="0">
            <a:spAutoFit/>
          </a:bodyPr>
          <a:lstStyle/>
          <a:p>
            <a:pPr marL="13547">
              <a:spcBef>
                <a:spcPts val="101"/>
              </a:spcBef>
            </a:pPr>
            <a:r>
              <a:rPr lang="en-GB" spc="-5" dirty="0">
                <a:cs typeface="Arial MT"/>
              </a:rPr>
              <a:t>The </a:t>
            </a:r>
            <a:r>
              <a:rPr spc="-5" dirty="0">
                <a:cs typeface="Arial MT"/>
              </a:rPr>
              <a:t>Map</a:t>
            </a:r>
            <a:r>
              <a:rPr spc="-107" dirty="0">
                <a:cs typeface="Arial MT"/>
              </a:rPr>
              <a:t> </a:t>
            </a:r>
            <a:r>
              <a:rPr spc="-5" dirty="0">
                <a:cs typeface="Arial MT"/>
              </a:rPr>
              <a:t>Cube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5052855" y="2231811"/>
            <a:ext cx="7234553" cy="5173330"/>
            <a:chOff x="3243072" y="2240279"/>
            <a:chExt cx="5706110" cy="4565650"/>
          </a:xfrm>
        </p:grpSpPr>
        <p:sp>
          <p:nvSpPr>
            <p:cNvPr id="4" name="object 4"/>
            <p:cNvSpPr/>
            <p:nvPr/>
          </p:nvSpPr>
          <p:spPr>
            <a:xfrm>
              <a:off x="3243059" y="2240279"/>
              <a:ext cx="5706110" cy="4565650"/>
            </a:xfrm>
            <a:custGeom>
              <a:avLst/>
              <a:gdLst/>
              <a:ahLst/>
              <a:cxnLst/>
              <a:rect l="l" t="t" r="r" b="b"/>
              <a:pathLst>
                <a:path w="5706109" h="4565650">
                  <a:moveTo>
                    <a:pt x="5705856" y="0"/>
                  </a:moveTo>
                  <a:lnTo>
                    <a:pt x="0" y="0"/>
                  </a:lnTo>
                  <a:lnTo>
                    <a:pt x="0" y="151130"/>
                  </a:lnTo>
                  <a:lnTo>
                    <a:pt x="0" y="4418330"/>
                  </a:lnTo>
                  <a:lnTo>
                    <a:pt x="0" y="4565650"/>
                  </a:lnTo>
                  <a:lnTo>
                    <a:pt x="5705856" y="4565650"/>
                  </a:lnTo>
                  <a:lnTo>
                    <a:pt x="5705856" y="4418330"/>
                  </a:lnTo>
                  <a:lnTo>
                    <a:pt x="147828" y="4418330"/>
                  </a:lnTo>
                  <a:lnTo>
                    <a:pt x="147828" y="151130"/>
                  </a:lnTo>
                  <a:lnTo>
                    <a:pt x="5558028" y="151130"/>
                  </a:lnTo>
                  <a:lnTo>
                    <a:pt x="5558028" y="4417707"/>
                  </a:lnTo>
                  <a:lnTo>
                    <a:pt x="5705856" y="4417707"/>
                  </a:lnTo>
                  <a:lnTo>
                    <a:pt x="5705856" y="151130"/>
                  </a:lnTo>
                  <a:lnTo>
                    <a:pt x="5705856" y="150507"/>
                  </a:lnTo>
                  <a:lnTo>
                    <a:pt x="5705856" y="0"/>
                  </a:lnTo>
                  <a:close/>
                </a:path>
              </a:pathLst>
            </a:custGeom>
            <a:solidFill>
              <a:srgbClr val="000000">
                <a:alpha val="14898"/>
              </a:srgbClr>
            </a:solidFill>
          </p:spPr>
          <p:txBody>
            <a:bodyPr wrap="square" lIns="0" tIns="0" rIns="0" bIns="0" rtlCol="0"/>
            <a:lstStyle/>
            <a:p>
              <a:endParaRPr sz="3840"/>
            </a:p>
          </p:txBody>
        </p:sp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401549" y="2390774"/>
              <a:ext cx="5399549" cy="4267199"/>
            </a:xfrm>
            <a:prstGeom prst="rect">
              <a:avLst/>
            </a:prstGeom>
          </p:spPr>
        </p:pic>
      </p:grpSp>
      <p:sp>
        <p:nvSpPr>
          <p:cNvPr id="7" name="Rectangle 6">
            <a:extLst>
              <a:ext uri="{FF2B5EF4-FFF2-40B4-BE49-F238E27FC236}">
                <a16:creationId xmlns:a16="http://schemas.microsoft.com/office/drawing/2014/main" id="{B2EAF882-2E99-40EE-97C7-4C7588818612}"/>
              </a:ext>
            </a:extLst>
          </p:cNvPr>
          <p:cNvSpPr/>
          <p:nvPr/>
        </p:nvSpPr>
        <p:spPr>
          <a:xfrm>
            <a:off x="4336256" y="7660081"/>
            <a:ext cx="8667750" cy="707886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GB" sz="2000" dirty="0">
                <a:latin typeface="Bahnschrift" panose="020B0502040204020203" pitchFamily="34" charset="0"/>
              </a:rPr>
              <a:t>http://cartography.tuwien.ac.at/wordpress/wp-content/uploads/2013/01/cartotalk-corne-van-elzakker.pdf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869" rIns="0" bIns="0" rtlCol="0">
            <a:spAutoFit/>
          </a:bodyPr>
          <a:lstStyle/>
          <a:p>
            <a:pPr marL="13547">
              <a:spcBef>
                <a:spcPts val="101"/>
              </a:spcBef>
            </a:pPr>
            <a:r>
              <a:rPr spc="-11" dirty="0">
                <a:cs typeface="Arial MT"/>
              </a:rPr>
              <a:t>Designing</a:t>
            </a:r>
            <a:r>
              <a:rPr spc="-37" dirty="0">
                <a:cs typeface="Arial MT"/>
              </a:rPr>
              <a:t> </a:t>
            </a:r>
            <a:r>
              <a:rPr lang="en-GB" spc="-5" dirty="0">
                <a:cs typeface="Arial MT"/>
              </a:rPr>
              <a:t>Go</a:t>
            </a:r>
            <a:r>
              <a:rPr spc="-5" dirty="0">
                <a:cs typeface="Arial MT"/>
              </a:rPr>
              <a:t>od</a:t>
            </a:r>
            <a:r>
              <a:rPr spc="-37" dirty="0">
                <a:cs typeface="Arial MT"/>
              </a:rPr>
              <a:t> </a:t>
            </a:r>
            <a:r>
              <a:rPr lang="en-GB" spc="-5" dirty="0">
                <a:cs typeface="Arial MT"/>
              </a:rPr>
              <a:t>M</a:t>
            </a:r>
            <a:r>
              <a:rPr spc="-5" dirty="0">
                <a:cs typeface="Arial MT"/>
              </a:rPr>
              <a:t>aps</a:t>
            </a:r>
          </a:p>
        </p:txBody>
      </p:sp>
      <p:sp>
        <p:nvSpPr>
          <p:cNvPr id="6" name="object 6"/>
          <p:cNvSpPr txBox="1">
            <a:spLocks noGrp="1"/>
          </p:cNvSpPr>
          <p:nvPr>
            <p:ph type="body" idx="1"/>
          </p:nvPr>
        </p:nvSpPr>
        <p:spPr>
          <a:xfrm>
            <a:off x="493200" y="2091600"/>
            <a:ext cx="11160000" cy="4778402"/>
          </a:xfrm>
          <a:prstGeom prst="rect">
            <a:avLst/>
          </a:prstGeom>
        </p:spPr>
        <p:txBody>
          <a:bodyPr vert="horz" wrap="square" lIns="0" tIns="287189" rIns="0" bIns="0" rtlCol="0" anchor="t">
            <a:spAutoFit/>
          </a:bodyPr>
          <a:lstStyle/>
          <a:p>
            <a:pPr marR="633326" algn="just">
              <a:spcBef>
                <a:spcPts val="1360"/>
              </a:spcBef>
            </a:pPr>
            <a:r>
              <a:rPr lang="en-US" dirty="0">
                <a:cs typeface="Calibri"/>
              </a:rPr>
              <a:t>Knowledge of what is being plotted  </a:t>
            </a:r>
            <a:endParaRPr lang="en-GB" dirty="0">
              <a:cs typeface="Calibri"/>
            </a:endParaRPr>
          </a:p>
          <a:p>
            <a:pPr marR="633326" algn="just">
              <a:spcBef>
                <a:spcPts val="1360"/>
              </a:spcBef>
            </a:pPr>
            <a:r>
              <a:rPr lang="en-US" dirty="0">
                <a:cs typeface="Calibri"/>
              </a:rPr>
              <a:t>Target audience</a:t>
            </a:r>
          </a:p>
          <a:p>
            <a:pPr algn="just">
              <a:spcBef>
                <a:spcPts val="1200"/>
              </a:spcBef>
            </a:pPr>
            <a:r>
              <a:rPr lang="en-US" dirty="0">
                <a:cs typeface="Calibri"/>
              </a:rPr>
              <a:t>Degree of interactivity</a:t>
            </a:r>
            <a:endParaRPr lang="en-GB" dirty="0">
              <a:cs typeface="Calibri"/>
            </a:endParaRPr>
          </a:p>
          <a:p>
            <a:pPr algn="just">
              <a:spcBef>
                <a:spcPts val="1200"/>
              </a:spcBef>
            </a:pPr>
            <a:endParaRPr lang="en-US" dirty="0">
              <a:cs typeface="Calibri"/>
            </a:endParaRPr>
          </a:p>
          <a:p>
            <a:pPr marL="0" indent="0" algn="just">
              <a:spcBef>
                <a:spcPts val="1200"/>
              </a:spcBef>
              <a:buNone/>
            </a:pPr>
            <a:r>
              <a:rPr lang="en-GB" dirty="0" err="1">
                <a:cs typeface="Calibri"/>
              </a:rPr>
              <a:t>MacEachren</a:t>
            </a:r>
            <a:r>
              <a:rPr lang="en-GB" dirty="0">
                <a:cs typeface="Calibri"/>
              </a:rPr>
              <a:t> &amp; </a:t>
            </a:r>
            <a:r>
              <a:rPr lang="en-GB" dirty="0" err="1">
                <a:cs typeface="Calibri"/>
              </a:rPr>
              <a:t>Kraak</a:t>
            </a:r>
            <a:r>
              <a:rPr lang="en-GB" dirty="0">
                <a:cs typeface="Calibri"/>
              </a:rPr>
              <a:t> (1997)</a:t>
            </a:r>
          </a:p>
          <a:p>
            <a:pPr marL="2069995">
              <a:spcBef>
                <a:spcPts val="1200"/>
              </a:spcBef>
            </a:pPr>
            <a:endParaRPr lang="en-US" spc="5" dirty="0"/>
          </a:p>
        </p:txBody>
      </p:sp>
    </p:spTree>
  </p:cSld>
  <p:clrMapOvr>
    <a:masterClrMapping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869" rIns="0" bIns="0" rtlCol="0">
            <a:spAutoFit/>
          </a:bodyPr>
          <a:lstStyle/>
          <a:p>
            <a:pPr marL="13547">
              <a:spcBef>
                <a:spcPts val="101"/>
              </a:spcBef>
            </a:pPr>
            <a:r>
              <a:rPr spc="-11" dirty="0"/>
              <a:t>When</a:t>
            </a:r>
            <a:r>
              <a:rPr spc="-197" dirty="0"/>
              <a:t> </a:t>
            </a:r>
            <a:r>
              <a:rPr dirty="0"/>
              <a:t>to</a:t>
            </a:r>
            <a:r>
              <a:rPr spc="-171" dirty="0"/>
              <a:t> </a:t>
            </a:r>
            <a:r>
              <a:rPr dirty="0"/>
              <a:t>Use</a:t>
            </a:r>
            <a:r>
              <a:rPr spc="-165" dirty="0"/>
              <a:t> </a:t>
            </a:r>
            <a:r>
              <a:rPr spc="-11" dirty="0"/>
              <a:t>Mapping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F43F807-A1EB-4BE4-9781-2CAA204E25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93199" y="2091600"/>
            <a:ext cx="14204107" cy="6286500"/>
          </a:xfrm>
        </p:spPr>
        <p:txBody>
          <a:bodyPr/>
          <a:lstStyle/>
          <a:p>
            <a:pPr marR="36577" algn="just">
              <a:spcBef>
                <a:spcPts val="1093"/>
              </a:spcBef>
            </a:pPr>
            <a:r>
              <a:rPr lang="en-GB" dirty="0">
                <a:cs typeface="Calibri"/>
              </a:rPr>
              <a:t>Capacity</a:t>
            </a:r>
            <a:r>
              <a:rPr lang="en-GB" spc="-59" dirty="0">
                <a:cs typeface="Calibri"/>
              </a:rPr>
              <a:t> </a:t>
            </a:r>
            <a:r>
              <a:rPr lang="en-GB" dirty="0">
                <a:cs typeface="Calibri"/>
              </a:rPr>
              <a:t>to</a:t>
            </a:r>
            <a:r>
              <a:rPr lang="en-GB" spc="-64" dirty="0">
                <a:cs typeface="Calibri"/>
              </a:rPr>
              <a:t> </a:t>
            </a:r>
            <a:r>
              <a:rPr lang="en-GB" spc="-11" dirty="0">
                <a:cs typeface="Calibri"/>
              </a:rPr>
              <a:t>communicate</a:t>
            </a:r>
            <a:r>
              <a:rPr lang="en-GB" spc="-37" dirty="0">
                <a:cs typeface="Calibri"/>
              </a:rPr>
              <a:t> </a:t>
            </a:r>
            <a:r>
              <a:rPr lang="en-GB" dirty="0">
                <a:cs typeface="Calibri"/>
              </a:rPr>
              <a:t>large</a:t>
            </a:r>
            <a:r>
              <a:rPr lang="en-GB" spc="-64" dirty="0">
                <a:cs typeface="Calibri"/>
              </a:rPr>
              <a:t> </a:t>
            </a:r>
            <a:r>
              <a:rPr lang="en-GB" dirty="0">
                <a:cs typeface="Calibri"/>
              </a:rPr>
              <a:t>quantities</a:t>
            </a:r>
            <a:r>
              <a:rPr lang="en-GB" spc="-53" dirty="0">
                <a:cs typeface="Calibri"/>
              </a:rPr>
              <a:t> </a:t>
            </a:r>
            <a:r>
              <a:rPr lang="en-GB" dirty="0">
                <a:cs typeface="Calibri"/>
              </a:rPr>
              <a:t>of</a:t>
            </a:r>
            <a:r>
              <a:rPr lang="en-GB" spc="-53" dirty="0">
                <a:cs typeface="Calibri"/>
              </a:rPr>
              <a:t> </a:t>
            </a:r>
            <a:r>
              <a:rPr lang="en-GB" spc="-11" dirty="0">
                <a:cs typeface="Calibri"/>
              </a:rPr>
              <a:t>information </a:t>
            </a:r>
            <a:r>
              <a:rPr lang="en-GB" dirty="0">
                <a:cs typeface="Calibri"/>
              </a:rPr>
              <a:t>quickly</a:t>
            </a:r>
            <a:r>
              <a:rPr lang="en-GB" spc="-48" dirty="0">
                <a:cs typeface="Calibri"/>
              </a:rPr>
              <a:t> </a:t>
            </a:r>
            <a:r>
              <a:rPr lang="en-GB" dirty="0">
                <a:cs typeface="Calibri"/>
              </a:rPr>
              <a:t>and</a:t>
            </a:r>
            <a:r>
              <a:rPr lang="en-GB" spc="-32" dirty="0">
                <a:cs typeface="Calibri"/>
              </a:rPr>
              <a:t> </a:t>
            </a:r>
            <a:r>
              <a:rPr lang="en-GB" spc="-11" dirty="0">
                <a:cs typeface="Calibri"/>
              </a:rPr>
              <a:t>intuitively.</a:t>
            </a:r>
            <a:r>
              <a:rPr lang="en-GB" spc="-59" dirty="0">
                <a:cs typeface="Calibri"/>
              </a:rPr>
              <a:t> </a:t>
            </a:r>
          </a:p>
          <a:p>
            <a:pPr marR="36577" algn="just">
              <a:spcBef>
                <a:spcPts val="1093"/>
              </a:spcBef>
            </a:pPr>
            <a:r>
              <a:rPr lang="en-GB" dirty="0">
                <a:cs typeface="Calibri"/>
              </a:rPr>
              <a:t>Maps</a:t>
            </a:r>
            <a:r>
              <a:rPr lang="en-GB" spc="-43" dirty="0">
                <a:cs typeface="Calibri"/>
              </a:rPr>
              <a:t> </a:t>
            </a:r>
            <a:r>
              <a:rPr lang="en-GB" dirty="0">
                <a:cs typeface="Calibri"/>
              </a:rPr>
              <a:t>can</a:t>
            </a:r>
            <a:r>
              <a:rPr lang="en-GB" spc="-53" dirty="0">
                <a:cs typeface="Calibri"/>
              </a:rPr>
              <a:t> </a:t>
            </a:r>
            <a:r>
              <a:rPr lang="en-GB" dirty="0">
                <a:cs typeface="Calibri"/>
              </a:rPr>
              <a:t>be</a:t>
            </a:r>
            <a:r>
              <a:rPr lang="en-GB" spc="-43" dirty="0">
                <a:cs typeface="Calibri"/>
              </a:rPr>
              <a:t> </a:t>
            </a:r>
            <a:r>
              <a:rPr lang="en-GB" dirty="0">
                <a:cs typeface="Calibri"/>
              </a:rPr>
              <a:t>analytically</a:t>
            </a:r>
            <a:r>
              <a:rPr lang="en-GB" spc="-43" dirty="0">
                <a:cs typeface="Calibri"/>
              </a:rPr>
              <a:t> </a:t>
            </a:r>
            <a:r>
              <a:rPr lang="en-GB" spc="-11" dirty="0">
                <a:cs typeface="Calibri"/>
              </a:rPr>
              <a:t>powerful </a:t>
            </a:r>
            <a:r>
              <a:rPr lang="en-GB" dirty="0">
                <a:cs typeface="Calibri"/>
              </a:rPr>
              <a:t>and</a:t>
            </a:r>
            <a:r>
              <a:rPr lang="en-GB" spc="-32" dirty="0">
                <a:cs typeface="Calibri"/>
              </a:rPr>
              <a:t> </a:t>
            </a:r>
            <a:r>
              <a:rPr lang="en-GB" spc="-11" dirty="0">
                <a:cs typeface="Calibri"/>
              </a:rPr>
              <a:t>aesthetically</a:t>
            </a:r>
            <a:r>
              <a:rPr lang="en-GB" spc="-37" dirty="0">
                <a:cs typeface="Calibri"/>
              </a:rPr>
              <a:t> </a:t>
            </a:r>
            <a:r>
              <a:rPr lang="en-GB" dirty="0">
                <a:cs typeface="Calibri"/>
              </a:rPr>
              <a:t>engaging.</a:t>
            </a:r>
            <a:r>
              <a:rPr lang="en-GB" spc="-53" dirty="0">
                <a:cs typeface="Calibri"/>
              </a:rPr>
              <a:t> </a:t>
            </a:r>
          </a:p>
          <a:p>
            <a:pPr marR="5419" algn="just">
              <a:spcBef>
                <a:spcPts val="1099"/>
              </a:spcBef>
            </a:pPr>
            <a:r>
              <a:rPr lang="en-GB" u="sng" dirty="0">
                <a:cs typeface="Calibri"/>
              </a:rPr>
              <a:t>Spatial</a:t>
            </a:r>
            <a:r>
              <a:rPr lang="en-GB" u="sng" spc="-64" dirty="0">
                <a:cs typeface="Calibri"/>
              </a:rPr>
              <a:t> </a:t>
            </a:r>
            <a:r>
              <a:rPr lang="en-GB" u="sng" spc="-11" dirty="0">
                <a:cs typeface="Calibri"/>
              </a:rPr>
              <a:t>patterns</a:t>
            </a:r>
            <a:r>
              <a:rPr lang="en-GB" u="sng" spc="-64" dirty="0">
                <a:cs typeface="Calibri"/>
              </a:rPr>
              <a:t> </a:t>
            </a:r>
            <a:r>
              <a:rPr lang="en-GB" u="sng" dirty="0">
                <a:cs typeface="Calibri"/>
              </a:rPr>
              <a:t>and</a:t>
            </a:r>
            <a:r>
              <a:rPr lang="en-GB" u="sng" spc="-43" dirty="0">
                <a:cs typeface="Calibri"/>
              </a:rPr>
              <a:t> </a:t>
            </a:r>
            <a:r>
              <a:rPr lang="en-GB" u="sng" dirty="0">
                <a:cs typeface="Calibri"/>
              </a:rPr>
              <a:t>spatial</a:t>
            </a:r>
            <a:r>
              <a:rPr lang="en-GB" u="sng" spc="-59" dirty="0">
                <a:cs typeface="Calibri"/>
              </a:rPr>
              <a:t> </a:t>
            </a:r>
            <a:r>
              <a:rPr lang="en-GB" u="sng" dirty="0">
                <a:cs typeface="Calibri"/>
              </a:rPr>
              <a:t>variation</a:t>
            </a:r>
            <a:r>
              <a:rPr lang="en-GB" u="sng" spc="-27" dirty="0">
                <a:cs typeface="Calibri"/>
              </a:rPr>
              <a:t> are </a:t>
            </a:r>
            <a:r>
              <a:rPr lang="en-GB" u="sng" dirty="0">
                <a:cs typeface="Calibri"/>
              </a:rPr>
              <a:t>the</a:t>
            </a:r>
            <a:r>
              <a:rPr lang="en-GB" u="sng" spc="-32" dirty="0">
                <a:cs typeface="Calibri"/>
              </a:rPr>
              <a:t> </a:t>
            </a:r>
            <a:r>
              <a:rPr lang="en-GB" u="sng" spc="-11" dirty="0">
                <a:cs typeface="Calibri"/>
              </a:rPr>
              <a:t>priority</a:t>
            </a:r>
            <a:endParaRPr lang="en-GB" u="sng" spc="-43" dirty="0">
              <a:cs typeface="Calibri"/>
            </a:endParaRPr>
          </a:p>
          <a:p>
            <a:pPr marR="5419" algn="just">
              <a:spcBef>
                <a:spcPts val="1099"/>
              </a:spcBef>
            </a:pPr>
            <a:r>
              <a:rPr lang="en-GB" dirty="0">
                <a:cs typeface="Calibri"/>
              </a:rPr>
              <a:t>When</a:t>
            </a:r>
            <a:r>
              <a:rPr lang="en-GB" spc="-16" dirty="0">
                <a:cs typeface="Calibri"/>
              </a:rPr>
              <a:t> </a:t>
            </a:r>
            <a:r>
              <a:rPr lang="en-GB" spc="-11" dirty="0">
                <a:cs typeface="Calibri"/>
              </a:rPr>
              <a:t>communicating</a:t>
            </a:r>
            <a:r>
              <a:rPr lang="en-GB" spc="-53" dirty="0">
                <a:cs typeface="Calibri"/>
              </a:rPr>
              <a:t> </a:t>
            </a:r>
            <a:r>
              <a:rPr lang="en-GB" dirty="0">
                <a:cs typeface="Calibri"/>
              </a:rPr>
              <a:t>place,</a:t>
            </a:r>
            <a:r>
              <a:rPr lang="en-GB" spc="-43" dirty="0">
                <a:cs typeface="Calibri"/>
              </a:rPr>
              <a:t> </a:t>
            </a:r>
            <a:r>
              <a:rPr lang="en-GB" dirty="0">
                <a:cs typeface="Calibri"/>
              </a:rPr>
              <a:t>space</a:t>
            </a:r>
            <a:r>
              <a:rPr lang="en-GB" spc="-43" dirty="0">
                <a:cs typeface="Calibri"/>
              </a:rPr>
              <a:t> </a:t>
            </a:r>
            <a:r>
              <a:rPr lang="en-GB" dirty="0">
                <a:cs typeface="Calibri"/>
              </a:rPr>
              <a:t>and</a:t>
            </a:r>
            <a:r>
              <a:rPr lang="en-GB" spc="-48" dirty="0">
                <a:cs typeface="Calibri"/>
              </a:rPr>
              <a:t> </a:t>
            </a:r>
            <a:r>
              <a:rPr lang="en-GB" spc="-11" dirty="0">
                <a:cs typeface="Calibri"/>
              </a:rPr>
              <a:t>location.</a:t>
            </a:r>
            <a:endParaRPr lang="en-GB" dirty="0">
              <a:cs typeface="Calibri"/>
            </a:endParaRPr>
          </a:p>
          <a:p>
            <a:pPr marL="13547" marR="36577" algn="just">
              <a:spcBef>
                <a:spcPts val="1093"/>
              </a:spcBef>
            </a:pPr>
            <a:endParaRPr lang="en-GB" spc="-53" dirty="0">
              <a:cs typeface="Calibri"/>
            </a:endParaRPr>
          </a:p>
        </p:txBody>
      </p:sp>
    </p:spTree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93200" y="871200"/>
            <a:ext cx="14800185" cy="751658"/>
          </a:xfrm>
          <a:prstGeom prst="rect">
            <a:avLst/>
          </a:prstGeom>
        </p:spPr>
        <p:txBody>
          <a:bodyPr vert="horz" wrap="square" lIns="0" tIns="12869" rIns="0" bIns="0" rtlCol="0">
            <a:spAutoFit/>
          </a:bodyPr>
          <a:lstStyle/>
          <a:p>
            <a:pPr marL="13547">
              <a:spcBef>
                <a:spcPts val="101"/>
              </a:spcBef>
            </a:pPr>
            <a:r>
              <a:rPr spc="-27" dirty="0"/>
              <a:t>Consider</a:t>
            </a:r>
            <a:r>
              <a:rPr spc="-181" dirty="0"/>
              <a:t> </a:t>
            </a:r>
            <a:r>
              <a:rPr lang="en-GB" spc="-181" dirty="0"/>
              <a:t>the </a:t>
            </a:r>
            <a:r>
              <a:rPr spc="-27" dirty="0"/>
              <a:t>Audience</a:t>
            </a:r>
            <a:endParaRPr spc="-21" dirty="0"/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E4F3DD05-E1B5-4A3C-83F1-7D53CC74D3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93712" y="2092325"/>
            <a:ext cx="15853975" cy="6467060"/>
          </a:xfrm>
        </p:spPr>
        <p:txBody>
          <a:bodyPr>
            <a:normAutofit/>
          </a:bodyPr>
          <a:lstStyle/>
          <a:p>
            <a:pPr>
              <a:spcBef>
                <a:spcPts val="107"/>
              </a:spcBef>
            </a:pPr>
            <a:r>
              <a:rPr lang="en-GB" b="1" dirty="0">
                <a:cs typeface="Calibri"/>
              </a:rPr>
              <a:t>Research Audience</a:t>
            </a:r>
            <a:r>
              <a:rPr lang="en-GB" dirty="0">
                <a:cs typeface="Calibri"/>
              </a:rPr>
              <a:t>: depth, insight and analytical capabilities. </a:t>
            </a:r>
          </a:p>
          <a:p>
            <a:pPr>
              <a:spcBef>
                <a:spcPts val="5"/>
              </a:spcBef>
            </a:pPr>
            <a:r>
              <a:rPr lang="en-GB" b="1" dirty="0">
                <a:cs typeface="Calibri"/>
              </a:rPr>
              <a:t>General Public</a:t>
            </a:r>
            <a:r>
              <a:rPr lang="en-GB" dirty="0">
                <a:cs typeface="Calibri"/>
              </a:rPr>
              <a:t>: accessible and engaging. </a:t>
            </a:r>
          </a:p>
          <a:p>
            <a:pPr>
              <a:spcBef>
                <a:spcPts val="5"/>
              </a:spcBef>
            </a:pPr>
            <a:r>
              <a:rPr lang="en-GB" b="1" dirty="0">
                <a:cs typeface="Calibri"/>
              </a:rPr>
              <a:t>Promotional Context</a:t>
            </a:r>
            <a:r>
              <a:rPr lang="en-GB" dirty="0">
                <a:cs typeface="Calibri"/>
              </a:rPr>
              <a:t>: used to promote a new project/dataset/paper. Eye-catching. </a:t>
            </a:r>
          </a:p>
          <a:p>
            <a:pPr>
              <a:spcBef>
                <a:spcPts val="5"/>
              </a:spcBef>
            </a:pPr>
            <a:r>
              <a:rPr lang="en-GB" b="1" dirty="0">
                <a:cs typeface="Calibri"/>
              </a:rPr>
              <a:t>Government &amp; Policy Audience: </a:t>
            </a:r>
            <a:r>
              <a:rPr lang="en-GB" dirty="0">
                <a:cs typeface="Calibri"/>
              </a:rPr>
              <a:t>support decision making</a:t>
            </a:r>
            <a:endParaRPr lang="en-GB" dirty="0"/>
          </a:p>
        </p:txBody>
      </p:sp>
    </p:spTree>
  </p:cSld>
  <p:clrMapOvr>
    <a:masterClrMapping/>
  </p:clrMapOvr>
  <p:transition spd="med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93200" y="871200"/>
            <a:ext cx="14800185" cy="751658"/>
          </a:xfrm>
          <a:prstGeom prst="rect">
            <a:avLst/>
          </a:prstGeom>
        </p:spPr>
        <p:txBody>
          <a:bodyPr vert="horz" wrap="square" lIns="0" tIns="12869" rIns="0" bIns="0" rtlCol="0">
            <a:spAutoFit/>
          </a:bodyPr>
          <a:lstStyle/>
          <a:p>
            <a:pPr marL="13547">
              <a:spcBef>
                <a:spcPts val="101"/>
              </a:spcBef>
            </a:pPr>
            <a:r>
              <a:rPr spc="-21" dirty="0"/>
              <a:t>Design</a:t>
            </a:r>
            <a:r>
              <a:rPr spc="-187" dirty="0"/>
              <a:t> </a:t>
            </a:r>
            <a:r>
              <a:rPr spc="-11" dirty="0"/>
              <a:t>Principles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7B7C6C-516E-43B1-A347-A1E0A22154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93199" y="2091600"/>
            <a:ext cx="13702485" cy="6286500"/>
          </a:xfrm>
        </p:spPr>
        <p:txBody>
          <a:bodyPr>
            <a:noAutofit/>
          </a:bodyPr>
          <a:lstStyle/>
          <a:p>
            <a:pPr>
              <a:lnSpc>
                <a:spcPct val="120000"/>
              </a:lnSpc>
            </a:pPr>
            <a:r>
              <a:rPr lang="en-GB" b="1" dirty="0">
                <a:cs typeface="Calibri"/>
              </a:rPr>
              <a:t>Legibility</a:t>
            </a:r>
            <a:r>
              <a:rPr lang="en-GB" dirty="0">
                <a:cs typeface="Calibri"/>
              </a:rPr>
              <a:t>: Maps should be clear and straightforward</a:t>
            </a:r>
          </a:p>
          <a:p>
            <a:pPr>
              <a:lnSpc>
                <a:spcPct val="120000"/>
              </a:lnSpc>
            </a:pPr>
            <a:r>
              <a:rPr lang="en-GB" b="1" dirty="0">
                <a:cs typeface="Calibri"/>
              </a:rPr>
              <a:t>Accuracy</a:t>
            </a:r>
            <a:r>
              <a:rPr lang="en-GB" dirty="0">
                <a:cs typeface="Calibri"/>
              </a:rPr>
              <a:t>: maps should be a consistent representation of reality.</a:t>
            </a:r>
          </a:p>
          <a:p>
            <a:pPr>
              <a:lnSpc>
                <a:spcPct val="120000"/>
              </a:lnSpc>
            </a:pPr>
            <a:r>
              <a:rPr lang="en-GB" b="1" dirty="0">
                <a:cs typeface="Calibri"/>
              </a:rPr>
              <a:t>Aesthetic Appeal</a:t>
            </a:r>
            <a:r>
              <a:rPr lang="en-GB" dirty="0">
                <a:cs typeface="Calibri"/>
              </a:rPr>
              <a:t>: visually engage the audience</a:t>
            </a:r>
          </a:p>
          <a:p>
            <a:pPr>
              <a:lnSpc>
                <a:spcPct val="120000"/>
              </a:lnSpc>
            </a:pPr>
            <a:endParaRPr lang="en-GB" dirty="0">
              <a:cs typeface="Calibri"/>
            </a:endParaRPr>
          </a:p>
          <a:p>
            <a:pPr>
              <a:lnSpc>
                <a:spcPct val="120000"/>
              </a:lnSpc>
            </a:pPr>
            <a:endParaRPr lang="en-GB" dirty="0">
              <a:cs typeface="Calibri"/>
            </a:endParaRPr>
          </a:p>
          <a:p>
            <a:pPr marL="0" indent="0">
              <a:lnSpc>
                <a:spcPct val="120000"/>
              </a:lnSpc>
              <a:buNone/>
            </a:pPr>
            <a:r>
              <a:rPr lang="en-GB" dirty="0">
                <a:solidFill>
                  <a:srgbClr val="FF0000"/>
                </a:solidFill>
                <a:cs typeface="Calibri"/>
              </a:rPr>
              <a:t>Important: </a:t>
            </a:r>
            <a:r>
              <a:rPr lang="en-GB" b="1" dirty="0">
                <a:solidFill>
                  <a:srgbClr val="FF0000"/>
                </a:solidFill>
                <a:cs typeface="Calibri"/>
              </a:rPr>
              <a:t>Sourcing</a:t>
            </a:r>
            <a:endParaRPr lang="en-GB" dirty="0">
              <a:solidFill>
                <a:srgbClr val="FF0000"/>
              </a:solidFill>
            </a:endParaRPr>
          </a:p>
        </p:txBody>
      </p:sp>
    </p:spTree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8D24E650-462D-45F7-804F-F3113BE002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Map Critically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A3BD85AF-4305-46BD-98E8-025FFCD1A3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93200" y="2091600"/>
            <a:ext cx="9565200" cy="6790800"/>
          </a:xfrm>
        </p:spPr>
        <p:txBody>
          <a:bodyPr>
            <a:normAutofit/>
          </a:bodyPr>
          <a:lstStyle/>
          <a:p>
            <a:pPr>
              <a:lnSpc>
                <a:spcPct val="120000"/>
              </a:lnSpc>
            </a:pPr>
            <a:r>
              <a:rPr lang="en-GB" dirty="0">
                <a:cs typeface="Calibri"/>
              </a:rPr>
              <a:t>Power of Mapping: Audience assume data is true</a:t>
            </a:r>
          </a:p>
          <a:p>
            <a:pPr>
              <a:lnSpc>
                <a:spcPct val="120000"/>
              </a:lnSpc>
            </a:pPr>
            <a:r>
              <a:rPr lang="en-GB" dirty="0">
                <a:cs typeface="Calibri"/>
              </a:rPr>
              <a:t>From minor </a:t>
            </a:r>
            <a:r>
              <a:rPr lang="en-GB" b="1" dirty="0">
                <a:cs typeface="Calibri"/>
              </a:rPr>
              <a:t>errors</a:t>
            </a:r>
            <a:r>
              <a:rPr lang="en-GB" dirty="0">
                <a:cs typeface="Calibri"/>
              </a:rPr>
              <a:t>, to intentional misrepresentations (marketing and propaganda)</a:t>
            </a:r>
          </a:p>
          <a:p>
            <a:pPr>
              <a:lnSpc>
                <a:spcPct val="120000"/>
              </a:lnSpc>
            </a:pPr>
            <a:r>
              <a:rPr lang="en-GB" b="1" dirty="0">
                <a:cs typeface="Calibri"/>
              </a:rPr>
              <a:t>Representation and Omission: </a:t>
            </a:r>
            <a:r>
              <a:rPr lang="en-GB" dirty="0">
                <a:cs typeface="Calibri"/>
              </a:rPr>
              <a:t>Map authors have power over what is on and off the map</a:t>
            </a:r>
          </a:p>
        </p:txBody>
      </p:sp>
      <p:pic>
        <p:nvPicPr>
          <p:cNvPr id="15362" name="Picture 2" descr="https://m.media-amazon.com/images/I/819Yl2J9DZL._AC_UF894,1000_QL80_.jpg">
            <a:extLst>
              <a:ext uri="{FF2B5EF4-FFF2-40B4-BE49-F238E27FC236}">
                <a16:creationId xmlns:a16="http://schemas.microsoft.com/office/drawing/2014/main" id="{E6182D9F-D3CC-4D8D-9FA3-85A1ACF829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3429" y="346710"/>
            <a:ext cx="5861936" cy="90601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B55E83B-ACC6-CC85-51AE-93FDFCF95018}"/>
              </a:ext>
            </a:extLst>
          </p:cNvPr>
          <p:cNvSpPr txBox="1"/>
          <p:nvPr/>
        </p:nvSpPr>
        <p:spPr>
          <a:xfrm>
            <a:off x="-71829" y="8774857"/>
            <a:ext cx="10130229" cy="95410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algn="l"/>
            <a:r>
              <a:rPr lang="en-GB" sz="2800" dirty="0">
                <a:latin typeface="Bahnschrift" panose="020B0502040204020203" pitchFamily="34" charset="0"/>
              </a:rPr>
              <a:t>See: </a:t>
            </a:r>
            <a:r>
              <a:rPr lang="en-GB" sz="2800" dirty="0">
                <a:latin typeface="Bahnschrift" panose="020B0502040204020203" pitchFamily="34" charset="0"/>
                <a:hlinkClick r:id="rId4"/>
              </a:rPr>
              <a:t>https://open.lib.umn.edu/mapping/chapter/</a:t>
            </a:r>
            <a:r>
              <a:rPr lang="en-GB" sz="2800">
                <a:latin typeface="Bahnschrift" panose="020B0502040204020203" pitchFamily="34" charset="0"/>
                <a:hlinkClick r:id="rId4"/>
              </a:rPr>
              <a:t>7-lying-with-maps/</a:t>
            </a:r>
            <a:r>
              <a:rPr lang="en-GB" sz="2800">
                <a:latin typeface="Bahnschrift" panose="020B0502040204020203" pitchFamily="34" charset="0"/>
              </a:rPr>
              <a:t> </a:t>
            </a:r>
            <a:endParaRPr lang="en-GB" sz="2800" dirty="0">
              <a:latin typeface="Bahnschrift" panose="020B0502040204020203" pitchFamily="34" charset="0"/>
            </a:endParaRPr>
          </a:p>
        </p:txBody>
      </p:sp>
    </p:spTree>
  </p:cSld>
  <p:clrMapOvr>
    <a:masterClrMapping/>
  </p:clrMapOvr>
  <p:transition spd="med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00131" y="4254749"/>
            <a:ext cx="16740000" cy="1244101"/>
          </a:xfrm>
          <a:prstGeom prst="rect">
            <a:avLst/>
          </a:prstGeom>
        </p:spPr>
        <p:txBody>
          <a:bodyPr vert="horz" wrap="square" lIns="0" tIns="12869" rIns="0" bIns="0" rtlCol="0">
            <a:spAutoFit/>
          </a:bodyPr>
          <a:lstStyle/>
          <a:p>
            <a:pPr marL="13547">
              <a:spcBef>
                <a:spcPts val="101"/>
              </a:spcBef>
            </a:pPr>
            <a:r>
              <a:rPr lang="en-GB" spc="-11" dirty="0">
                <a:cs typeface="Arial MT"/>
              </a:rPr>
              <a:t>Symbols</a:t>
            </a:r>
            <a:endParaRPr i="1" spc="-11" dirty="0">
              <a:cs typeface="Arial MT"/>
            </a:endParaRPr>
          </a:p>
        </p:txBody>
      </p:sp>
    </p:spTree>
    <p:extLst>
      <p:ext uri="{BB962C8B-B14F-4D97-AF65-F5344CB8AC3E}">
        <p14:creationId xmlns:p14="http://schemas.microsoft.com/office/powerpoint/2010/main" val="1584649189"/>
      </p:ext>
    </p:extLst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493200" y="1393680"/>
            <a:ext cx="13700760" cy="8337405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14193960" y="8940574"/>
            <a:ext cx="2491909" cy="473848"/>
          </a:xfrm>
          <a:prstGeom prst="rect">
            <a:avLst/>
          </a:prstGeom>
        </p:spPr>
        <p:txBody>
          <a:bodyPr vert="horz" wrap="square" lIns="0" tIns="14224" rIns="0" bIns="0" rtlCol="0">
            <a:spAutoFit/>
          </a:bodyPr>
          <a:lstStyle/>
          <a:p>
            <a:pPr marL="13547" algn="l">
              <a:spcBef>
                <a:spcPts val="112"/>
              </a:spcBef>
            </a:pPr>
            <a:r>
              <a:rPr lang="en-GB" sz="1500" dirty="0">
                <a:latin typeface="Bahnschrift" panose="020B0502040204020203" pitchFamily="34" charset="0"/>
                <a:cs typeface="Arial"/>
              </a:rPr>
              <a:t>Source: </a:t>
            </a:r>
            <a:r>
              <a:rPr lang="en-GB" sz="1500" dirty="0" err="1">
                <a:latin typeface="Bahnschrift" panose="020B0502040204020203" pitchFamily="34" charset="0"/>
                <a:cs typeface="Arial"/>
              </a:rPr>
              <a:t>Krygier</a:t>
            </a:r>
            <a:r>
              <a:rPr lang="en-GB" sz="1500" spc="-32" dirty="0">
                <a:latin typeface="Bahnschrift" panose="020B0502040204020203" pitchFamily="34" charset="0"/>
                <a:cs typeface="Arial"/>
              </a:rPr>
              <a:t> </a:t>
            </a:r>
            <a:r>
              <a:rPr lang="en-GB" sz="1500" dirty="0">
                <a:latin typeface="Bahnschrift" panose="020B0502040204020203" pitchFamily="34" charset="0"/>
                <a:cs typeface="Arial"/>
              </a:rPr>
              <a:t>and</a:t>
            </a:r>
            <a:r>
              <a:rPr lang="en-GB" sz="1500" spc="-37" dirty="0">
                <a:latin typeface="Bahnschrift" panose="020B0502040204020203" pitchFamily="34" charset="0"/>
                <a:cs typeface="Arial"/>
              </a:rPr>
              <a:t> </a:t>
            </a:r>
            <a:r>
              <a:rPr lang="en-GB" sz="1500" dirty="0">
                <a:latin typeface="Bahnschrift" panose="020B0502040204020203" pitchFamily="34" charset="0"/>
                <a:cs typeface="Arial"/>
              </a:rPr>
              <a:t>Wood</a:t>
            </a:r>
            <a:r>
              <a:rPr sz="1500" spc="-48" dirty="0">
                <a:latin typeface="Bahnschrift" panose="020B0502040204020203" pitchFamily="34" charset="0"/>
                <a:cs typeface="Arial"/>
              </a:rPr>
              <a:t> </a:t>
            </a:r>
            <a:r>
              <a:rPr sz="1500" spc="-21" dirty="0">
                <a:latin typeface="Bahnschrift" panose="020B0502040204020203" pitchFamily="34" charset="0"/>
                <a:cs typeface="Arial"/>
              </a:rPr>
              <a:t>2011</a:t>
            </a:r>
            <a:endParaRPr sz="1500" dirty="0">
              <a:latin typeface="Bahnschrift" panose="020B0502040204020203" pitchFamily="34" charset="0"/>
              <a:cs typeface="Arial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869" rIns="0" bIns="0" rtlCol="0">
            <a:spAutoFit/>
          </a:bodyPr>
          <a:lstStyle/>
          <a:p>
            <a:pPr marL="13547" algn="l">
              <a:spcBef>
                <a:spcPts val="101"/>
              </a:spcBef>
            </a:pPr>
            <a:r>
              <a:rPr dirty="0"/>
              <a:t>Lines</a:t>
            </a:r>
            <a:r>
              <a:rPr spc="-117" dirty="0"/>
              <a:t> </a:t>
            </a:r>
            <a:r>
              <a:rPr dirty="0"/>
              <a:t>and</a:t>
            </a:r>
            <a:r>
              <a:rPr spc="-122" dirty="0"/>
              <a:t> </a:t>
            </a:r>
            <a:r>
              <a:rPr spc="-11" dirty="0"/>
              <a:t>Symbols</a:t>
            </a:r>
            <a:endParaRPr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00131" y="3639196"/>
            <a:ext cx="16740000" cy="2475207"/>
          </a:xfrm>
          <a:prstGeom prst="rect">
            <a:avLst/>
          </a:prstGeom>
        </p:spPr>
        <p:txBody>
          <a:bodyPr vert="horz" wrap="square" lIns="0" tIns="12869" rIns="0" bIns="0" rtlCol="0">
            <a:spAutoFit/>
          </a:bodyPr>
          <a:lstStyle/>
          <a:p>
            <a:pPr marL="13547">
              <a:spcBef>
                <a:spcPts val="101"/>
              </a:spcBef>
            </a:pPr>
            <a:r>
              <a:rPr lang="en-GB" spc="-11" dirty="0">
                <a:cs typeface="Arial MT"/>
              </a:rPr>
              <a:t>Colour</a:t>
            </a:r>
            <a:br>
              <a:rPr lang="en-GB" spc="-11" dirty="0">
                <a:cs typeface="Arial MT"/>
              </a:rPr>
            </a:br>
            <a:r>
              <a:rPr lang="en-GB" i="1" spc="-11" dirty="0">
                <a:cs typeface="Arial MT"/>
              </a:rPr>
              <a:t>Choropleths</a:t>
            </a:r>
            <a:endParaRPr i="1" spc="-11" dirty="0">
              <a:cs typeface="Arial MT"/>
            </a:endParaRPr>
          </a:p>
        </p:txBody>
      </p:sp>
    </p:spTree>
  </p:cSld>
  <p:clrMapOvr>
    <a:masterClrMapping/>
  </p:clrMapOvr>
  <p:transition spd="med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93200" y="871200"/>
            <a:ext cx="14800185" cy="751658"/>
          </a:xfrm>
          <a:prstGeom prst="rect">
            <a:avLst/>
          </a:prstGeom>
        </p:spPr>
        <p:txBody>
          <a:bodyPr vert="horz" wrap="square" lIns="0" tIns="12869" rIns="0" bIns="0" rtlCol="0">
            <a:spAutoFit/>
          </a:bodyPr>
          <a:lstStyle/>
          <a:p>
            <a:pPr marL="13547">
              <a:spcBef>
                <a:spcPts val="101"/>
              </a:spcBef>
            </a:pPr>
            <a:r>
              <a:rPr spc="-11" dirty="0">
                <a:cs typeface="Arial MT"/>
              </a:rPr>
              <a:t>Choropleths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809A5D72-1EF2-4E7D-B24F-35871F1431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93200" y="2091600"/>
            <a:ext cx="4578072" cy="4126320"/>
          </a:xfrm>
        </p:spPr>
        <p:txBody>
          <a:bodyPr>
            <a:normAutofit/>
          </a:bodyPr>
          <a:lstStyle/>
          <a:p>
            <a:pPr marL="12870" marR="58929" indent="0">
              <a:lnSpc>
                <a:spcPct val="108300"/>
              </a:lnSpc>
              <a:spcBef>
                <a:spcPts val="101"/>
              </a:spcBef>
              <a:buNone/>
            </a:pPr>
            <a:r>
              <a:rPr lang="en-GB" i="1" spc="5" dirty="0">
                <a:solidFill>
                  <a:srgbClr val="454545"/>
                </a:solidFill>
                <a:cs typeface="Times New Roman"/>
              </a:rPr>
              <a:t>Thematic M</a:t>
            </a:r>
            <a:r>
              <a:rPr lang="en-GB" i="1" spc="11" dirty="0">
                <a:solidFill>
                  <a:srgbClr val="454545"/>
                </a:solidFill>
                <a:cs typeface="Times New Roman"/>
              </a:rPr>
              <a:t>aps </a:t>
            </a:r>
            <a:r>
              <a:rPr lang="en-GB" i="1" spc="5" dirty="0">
                <a:solidFill>
                  <a:srgbClr val="454545"/>
                </a:solidFill>
                <a:cs typeface="Times New Roman"/>
              </a:rPr>
              <a:t>in </a:t>
            </a:r>
            <a:r>
              <a:rPr lang="en-GB" i="1" spc="11" dirty="0">
                <a:solidFill>
                  <a:srgbClr val="454545"/>
                </a:solidFill>
                <a:cs typeface="Times New Roman"/>
              </a:rPr>
              <a:t>which </a:t>
            </a:r>
            <a:r>
              <a:rPr lang="en-GB" i="1" spc="5" dirty="0">
                <a:solidFill>
                  <a:srgbClr val="454545"/>
                </a:solidFill>
                <a:cs typeface="Times New Roman"/>
              </a:rPr>
              <a:t>values of</a:t>
            </a:r>
            <a:r>
              <a:rPr lang="en-GB" i="1" spc="11" dirty="0">
                <a:solidFill>
                  <a:srgbClr val="454545"/>
                </a:solidFill>
                <a:cs typeface="Times New Roman"/>
              </a:rPr>
              <a:t> </a:t>
            </a:r>
            <a:r>
              <a:rPr lang="en-GB" i="1" spc="16" dirty="0">
                <a:solidFill>
                  <a:srgbClr val="454545"/>
                </a:solidFill>
                <a:cs typeface="Times New Roman"/>
              </a:rPr>
              <a:t>a</a:t>
            </a:r>
            <a:r>
              <a:rPr lang="en-GB" i="1" spc="5" dirty="0">
                <a:solidFill>
                  <a:srgbClr val="454545"/>
                </a:solidFill>
                <a:cs typeface="Times New Roman"/>
              </a:rPr>
              <a:t> variable</a:t>
            </a:r>
            <a:r>
              <a:rPr lang="en-GB" i="1" spc="11" dirty="0">
                <a:solidFill>
                  <a:srgbClr val="454545"/>
                </a:solidFill>
                <a:cs typeface="Times New Roman"/>
              </a:rPr>
              <a:t> </a:t>
            </a:r>
            <a:r>
              <a:rPr lang="en-GB" i="1" spc="-43" dirty="0">
                <a:solidFill>
                  <a:srgbClr val="454545"/>
                </a:solidFill>
                <a:cs typeface="Times New Roman"/>
              </a:rPr>
              <a:t>are </a:t>
            </a:r>
            <a:r>
              <a:rPr lang="en-GB" i="1" spc="-980" dirty="0">
                <a:solidFill>
                  <a:srgbClr val="454545"/>
                </a:solidFill>
                <a:cs typeface="Times New Roman"/>
              </a:rPr>
              <a:t> </a:t>
            </a:r>
            <a:r>
              <a:rPr lang="en-GB" i="1" spc="11" dirty="0">
                <a:solidFill>
                  <a:srgbClr val="454545"/>
                </a:solidFill>
                <a:cs typeface="Times New Roman"/>
              </a:rPr>
              <a:t>encoded</a:t>
            </a:r>
            <a:r>
              <a:rPr lang="en-GB" i="1" dirty="0">
                <a:solidFill>
                  <a:srgbClr val="454545"/>
                </a:solidFill>
                <a:cs typeface="Times New Roman"/>
              </a:rPr>
              <a:t> </a:t>
            </a:r>
            <a:r>
              <a:rPr lang="en-GB" i="1" spc="5" dirty="0">
                <a:solidFill>
                  <a:srgbClr val="454545"/>
                </a:solidFill>
                <a:cs typeface="Times New Roman"/>
              </a:rPr>
              <a:t>using </a:t>
            </a:r>
            <a:r>
              <a:rPr lang="en-GB" i="1" spc="16" dirty="0">
                <a:solidFill>
                  <a:srgbClr val="454545"/>
                </a:solidFill>
                <a:cs typeface="Times New Roman"/>
              </a:rPr>
              <a:t>a</a:t>
            </a:r>
            <a:r>
              <a:rPr lang="en-GB" i="1" spc="5" dirty="0">
                <a:solidFill>
                  <a:srgbClr val="454545"/>
                </a:solidFill>
                <a:cs typeface="Times New Roman"/>
              </a:rPr>
              <a:t> colour gradient</a:t>
            </a:r>
          </a:p>
        </p:txBody>
      </p:sp>
      <p:pic>
        <p:nvPicPr>
          <p:cNvPr id="10" name="Picture 2" descr="https://ia803209.us.archive.org/BookReader/BookReaderPreview.php?id=earlythematicmap0000robi&amp;subPrefix=earlythematicmap0000robi&amp;itemPath=/34/items/earlythematicmap0000robi&amp;server=ia803209.us.archive.org&amp;page=leaf1&amp;fail=preview&amp;&amp;scale=4&amp;rotate=0">
            <a:extLst>
              <a:ext uri="{FF2B5EF4-FFF2-40B4-BE49-F238E27FC236}">
                <a16:creationId xmlns:a16="http://schemas.microsoft.com/office/drawing/2014/main" id="{49ED2997-2A47-4A4A-A17A-9B7DD1AB94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92640" y="428865"/>
            <a:ext cx="6254749" cy="88958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ransition spd="med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93200" y="871200"/>
            <a:ext cx="14800185" cy="751658"/>
          </a:xfrm>
          <a:prstGeom prst="rect">
            <a:avLst/>
          </a:prstGeom>
        </p:spPr>
        <p:txBody>
          <a:bodyPr vert="horz" wrap="square" lIns="0" tIns="12869" rIns="0" bIns="0" rtlCol="0">
            <a:spAutoFit/>
          </a:bodyPr>
          <a:lstStyle/>
          <a:p>
            <a:pPr marL="13547">
              <a:spcBef>
                <a:spcPts val="101"/>
              </a:spcBef>
            </a:pPr>
            <a:r>
              <a:rPr lang="en-GB" spc="-11" dirty="0">
                <a:cs typeface="Arial MT"/>
              </a:rPr>
              <a:t>How?</a:t>
            </a:r>
            <a:endParaRPr spc="-11" dirty="0">
              <a:cs typeface="Arial MT"/>
            </a:endParaRP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809A5D72-1EF2-4E7D-B24F-35871F1431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93199" y="2091600"/>
            <a:ext cx="6532441" cy="6286500"/>
          </a:xfrm>
        </p:spPr>
        <p:txBody>
          <a:bodyPr>
            <a:normAutofit/>
          </a:bodyPr>
          <a:lstStyle/>
          <a:p>
            <a:pPr>
              <a:spcBef>
                <a:spcPts val="800"/>
              </a:spcBef>
            </a:pPr>
            <a:r>
              <a:rPr lang="en-GB" spc="11" dirty="0">
                <a:solidFill>
                  <a:srgbClr val="454545"/>
                </a:solidFill>
                <a:cs typeface="Times New Roman"/>
              </a:rPr>
              <a:t>Encode</a:t>
            </a:r>
            <a:r>
              <a:rPr lang="en-GB" spc="5" dirty="0">
                <a:solidFill>
                  <a:srgbClr val="454545"/>
                </a:solidFill>
                <a:cs typeface="Times New Roman"/>
              </a:rPr>
              <a:t> </a:t>
            </a:r>
            <a:r>
              <a:rPr lang="en-GB" b="1" spc="5" dirty="0">
                <a:solidFill>
                  <a:srgbClr val="454545"/>
                </a:solidFill>
                <a:cs typeface="Times New Roman"/>
              </a:rPr>
              <a:t>value </a:t>
            </a:r>
            <a:r>
              <a:rPr lang="en-GB" spc="5" dirty="0">
                <a:solidFill>
                  <a:srgbClr val="454545"/>
                </a:solidFill>
                <a:cs typeface="Times New Roman"/>
              </a:rPr>
              <a:t>using the</a:t>
            </a:r>
            <a:r>
              <a:rPr lang="en-GB" spc="11" dirty="0">
                <a:solidFill>
                  <a:srgbClr val="454545"/>
                </a:solidFill>
                <a:cs typeface="Times New Roman"/>
              </a:rPr>
              <a:t> </a:t>
            </a:r>
            <a:r>
              <a:rPr lang="en-GB" b="1" spc="5" dirty="0">
                <a:solidFill>
                  <a:srgbClr val="454545"/>
                </a:solidFill>
                <a:cs typeface="Times New Roman"/>
              </a:rPr>
              <a:t>colour </a:t>
            </a:r>
            <a:r>
              <a:rPr lang="en-GB" spc="5" dirty="0">
                <a:solidFill>
                  <a:srgbClr val="454545"/>
                </a:solidFill>
                <a:cs typeface="Times New Roman"/>
              </a:rPr>
              <a:t>channel</a:t>
            </a:r>
            <a:endParaRPr lang="en-GB" dirty="0">
              <a:cs typeface="Times New Roman"/>
            </a:endParaRPr>
          </a:p>
          <a:p>
            <a:pPr>
              <a:spcBef>
                <a:spcPts val="1200"/>
              </a:spcBef>
            </a:pPr>
            <a:r>
              <a:rPr lang="en-GB" spc="-64" dirty="0">
                <a:solidFill>
                  <a:srgbClr val="454545"/>
                </a:solidFill>
                <a:cs typeface="Times New Roman"/>
              </a:rPr>
              <a:t>Values</a:t>
            </a:r>
            <a:r>
              <a:rPr lang="en-GB" dirty="0">
                <a:solidFill>
                  <a:srgbClr val="454545"/>
                </a:solidFill>
                <a:cs typeface="Times New Roman"/>
              </a:rPr>
              <a:t> </a:t>
            </a:r>
            <a:r>
              <a:rPr lang="en-GB" spc="5" dirty="0">
                <a:solidFill>
                  <a:srgbClr val="454545"/>
                </a:solidFill>
                <a:cs typeface="Times New Roman"/>
              </a:rPr>
              <a:t>are </a:t>
            </a:r>
            <a:r>
              <a:rPr lang="en-GB" b="1" spc="5" dirty="0">
                <a:solidFill>
                  <a:srgbClr val="454545"/>
                </a:solidFill>
                <a:cs typeface="Times New Roman"/>
              </a:rPr>
              <a:t>classified </a:t>
            </a:r>
            <a:r>
              <a:rPr lang="en-GB" spc="5" dirty="0">
                <a:solidFill>
                  <a:srgbClr val="454545"/>
                </a:solidFill>
                <a:cs typeface="Times New Roman"/>
              </a:rPr>
              <a:t>into</a:t>
            </a:r>
            <a:r>
              <a:rPr lang="en-GB" dirty="0">
                <a:solidFill>
                  <a:srgbClr val="454545"/>
                </a:solidFill>
                <a:cs typeface="Times New Roman"/>
              </a:rPr>
              <a:t> </a:t>
            </a:r>
            <a:r>
              <a:rPr lang="en-GB" b="1" spc="-5" dirty="0">
                <a:solidFill>
                  <a:srgbClr val="454545"/>
                </a:solidFill>
                <a:cs typeface="Times New Roman"/>
              </a:rPr>
              <a:t>groups</a:t>
            </a:r>
            <a:r>
              <a:rPr lang="en-GB" b="1" spc="5" dirty="0">
                <a:solidFill>
                  <a:srgbClr val="454545"/>
                </a:solidFill>
                <a:cs typeface="Times New Roman"/>
              </a:rPr>
              <a:t> </a:t>
            </a:r>
            <a:r>
              <a:rPr lang="en-GB" spc="5" dirty="0">
                <a:solidFill>
                  <a:srgbClr val="454545"/>
                </a:solidFill>
                <a:cs typeface="Times New Roman"/>
              </a:rPr>
              <a:t>(bins)</a:t>
            </a:r>
            <a:endParaRPr lang="en-GB" dirty="0">
              <a:cs typeface="Times New Roman"/>
            </a:endParaRPr>
          </a:p>
          <a:p>
            <a:pPr>
              <a:spcBef>
                <a:spcPts val="1200"/>
              </a:spcBef>
            </a:pPr>
            <a:r>
              <a:rPr lang="en-GB" b="1" spc="5" dirty="0">
                <a:solidFill>
                  <a:srgbClr val="454545"/>
                </a:solidFill>
                <a:cs typeface="Times New Roman"/>
              </a:rPr>
              <a:t>Information loss</a:t>
            </a:r>
            <a:r>
              <a:rPr lang="en-GB" b="1" spc="11" dirty="0">
                <a:solidFill>
                  <a:srgbClr val="454545"/>
                </a:solidFill>
                <a:cs typeface="Times New Roman"/>
              </a:rPr>
              <a:t> </a:t>
            </a:r>
            <a:r>
              <a:rPr lang="en-GB" spc="11" dirty="0">
                <a:solidFill>
                  <a:srgbClr val="454545"/>
                </a:solidFill>
                <a:cs typeface="Times New Roman"/>
              </a:rPr>
              <a:t>as a</a:t>
            </a:r>
            <a:r>
              <a:rPr lang="en-GB" spc="5" dirty="0">
                <a:solidFill>
                  <a:srgbClr val="454545"/>
                </a:solidFill>
                <a:cs typeface="Times New Roman"/>
              </a:rPr>
              <a:t> trade</a:t>
            </a:r>
            <a:r>
              <a:rPr lang="en-GB" spc="11" dirty="0">
                <a:solidFill>
                  <a:srgbClr val="454545"/>
                </a:solidFill>
                <a:cs typeface="Times New Roman"/>
              </a:rPr>
              <a:t> </a:t>
            </a:r>
            <a:r>
              <a:rPr lang="en-GB" spc="-16" dirty="0">
                <a:solidFill>
                  <a:srgbClr val="454545"/>
                </a:solidFill>
                <a:cs typeface="Times New Roman"/>
              </a:rPr>
              <a:t>off</a:t>
            </a:r>
            <a:r>
              <a:rPr lang="en-GB" spc="11" dirty="0">
                <a:solidFill>
                  <a:srgbClr val="454545"/>
                </a:solidFill>
                <a:cs typeface="Times New Roman"/>
              </a:rPr>
              <a:t> </a:t>
            </a:r>
            <a:r>
              <a:rPr lang="en-GB" spc="5" dirty="0">
                <a:solidFill>
                  <a:srgbClr val="454545"/>
                </a:solidFill>
                <a:cs typeface="Times New Roman"/>
              </a:rPr>
              <a:t>for</a:t>
            </a:r>
            <a:r>
              <a:rPr lang="en-GB" spc="11" dirty="0">
                <a:solidFill>
                  <a:srgbClr val="454545"/>
                </a:solidFill>
                <a:cs typeface="Times New Roman"/>
              </a:rPr>
              <a:t> </a:t>
            </a:r>
            <a:r>
              <a:rPr lang="en-GB" b="1" spc="5" dirty="0">
                <a:solidFill>
                  <a:srgbClr val="454545"/>
                </a:solidFill>
                <a:cs typeface="Times New Roman"/>
              </a:rPr>
              <a:t>simplicity</a:t>
            </a:r>
            <a:endParaRPr lang="en-GB" dirty="0">
              <a:cs typeface="Times New Roman"/>
            </a:endParaRPr>
          </a:p>
          <a:p>
            <a:endParaRPr lang="en-GB" dirty="0"/>
          </a:p>
        </p:txBody>
      </p:sp>
      <p:pic>
        <p:nvPicPr>
          <p:cNvPr id="5" name="Picture 2" descr="https://www.mic-hub.com/wp-content/uploads/2023/10/PTAL_2023.jpg">
            <a:extLst>
              <a:ext uri="{FF2B5EF4-FFF2-40B4-BE49-F238E27FC236}">
                <a16:creationId xmlns:a16="http://schemas.microsoft.com/office/drawing/2014/main" id="{7B8307D4-73C5-46D5-AF45-5989F0C35BD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449" r="18142"/>
          <a:stretch/>
        </p:blipFill>
        <p:spPr bwMode="auto">
          <a:xfrm>
            <a:off x="7385686" y="-1"/>
            <a:ext cx="9954577" cy="97536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50278451"/>
      </p:ext>
    </p:extLst>
  </p:cSld>
  <p:clrMapOvr>
    <a:masterClrMapping/>
  </p:clrMapOvr>
  <p:transition spd="med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869" rIns="0" bIns="0" rtlCol="0">
            <a:spAutoFit/>
          </a:bodyPr>
          <a:lstStyle/>
          <a:p>
            <a:pPr marL="13547">
              <a:spcBef>
                <a:spcPts val="101"/>
              </a:spcBef>
            </a:pPr>
            <a:r>
              <a:rPr spc="-11" dirty="0"/>
              <a:t>Classification choices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49E7921-6466-451F-8C6B-B7C2AD5B50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pc="11" dirty="0">
                <a:solidFill>
                  <a:srgbClr val="454545"/>
                </a:solidFill>
                <a:cs typeface="Times New Roman"/>
              </a:rPr>
              <a:t>N. of </a:t>
            </a:r>
            <a:r>
              <a:rPr lang="en-GB" spc="5" dirty="0">
                <a:solidFill>
                  <a:srgbClr val="454545"/>
                </a:solidFill>
                <a:cs typeface="Times New Roman"/>
              </a:rPr>
              <a:t>bins:</a:t>
            </a:r>
          </a:p>
          <a:p>
            <a:pPr marL="1404938" lvl="5" indent="-685800">
              <a:lnSpc>
                <a:spcPct val="110000"/>
              </a:lnSpc>
              <a:spcBef>
                <a:spcPts val="0"/>
              </a:spcBef>
            </a:pPr>
            <a:r>
              <a:rPr lang="en-GB" sz="3900" spc="-16" dirty="0">
                <a:solidFill>
                  <a:srgbClr val="454545"/>
                </a:solidFill>
                <a:latin typeface="Bahnschrift" panose="020B0502040204020203" pitchFamily="34" charset="0"/>
                <a:cs typeface="Times New Roman"/>
              </a:rPr>
              <a:t>Trade-off:</a:t>
            </a:r>
            <a:r>
              <a:rPr lang="en-GB" sz="3900" dirty="0">
                <a:solidFill>
                  <a:srgbClr val="454545"/>
                </a:solidFill>
                <a:latin typeface="Bahnschrift" panose="020B0502040204020203" pitchFamily="34" charset="0"/>
                <a:cs typeface="Times New Roman"/>
              </a:rPr>
              <a:t> </a:t>
            </a:r>
            <a:r>
              <a:rPr lang="en-GB" sz="3900" spc="5" dirty="0">
                <a:solidFill>
                  <a:srgbClr val="454545"/>
                </a:solidFill>
                <a:latin typeface="Bahnschrift" panose="020B0502040204020203" pitchFamily="34" charset="0"/>
                <a:cs typeface="Times New Roman"/>
              </a:rPr>
              <a:t>detail </a:t>
            </a:r>
            <a:r>
              <a:rPr lang="en-GB" sz="3900" i="1" spc="11" dirty="0">
                <a:solidFill>
                  <a:srgbClr val="454545"/>
                </a:solidFill>
                <a:latin typeface="Bahnschrift" panose="020B0502040204020203" pitchFamily="34" charset="0"/>
                <a:cs typeface="Times New Roman"/>
              </a:rPr>
              <a:t>vs</a:t>
            </a:r>
            <a:r>
              <a:rPr lang="en-GB" sz="3900" spc="5" dirty="0">
                <a:solidFill>
                  <a:srgbClr val="454545"/>
                </a:solidFill>
                <a:latin typeface="Bahnschrift" panose="020B0502040204020203" pitchFamily="34" charset="0"/>
                <a:cs typeface="Times New Roman"/>
              </a:rPr>
              <a:t> cognitive load</a:t>
            </a:r>
            <a:endParaRPr lang="en-GB" sz="3900" dirty="0">
              <a:latin typeface="Bahnschrift" panose="020B0502040204020203" pitchFamily="34" charset="0"/>
              <a:cs typeface="Times New Roman"/>
            </a:endParaRPr>
          </a:p>
          <a:p>
            <a:pPr marL="1404938" marR="5419" lvl="5" indent="-685800">
              <a:lnSpc>
                <a:spcPct val="110000"/>
              </a:lnSpc>
              <a:spcBef>
                <a:spcPts val="0"/>
              </a:spcBef>
            </a:pPr>
            <a:r>
              <a:rPr lang="en-GB" sz="3900" spc="5" dirty="0">
                <a:solidFill>
                  <a:srgbClr val="454545"/>
                </a:solidFill>
                <a:latin typeface="Bahnschrift" panose="020B0502040204020203" pitchFamily="34" charset="0"/>
                <a:cs typeface="Times New Roman"/>
              </a:rPr>
              <a:t>Exact </a:t>
            </a:r>
            <a:r>
              <a:rPr lang="en-GB" sz="3900" spc="11" dirty="0">
                <a:solidFill>
                  <a:srgbClr val="454545"/>
                </a:solidFill>
                <a:latin typeface="Bahnschrift" panose="020B0502040204020203" pitchFamily="34" charset="0"/>
                <a:cs typeface="Times New Roman"/>
              </a:rPr>
              <a:t>number </a:t>
            </a:r>
            <a:r>
              <a:rPr lang="en-GB" sz="3900" spc="5" dirty="0">
                <a:solidFill>
                  <a:srgbClr val="454545"/>
                </a:solidFill>
                <a:latin typeface="Bahnschrift" panose="020B0502040204020203" pitchFamily="34" charset="0"/>
                <a:cs typeface="Times New Roman"/>
              </a:rPr>
              <a:t>depends </a:t>
            </a:r>
            <a:r>
              <a:rPr lang="en-GB" sz="3900" spc="11" dirty="0">
                <a:solidFill>
                  <a:srgbClr val="454545"/>
                </a:solidFill>
                <a:latin typeface="Bahnschrift" panose="020B0502040204020203" pitchFamily="34" charset="0"/>
                <a:cs typeface="Times New Roman"/>
              </a:rPr>
              <a:t>on </a:t>
            </a:r>
            <a:r>
              <a:rPr lang="en-GB" sz="3900" spc="5" dirty="0">
                <a:solidFill>
                  <a:srgbClr val="454545"/>
                </a:solidFill>
                <a:latin typeface="Bahnschrift" panose="020B0502040204020203" pitchFamily="34" charset="0"/>
                <a:cs typeface="Times New Roman"/>
              </a:rPr>
              <a:t>purposes</a:t>
            </a:r>
            <a:endParaRPr lang="en-GB" sz="3900" spc="11" dirty="0">
              <a:solidFill>
                <a:srgbClr val="454545"/>
              </a:solidFill>
              <a:latin typeface="Bahnschrift" panose="020B0502040204020203" pitchFamily="34" charset="0"/>
              <a:cs typeface="Times New Roman"/>
            </a:endParaRPr>
          </a:p>
          <a:p>
            <a:pPr marL="1404938" marR="5419" lvl="5" indent="-685800">
              <a:lnSpc>
                <a:spcPct val="110000"/>
              </a:lnSpc>
              <a:spcBef>
                <a:spcPts val="0"/>
              </a:spcBef>
            </a:pPr>
            <a:r>
              <a:rPr lang="en-GB" sz="3900" spc="5" dirty="0">
                <a:solidFill>
                  <a:srgbClr val="454545"/>
                </a:solidFill>
                <a:latin typeface="Bahnschrift" panose="020B0502040204020203" pitchFamily="34" charset="0"/>
                <a:cs typeface="Times New Roman"/>
              </a:rPr>
              <a:t>Usually</a:t>
            </a:r>
            <a:r>
              <a:rPr lang="en-GB" sz="3900" dirty="0">
                <a:solidFill>
                  <a:srgbClr val="454545"/>
                </a:solidFill>
                <a:latin typeface="Bahnschrift" panose="020B0502040204020203" pitchFamily="34" charset="0"/>
                <a:cs typeface="Times New Roman"/>
              </a:rPr>
              <a:t> </a:t>
            </a:r>
            <a:r>
              <a:rPr lang="en-GB" sz="3900" spc="5" dirty="0">
                <a:solidFill>
                  <a:srgbClr val="454545"/>
                </a:solidFill>
                <a:latin typeface="Bahnschrift" panose="020B0502040204020203" pitchFamily="34" charset="0"/>
                <a:cs typeface="Times New Roman"/>
              </a:rPr>
              <a:t>not </a:t>
            </a:r>
            <a:r>
              <a:rPr lang="en-GB" sz="3900" spc="11" dirty="0">
                <a:solidFill>
                  <a:srgbClr val="454545"/>
                </a:solidFill>
                <a:latin typeface="Bahnschrift" panose="020B0502040204020203" pitchFamily="34" charset="0"/>
                <a:cs typeface="Times New Roman"/>
              </a:rPr>
              <a:t>more</a:t>
            </a:r>
            <a:r>
              <a:rPr lang="en-GB" sz="3900" spc="5" dirty="0">
                <a:solidFill>
                  <a:srgbClr val="454545"/>
                </a:solidFill>
                <a:latin typeface="Bahnschrift" panose="020B0502040204020203" pitchFamily="34" charset="0"/>
                <a:cs typeface="Times New Roman"/>
              </a:rPr>
              <a:t> than </a:t>
            </a:r>
            <a:r>
              <a:rPr lang="en-GB" sz="3900" spc="11" dirty="0">
                <a:solidFill>
                  <a:srgbClr val="454545"/>
                </a:solidFill>
                <a:latin typeface="Bahnschrift" panose="020B0502040204020203" pitchFamily="34" charset="0"/>
                <a:cs typeface="Times New Roman"/>
              </a:rPr>
              <a:t>7-10</a:t>
            </a:r>
            <a:endParaRPr lang="en-GB" sz="3900" dirty="0">
              <a:latin typeface="Bahnschrift" panose="020B0502040204020203" pitchFamily="34" charset="0"/>
              <a:cs typeface="Times New Roman"/>
            </a:endParaRPr>
          </a:p>
          <a:p>
            <a:r>
              <a:rPr lang="en-GB" spc="16" dirty="0">
                <a:solidFill>
                  <a:srgbClr val="454545"/>
                </a:solidFill>
                <a:cs typeface="Times New Roman"/>
              </a:rPr>
              <a:t>How</a:t>
            </a:r>
            <a:r>
              <a:rPr lang="en-GB" spc="-37" dirty="0">
                <a:solidFill>
                  <a:srgbClr val="454545"/>
                </a:solidFill>
                <a:cs typeface="Times New Roman"/>
              </a:rPr>
              <a:t> </a:t>
            </a:r>
            <a:r>
              <a:rPr lang="en-GB" spc="5" dirty="0">
                <a:solidFill>
                  <a:srgbClr val="454545"/>
                </a:solidFill>
                <a:cs typeface="Times New Roman"/>
              </a:rPr>
              <a:t>to</a:t>
            </a:r>
            <a:r>
              <a:rPr lang="en-GB" spc="-32" dirty="0">
                <a:solidFill>
                  <a:srgbClr val="454545"/>
                </a:solidFill>
                <a:cs typeface="Times New Roman"/>
              </a:rPr>
              <a:t> </a:t>
            </a:r>
            <a:r>
              <a:rPr lang="en-GB" spc="5" dirty="0">
                <a:solidFill>
                  <a:srgbClr val="454545"/>
                </a:solidFill>
                <a:cs typeface="Times New Roman"/>
              </a:rPr>
              <a:t>bin? </a:t>
            </a:r>
            <a:r>
              <a:rPr lang="en-GB" spc="-980" dirty="0">
                <a:solidFill>
                  <a:srgbClr val="454545"/>
                </a:solidFill>
                <a:cs typeface="Times New Roman"/>
              </a:rPr>
              <a:t> </a:t>
            </a:r>
          </a:p>
          <a:p>
            <a:r>
              <a:rPr lang="en-GB" spc="5" dirty="0">
                <a:solidFill>
                  <a:srgbClr val="454545"/>
                </a:solidFill>
                <a:cs typeface="Times New Roman"/>
              </a:rPr>
              <a:t>Colours</a:t>
            </a:r>
            <a:endParaRPr lang="en-GB" dirty="0">
              <a:cs typeface="Times New Roman"/>
            </a:endParaRPr>
          </a:p>
          <a:p>
            <a:pPr marL="0" indent="0">
              <a:buNone/>
            </a:pPr>
            <a:endParaRPr lang="en-GB" dirty="0"/>
          </a:p>
        </p:txBody>
      </p:sp>
    </p:spTree>
  </p:cSld>
  <p:clrMapOvr>
    <a:masterClrMapping/>
  </p:clrMapOvr>
  <p:transition spd="med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93200" y="871200"/>
            <a:ext cx="14800185" cy="751658"/>
          </a:xfrm>
          <a:prstGeom prst="rect">
            <a:avLst/>
          </a:prstGeom>
        </p:spPr>
        <p:txBody>
          <a:bodyPr vert="horz" wrap="square" lIns="0" tIns="12869" rIns="0" bIns="0" rtlCol="0">
            <a:spAutoFit/>
          </a:bodyPr>
          <a:lstStyle/>
          <a:p>
            <a:pPr marL="13547" algn="l">
              <a:spcBef>
                <a:spcPts val="101"/>
              </a:spcBef>
            </a:pPr>
            <a:r>
              <a:rPr spc="-11" dirty="0">
                <a:latin typeface="Arial MT"/>
                <a:cs typeface="Arial MT"/>
              </a:rPr>
              <a:t>Unique</a:t>
            </a:r>
            <a:r>
              <a:rPr spc="-48" dirty="0">
                <a:latin typeface="Arial MT"/>
                <a:cs typeface="Arial MT"/>
              </a:rPr>
              <a:t> </a:t>
            </a:r>
            <a:r>
              <a:rPr spc="-11" dirty="0">
                <a:latin typeface="Arial MT"/>
                <a:cs typeface="Arial MT"/>
              </a:rPr>
              <a:t>values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2C818BA-640D-45B5-BAF0-F8CBA2ADB2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3200" y="2091600"/>
            <a:ext cx="10098600" cy="6286500"/>
          </a:xfrm>
        </p:spPr>
        <p:txBody>
          <a:bodyPr/>
          <a:lstStyle/>
          <a:p>
            <a:pPr marL="13547">
              <a:spcBef>
                <a:spcPts val="1296"/>
              </a:spcBef>
            </a:pPr>
            <a:r>
              <a:rPr lang="en-GB" spc="5" dirty="0">
                <a:solidFill>
                  <a:srgbClr val="454545"/>
                </a:solidFill>
                <a:cs typeface="Times New Roman"/>
              </a:rPr>
              <a:t>Categorical</a:t>
            </a:r>
            <a:r>
              <a:rPr lang="en-GB" spc="-21" dirty="0">
                <a:solidFill>
                  <a:srgbClr val="454545"/>
                </a:solidFill>
                <a:cs typeface="Times New Roman"/>
              </a:rPr>
              <a:t> </a:t>
            </a:r>
            <a:r>
              <a:rPr lang="en-GB" spc="5" dirty="0">
                <a:solidFill>
                  <a:srgbClr val="454545"/>
                </a:solidFill>
                <a:cs typeface="Times New Roman"/>
              </a:rPr>
              <a:t>data</a:t>
            </a:r>
            <a:endParaRPr lang="en-GB" dirty="0">
              <a:cs typeface="Times New Roman"/>
            </a:endParaRPr>
          </a:p>
          <a:p>
            <a:pPr marL="13547" marR="5419">
              <a:lnSpc>
                <a:spcPct val="125000"/>
              </a:lnSpc>
            </a:pPr>
            <a:r>
              <a:rPr lang="en-GB" spc="16" dirty="0">
                <a:solidFill>
                  <a:srgbClr val="454545"/>
                </a:solidFill>
                <a:cs typeface="Times New Roman"/>
              </a:rPr>
              <a:t>No</a:t>
            </a:r>
            <a:r>
              <a:rPr lang="en-GB" spc="5" dirty="0">
                <a:solidFill>
                  <a:srgbClr val="454545"/>
                </a:solidFill>
                <a:cs typeface="Times New Roman"/>
              </a:rPr>
              <a:t> gradient</a:t>
            </a:r>
            <a:r>
              <a:rPr lang="en-GB" spc="11" dirty="0">
                <a:solidFill>
                  <a:srgbClr val="454545"/>
                </a:solidFill>
                <a:cs typeface="Times New Roman"/>
              </a:rPr>
              <a:t> </a:t>
            </a:r>
          </a:p>
          <a:p>
            <a:pPr marL="13547" marR="5419">
              <a:lnSpc>
                <a:spcPct val="125000"/>
              </a:lnSpc>
            </a:pPr>
            <a:r>
              <a:rPr lang="en-GB" spc="5" dirty="0">
                <a:solidFill>
                  <a:srgbClr val="454545"/>
                </a:solidFill>
                <a:cs typeface="Times New Roman"/>
              </a:rPr>
              <a:t>Examples:</a:t>
            </a:r>
            <a:r>
              <a:rPr lang="en-GB" dirty="0">
                <a:solidFill>
                  <a:srgbClr val="454545"/>
                </a:solidFill>
                <a:cs typeface="Times New Roman"/>
              </a:rPr>
              <a:t> </a:t>
            </a:r>
            <a:r>
              <a:rPr lang="en-GB" spc="5" dirty="0">
                <a:solidFill>
                  <a:srgbClr val="454545"/>
                </a:solidFill>
                <a:cs typeface="Times New Roman"/>
              </a:rPr>
              <a:t>Religion, country </a:t>
            </a:r>
            <a:r>
              <a:rPr lang="en-GB" spc="11" dirty="0">
                <a:solidFill>
                  <a:srgbClr val="454545"/>
                </a:solidFill>
                <a:cs typeface="Times New Roman"/>
              </a:rPr>
              <a:t>of origin…</a:t>
            </a:r>
            <a:endParaRPr lang="en-GB" dirty="0">
              <a:cs typeface="Times New Roman"/>
            </a:endParaRPr>
          </a:p>
          <a:p>
            <a:endParaRPr lang="en-GB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93200" y="871200"/>
            <a:ext cx="14800185" cy="751658"/>
          </a:xfrm>
          <a:prstGeom prst="rect">
            <a:avLst/>
          </a:prstGeom>
        </p:spPr>
        <p:txBody>
          <a:bodyPr vert="horz" wrap="square" lIns="0" tIns="12869" rIns="0" bIns="0" rtlCol="0">
            <a:spAutoFit/>
          </a:bodyPr>
          <a:lstStyle/>
          <a:p>
            <a:pPr marL="13547">
              <a:spcBef>
                <a:spcPts val="101"/>
              </a:spcBef>
            </a:pPr>
            <a:r>
              <a:rPr lang="en-GB" spc="-11" dirty="0">
                <a:cs typeface="Arial MT"/>
              </a:rPr>
              <a:t>Equal Intervals</a:t>
            </a:r>
            <a:endParaRPr spc="-11" dirty="0">
              <a:cs typeface="Arial MT"/>
            </a:endParaRP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863F61D-8547-44A1-9161-712AD718A7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93200" y="2091600"/>
            <a:ext cx="6552177" cy="6286500"/>
          </a:xfrm>
        </p:spPr>
        <p:txBody>
          <a:bodyPr>
            <a:normAutofit/>
          </a:bodyPr>
          <a:lstStyle/>
          <a:p>
            <a:pPr marL="13547" marR="455860">
              <a:lnSpc>
                <a:spcPct val="125000"/>
              </a:lnSpc>
              <a:spcBef>
                <a:spcPts val="101"/>
              </a:spcBef>
            </a:pPr>
            <a:r>
              <a:rPr lang="en-GB" spc="-59" dirty="0">
                <a:solidFill>
                  <a:srgbClr val="454545"/>
                </a:solidFill>
                <a:cs typeface="Times New Roman"/>
              </a:rPr>
              <a:t>Take</a:t>
            </a:r>
            <a:r>
              <a:rPr lang="en-GB" spc="5" dirty="0">
                <a:solidFill>
                  <a:srgbClr val="454545"/>
                </a:solidFill>
                <a:cs typeface="Times New Roman"/>
              </a:rPr>
              <a:t> the </a:t>
            </a:r>
            <a:r>
              <a:rPr lang="en-GB" b="1" spc="5" dirty="0">
                <a:solidFill>
                  <a:srgbClr val="454545"/>
                </a:solidFill>
                <a:cs typeface="Times New Roman"/>
              </a:rPr>
              <a:t>value </a:t>
            </a:r>
            <a:r>
              <a:rPr lang="en-GB" spc="11" dirty="0">
                <a:solidFill>
                  <a:srgbClr val="454545"/>
                </a:solidFill>
                <a:cs typeface="Times New Roman"/>
              </a:rPr>
              <a:t>span</a:t>
            </a:r>
            <a:r>
              <a:rPr lang="en-GB" spc="5" dirty="0">
                <a:solidFill>
                  <a:srgbClr val="454545"/>
                </a:solidFill>
                <a:cs typeface="Times New Roman"/>
              </a:rPr>
              <a:t> </a:t>
            </a:r>
            <a:r>
              <a:rPr lang="en-GB" spc="11" dirty="0">
                <a:solidFill>
                  <a:srgbClr val="454545"/>
                </a:solidFill>
                <a:cs typeface="Times New Roman"/>
              </a:rPr>
              <a:t>of</a:t>
            </a:r>
            <a:r>
              <a:rPr lang="en-GB" spc="5" dirty="0">
                <a:solidFill>
                  <a:srgbClr val="454545"/>
                </a:solidFill>
                <a:cs typeface="Times New Roman"/>
              </a:rPr>
              <a:t> the data to represent </a:t>
            </a:r>
            <a:r>
              <a:rPr lang="en-GB" spc="11" dirty="0">
                <a:solidFill>
                  <a:srgbClr val="454545"/>
                </a:solidFill>
                <a:cs typeface="Times New Roman"/>
              </a:rPr>
              <a:t>and </a:t>
            </a:r>
            <a:r>
              <a:rPr lang="en-GB" spc="-980" dirty="0">
                <a:solidFill>
                  <a:srgbClr val="454545"/>
                </a:solidFill>
                <a:cs typeface="Times New Roman"/>
              </a:rPr>
              <a:t> </a:t>
            </a:r>
            <a:r>
              <a:rPr lang="en-GB" spc="5" dirty="0">
                <a:solidFill>
                  <a:srgbClr val="454545"/>
                </a:solidFill>
                <a:cs typeface="Times New Roman"/>
              </a:rPr>
              <a:t>split</a:t>
            </a:r>
            <a:r>
              <a:rPr lang="en-GB" dirty="0">
                <a:solidFill>
                  <a:srgbClr val="454545"/>
                </a:solidFill>
                <a:cs typeface="Times New Roman"/>
              </a:rPr>
              <a:t> </a:t>
            </a:r>
            <a:r>
              <a:rPr lang="en-GB" spc="5" dirty="0">
                <a:solidFill>
                  <a:srgbClr val="454545"/>
                </a:solidFill>
                <a:cs typeface="Times New Roman"/>
              </a:rPr>
              <a:t>it equally</a:t>
            </a:r>
            <a:endParaRPr lang="en-GB" dirty="0">
              <a:cs typeface="Times New Roman"/>
            </a:endParaRPr>
          </a:p>
          <a:p>
            <a:pPr marL="13547" marR="5419">
              <a:lnSpc>
                <a:spcPct val="125000"/>
              </a:lnSpc>
            </a:pPr>
            <a:r>
              <a:rPr lang="en-GB" b="1" spc="5" dirty="0">
                <a:solidFill>
                  <a:srgbClr val="454545"/>
                </a:solidFill>
                <a:cs typeface="Times New Roman"/>
              </a:rPr>
              <a:t>Splitting </a:t>
            </a:r>
            <a:r>
              <a:rPr lang="en-GB" spc="5" dirty="0">
                <a:solidFill>
                  <a:srgbClr val="454545"/>
                </a:solidFill>
                <a:cs typeface="Times New Roman"/>
              </a:rPr>
              <a:t>happens</a:t>
            </a:r>
            <a:r>
              <a:rPr lang="en-GB" spc="11" dirty="0">
                <a:solidFill>
                  <a:srgbClr val="454545"/>
                </a:solidFill>
                <a:cs typeface="Times New Roman"/>
              </a:rPr>
              <a:t> </a:t>
            </a:r>
            <a:r>
              <a:rPr lang="en-GB" spc="5" dirty="0">
                <a:solidFill>
                  <a:srgbClr val="454545"/>
                </a:solidFill>
                <a:cs typeface="Times New Roman"/>
              </a:rPr>
              <a:t>based </a:t>
            </a:r>
            <a:r>
              <a:rPr lang="en-GB" spc="11" dirty="0">
                <a:solidFill>
                  <a:srgbClr val="454545"/>
                </a:solidFill>
                <a:cs typeface="Times New Roman"/>
              </a:rPr>
              <a:t>on </a:t>
            </a:r>
            <a:r>
              <a:rPr lang="en-GB" spc="5" dirty="0">
                <a:solidFill>
                  <a:srgbClr val="454545"/>
                </a:solidFill>
                <a:cs typeface="Times New Roman"/>
              </a:rPr>
              <a:t>the </a:t>
            </a:r>
            <a:r>
              <a:rPr lang="en-GB" b="1" spc="11" dirty="0">
                <a:solidFill>
                  <a:srgbClr val="454545"/>
                </a:solidFill>
                <a:cs typeface="Times New Roman"/>
              </a:rPr>
              <a:t>numerical </a:t>
            </a:r>
            <a:r>
              <a:rPr lang="en-GB" b="1" spc="5" dirty="0">
                <a:solidFill>
                  <a:srgbClr val="454545"/>
                </a:solidFill>
                <a:cs typeface="Times New Roman"/>
              </a:rPr>
              <a:t>value </a:t>
            </a:r>
            <a:r>
              <a:rPr lang="en-GB" b="1" spc="11" dirty="0">
                <a:solidFill>
                  <a:srgbClr val="454545"/>
                </a:solidFill>
                <a:cs typeface="Times New Roman"/>
              </a:rPr>
              <a:t> </a:t>
            </a:r>
            <a:r>
              <a:rPr lang="en-GB" spc="11" dirty="0">
                <a:solidFill>
                  <a:srgbClr val="454545"/>
                </a:solidFill>
                <a:cs typeface="Times New Roman"/>
              </a:rPr>
              <a:t>Gives more </a:t>
            </a:r>
            <a:r>
              <a:rPr lang="en-GB" spc="5" dirty="0">
                <a:solidFill>
                  <a:srgbClr val="454545"/>
                </a:solidFill>
                <a:cs typeface="Times New Roman"/>
              </a:rPr>
              <a:t>weight to outliers if the distribution is </a:t>
            </a:r>
            <a:r>
              <a:rPr lang="en-GB" spc="-987" dirty="0">
                <a:solidFill>
                  <a:srgbClr val="454545"/>
                </a:solidFill>
                <a:cs typeface="Times New Roman"/>
              </a:rPr>
              <a:t> </a:t>
            </a:r>
            <a:r>
              <a:rPr lang="en-GB" spc="11" dirty="0">
                <a:solidFill>
                  <a:srgbClr val="454545"/>
                </a:solidFill>
                <a:cs typeface="Times New Roman"/>
              </a:rPr>
              <a:t>skewed</a:t>
            </a:r>
            <a:endParaRPr lang="en-GB" dirty="0">
              <a:cs typeface="Times New Roman"/>
            </a:endParaRPr>
          </a:p>
        </p:txBody>
      </p:sp>
      <p:pic>
        <p:nvPicPr>
          <p:cNvPr id="5" name="object 2">
            <a:extLst>
              <a:ext uri="{FF2B5EF4-FFF2-40B4-BE49-F238E27FC236}">
                <a16:creationId xmlns:a16="http://schemas.microsoft.com/office/drawing/2014/main" id="{7E57B619-519C-44AA-8E74-B556A670091E}"/>
              </a:ext>
            </a:extLst>
          </p:cNvPr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7312207" y="2136570"/>
            <a:ext cx="9447339" cy="54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5587772"/>
      </p:ext>
    </p:extLst>
  </p:cSld>
  <p:clrMapOvr>
    <a:masterClrMapping/>
  </p:clrMapOvr>
  <p:transition spd="med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93200" y="871200"/>
            <a:ext cx="14800185" cy="751658"/>
          </a:xfrm>
          <a:prstGeom prst="rect">
            <a:avLst/>
          </a:prstGeom>
        </p:spPr>
        <p:txBody>
          <a:bodyPr vert="horz" wrap="square" lIns="0" tIns="12869" rIns="0" bIns="0" rtlCol="0">
            <a:spAutoFit/>
          </a:bodyPr>
          <a:lstStyle/>
          <a:p>
            <a:pPr marL="13547">
              <a:spcBef>
                <a:spcPts val="101"/>
              </a:spcBef>
            </a:pPr>
            <a:r>
              <a:rPr spc="-11" dirty="0">
                <a:cs typeface="Arial MT"/>
              </a:rPr>
              <a:t>Quantiles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863F61D-8547-44A1-9161-712AD718A7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93200" y="2091600"/>
            <a:ext cx="6552177" cy="6286500"/>
          </a:xfrm>
        </p:spPr>
        <p:txBody>
          <a:bodyPr>
            <a:normAutofit fontScale="92500" lnSpcReduction="10000"/>
          </a:bodyPr>
          <a:lstStyle/>
          <a:p>
            <a:pPr marL="13547" marR="5419">
              <a:lnSpc>
                <a:spcPct val="125000"/>
              </a:lnSpc>
              <a:spcBef>
                <a:spcPts val="101"/>
              </a:spcBef>
            </a:pPr>
            <a:r>
              <a:rPr lang="en-GB" spc="5" dirty="0">
                <a:solidFill>
                  <a:srgbClr val="454545"/>
                </a:solidFill>
                <a:cs typeface="Times New Roman"/>
              </a:rPr>
              <a:t>Regardless </a:t>
            </a:r>
            <a:r>
              <a:rPr lang="en-GB" spc="11" dirty="0">
                <a:solidFill>
                  <a:srgbClr val="454545"/>
                </a:solidFill>
                <a:cs typeface="Times New Roman"/>
              </a:rPr>
              <a:t>of </a:t>
            </a:r>
            <a:r>
              <a:rPr lang="en-GB" spc="5" dirty="0">
                <a:solidFill>
                  <a:srgbClr val="454545"/>
                </a:solidFill>
                <a:cs typeface="Times New Roman"/>
              </a:rPr>
              <a:t>numerical values, split the distribution keeping the </a:t>
            </a:r>
            <a:r>
              <a:rPr lang="en-GB" spc="11" dirty="0">
                <a:solidFill>
                  <a:srgbClr val="454545"/>
                </a:solidFill>
                <a:cs typeface="Times New Roman"/>
              </a:rPr>
              <a:t>same number of </a:t>
            </a:r>
            <a:r>
              <a:rPr lang="en-GB" spc="5" dirty="0">
                <a:solidFill>
                  <a:srgbClr val="454545"/>
                </a:solidFill>
                <a:cs typeface="Times New Roman"/>
              </a:rPr>
              <a:t>values in </a:t>
            </a:r>
            <a:r>
              <a:rPr lang="en-GB" spc="-987" dirty="0">
                <a:solidFill>
                  <a:srgbClr val="454545"/>
                </a:solidFill>
                <a:cs typeface="Times New Roman"/>
              </a:rPr>
              <a:t> </a:t>
            </a:r>
            <a:r>
              <a:rPr lang="en-GB" spc="11" dirty="0">
                <a:solidFill>
                  <a:srgbClr val="454545"/>
                </a:solidFill>
                <a:cs typeface="Times New Roman"/>
              </a:rPr>
              <a:t>each</a:t>
            </a:r>
            <a:r>
              <a:rPr lang="en-GB" dirty="0">
                <a:solidFill>
                  <a:srgbClr val="454545"/>
                </a:solidFill>
                <a:cs typeface="Times New Roman"/>
              </a:rPr>
              <a:t> </a:t>
            </a:r>
            <a:r>
              <a:rPr lang="en-GB" spc="5" dirty="0">
                <a:solidFill>
                  <a:srgbClr val="454545"/>
                </a:solidFill>
                <a:cs typeface="Times New Roman"/>
              </a:rPr>
              <a:t>bin</a:t>
            </a:r>
            <a:endParaRPr lang="en-GB" dirty="0">
              <a:cs typeface="Times New Roman"/>
            </a:endParaRPr>
          </a:p>
          <a:p>
            <a:pPr marL="13547">
              <a:spcBef>
                <a:spcPts val="1200"/>
              </a:spcBef>
            </a:pPr>
            <a:r>
              <a:rPr lang="en-GB" b="1" spc="5" dirty="0">
                <a:solidFill>
                  <a:srgbClr val="454545"/>
                </a:solidFill>
                <a:cs typeface="Times New Roman"/>
              </a:rPr>
              <a:t>Splitting </a:t>
            </a:r>
            <a:r>
              <a:rPr lang="en-GB" spc="5" dirty="0">
                <a:solidFill>
                  <a:srgbClr val="454545"/>
                </a:solidFill>
                <a:cs typeface="Times New Roman"/>
              </a:rPr>
              <a:t>based </a:t>
            </a:r>
            <a:r>
              <a:rPr lang="en-GB" spc="11" dirty="0">
                <a:solidFill>
                  <a:srgbClr val="454545"/>
                </a:solidFill>
                <a:cs typeface="Times New Roman"/>
              </a:rPr>
              <a:t>on</a:t>
            </a:r>
            <a:r>
              <a:rPr lang="en-GB" spc="5" dirty="0">
                <a:solidFill>
                  <a:srgbClr val="454545"/>
                </a:solidFill>
                <a:cs typeface="Times New Roman"/>
              </a:rPr>
              <a:t> the </a:t>
            </a:r>
            <a:r>
              <a:rPr lang="en-GB" b="1" spc="11" dirty="0">
                <a:solidFill>
                  <a:srgbClr val="454545"/>
                </a:solidFill>
                <a:cs typeface="Times New Roman"/>
              </a:rPr>
              <a:t>rank</a:t>
            </a:r>
            <a:r>
              <a:rPr lang="en-GB" b="1" spc="5" dirty="0">
                <a:solidFill>
                  <a:srgbClr val="454545"/>
                </a:solidFill>
                <a:cs typeface="Times New Roman"/>
              </a:rPr>
              <a:t> </a:t>
            </a:r>
            <a:r>
              <a:rPr lang="en-GB" spc="11" dirty="0">
                <a:solidFill>
                  <a:srgbClr val="454545"/>
                </a:solidFill>
                <a:cs typeface="Times New Roman"/>
              </a:rPr>
              <a:t>of</a:t>
            </a:r>
            <a:r>
              <a:rPr lang="en-GB" spc="5" dirty="0">
                <a:solidFill>
                  <a:srgbClr val="454545"/>
                </a:solidFill>
                <a:cs typeface="Times New Roman"/>
              </a:rPr>
              <a:t> the value</a:t>
            </a:r>
            <a:endParaRPr lang="en-GB" dirty="0">
              <a:cs typeface="Times New Roman"/>
            </a:endParaRPr>
          </a:p>
          <a:p>
            <a:pPr marL="13547" marR="185595">
              <a:lnSpc>
                <a:spcPct val="125000"/>
              </a:lnSpc>
            </a:pPr>
            <a:r>
              <a:rPr lang="en-GB" spc="5" dirty="0">
                <a:solidFill>
                  <a:srgbClr val="454545"/>
                </a:solidFill>
                <a:cs typeface="Times New Roman"/>
              </a:rPr>
              <a:t>If</a:t>
            </a:r>
            <a:r>
              <a:rPr lang="en-GB" spc="11" dirty="0">
                <a:solidFill>
                  <a:srgbClr val="454545"/>
                </a:solidFill>
                <a:cs typeface="Times New Roman"/>
              </a:rPr>
              <a:t> </a:t>
            </a:r>
            <a:r>
              <a:rPr lang="en-GB" spc="5" dirty="0">
                <a:solidFill>
                  <a:srgbClr val="454545"/>
                </a:solidFill>
                <a:cs typeface="Times New Roman"/>
              </a:rPr>
              <a:t>distribution</a:t>
            </a:r>
            <a:r>
              <a:rPr lang="en-GB" spc="11" dirty="0">
                <a:solidFill>
                  <a:srgbClr val="454545"/>
                </a:solidFill>
                <a:cs typeface="Times New Roman"/>
              </a:rPr>
              <a:t> </a:t>
            </a:r>
            <a:r>
              <a:rPr lang="en-GB" spc="5" dirty="0">
                <a:solidFill>
                  <a:srgbClr val="454545"/>
                </a:solidFill>
                <a:cs typeface="Times New Roman"/>
              </a:rPr>
              <a:t>is</a:t>
            </a:r>
            <a:r>
              <a:rPr lang="en-GB" spc="11" dirty="0">
                <a:solidFill>
                  <a:srgbClr val="454545"/>
                </a:solidFill>
                <a:cs typeface="Times New Roman"/>
              </a:rPr>
              <a:t> </a:t>
            </a:r>
            <a:r>
              <a:rPr lang="en-GB" spc="5" dirty="0">
                <a:solidFill>
                  <a:srgbClr val="454545"/>
                </a:solidFill>
                <a:cs typeface="Times New Roman"/>
              </a:rPr>
              <a:t>skewed,</a:t>
            </a:r>
            <a:r>
              <a:rPr lang="en-GB" spc="11" dirty="0">
                <a:solidFill>
                  <a:srgbClr val="454545"/>
                </a:solidFill>
                <a:cs typeface="Times New Roman"/>
              </a:rPr>
              <a:t> </a:t>
            </a:r>
            <a:r>
              <a:rPr lang="en-GB" spc="5" dirty="0">
                <a:solidFill>
                  <a:srgbClr val="454545"/>
                </a:solidFill>
                <a:cs typeface="Times New Roman"/>
              </a:rPr>
              <a:t>it</a:t>
            </a:r>
            <a:r>
              <a:rPr lang="en-GB" spc="11" dirty="0">
                <a:solidFill>
                  <a:srgbClr val="454545"/>
                </a:solidFill>
                <a:cs typeface="Times New Roman"/>
              </a:rPr>
              <a:t> can </a:t>
            </a:r>
            <a:r>
              <a:rPr lang="en-GB" spc="5" dirty="0">
                <a:solidFill>
                  <a:srgbClr val="454545"/>
                </a:solidFill>
                <a:cs typeface="Times New Roman"/>
              </a:rPr>
              <a:t>put</a:t>
            </a:r>
            <a:r>
              <a:rPr lang="en-GB" spc="11" dirty="0">
                <a:solidFill>
                  <a:srgbClr val="454545"/>
                </a:solidFill>
                <a:cs typeface="Times New Roman"/>
              </a:rPr>
              <a:t> </a:t>
            </a:r>
            <a:r>
              <a:rPr lang="en-GB" spc="5" dirty="0">
                <a:solidFill>
                  <a:srgbClr val="454545"/>
                </a:solidFill>
                <a:cs typeface="Times New Roman"/>
              </a:rPr>
              <a:t>very</a:t>
            </a:r>
            <a:r>
              <a:rPr lang="en-GB" spc="11" dirty="0">
                <a:solidFill>
                  <a:srgbClr val="454545"/>
                </a:solidFill>
                <a:cs typeface="Times New Roman"/>
              </a:rPr>
              <a:t> </a:t>
            </a:r>
            <a:r>
              <a:rPr lang="en-GB" spc="-5" dirty="0">
                <a:solidFill>
                  <a:srgbClr val="454545"/>
                </a:solidFill>
                <a:cs typeface="Times New Roman"/>
              </a:rPr>
              <a:t>different </a:t>
            </a:r>
            <a:r>
              <a:rPr lang="en-GB" spc="-980" dirty="0">
                <a:solidFill>
                  <a:srgbClr val="454545"/>
                </a:solidFill>
                <a:cs typeface="Times New Roman"/>
              </a:rPr>
              <a:t> </a:t>
            </a:r>
            <a:r>
              <a:rPr lang="en-GB" spc="5" dirty="0">
                <a:solidFill>
                  <a:srgbClr val="454545"/>
                </a:solidFill>
                <a:cs typeface="Times New Roman"/>
              </a:rPr>
              <a:t>values</a:t>
            </a:r>
            <a:r>
              <a:rPr lang="en-GB" dirty="0">
                <a:solidFill>
                  <a:srgbClr val="454545"/>
                </a:solidFill>
                <a:cs typeface="Times New Roman"/>
              </a:rPr>
              <a:t> </a:t>
            </a:r>
            <a:r>
              <a:rPr lang="en-GB" spc="5" dirty="0">
                <a:solidFill>
                  <a:srgbClr val="454545"/>
                </a:solidFill>
                <a:cs typeface="Times New Roman"/>
              </a:rPr>
              <a:t>in the </a:t>
            </a:r>
            <a:r>
              <a:rPr lang="en-GB" spc="11" dirty="0">
                <a:solidFill>
                  <a:srgbClr val="454545"/>
                </a:solidFill>
                <a:cs typeface="Times New Roman"/>
              </a:rPr>
              <a:t>same</a:t>
            </a:r>
            <a:r>
              <a:rPr lang="en-GB" spc="5" dirty="0">
                <a:solidFill>
                  <a:srgbClr val="454545"/>
                </a:solidFill>
                <a:cs typeface="Times New Roman"/>
              </a:rPr>
              <a:t> bin</a:t>
            </a:r>
            <a:endParaRPr lang="en-GB" dirty="0">
              <a:cs typeface="Times New Roman"/>
            </a:endParaRPr>
          </a:p>
          <a:p>
            <a:endParaRPr lang="en-GB" dirty="0"/>
          </a:p>
        </p:txBody>
      </p:sp>
      <p:pic>
        <p:nvPicPr>
          <p:cNvPr id="9" name="object 2">
            <a:extLst>
              <a:ext uri="{FF2B5EF4-FFF2-40B4-BE49-F238E27FC236}">
                <a16:creationId xmlns:a16="http://schemas.microsoft.com/office/drawing/2014/main" id="{E93B4484-093A-44B8-8186-31667453A488}"/>
              </a:ext>
            </a:extLst>
          </p:cNvPr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7315199" y="2136570"/>
            <a:ext cx="9447337" cy="5400000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869" rIns="0" bIns="0" rtlCol="0">
            <a:spAutoFit/>
          </a:bodyPr>
          <a:lstStyle/>
          <a:p>
            <a:pPr marL="13547">
              <a:spcBef>
                <a:spcPts val="101"/>
              </a:spcBef>
            </a:pPr>
            <a:r>
              <a:rPr spc="-5" dirty="0">
                <a:latin typeface="Arial MT"/>
                <a:cs typeface="Arial MT"/>
              </a:rPr>
              <a:t>Color</a:t>
            </a:r>
            <a:r>
              <a:rPr spc="-75" dirty="0">
                <a:latin typeface="Arial MT"/>
                <a:cs typeface="Arial MT"/>
              </a:rPr>
              <a:t> </a:t>
            </a:r>
            <a:r>
              <a:rPr spc="-11" dirty="0">
                <a:latin typeface="Arial MT"/>
                <a:cs typeface="Arial MT"/>
              </a:rPr>
              <a:t>schemes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690D10ED-92E7-4FED-9D92-C01BF9B51C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93200" y="2091599"/>
            <a:ext cx="11160000" cy="6947469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spc="5" dirty="0">
                <a:solidFill>
                  <a:srgbClr val="454545"/>
                </a:solidFill>
                <a:cs typeface="Times New Roman"/>
              </a:rPr>
              <a:t>Categories, non-ordered </a:t>
            </a:r>
            <a:r>
              <a:rPr lang="en-GB" spc="-987" dirty="0">
                <a:solidFill>
                  <a:srgbClr val="454545"/>
                </a:solidFill>
                <a:cs typeface="Times New Roman"/>
              </a:rPr>
              <a:t> </a:t>
            </a:r>
          </a:p>
          <a:p>
            <a:endParaRPr lang="en-GB" spc="5" dirty="0">
              <a:solidFill>
                <a:srgbClr val="454545"/>
              </a:solidFill>
              <a:cs typeface="Times New Roman"/>
            </a:endParaRPr>
          </a:p>
          <a:p>
            <a:endParaRPr lang="en-GB" spc="5" dirty="0">
              <a:solidFill>
                <a:srgbClr val="454545"/>
              </a:solidFill>
              <a:cs typeface="Times New Roman"/>
            </a:endParaRPr>
          </a:p>
          <a:p>
            <a:endParaRPr lang="en-GB" spc="5" dirty="0">
              <a:solidFill>
                <a:srgbClr val="454545"/>
              </a:solidFill>
              <a:cs typeface="Times New Roman"/>
            </a:endParaRPr>
          </a:p>
          <a:p>
            <a:pPr marL="0" indent="0">
              <a:buNone/>
            </a:pPr>
            <a:r>
              <a:rPr lang="en-GB" spc="5" dirty="0">
                <a:solidFill>
                  <a:srgbClr val="454545"/>
                </a:solidFill>
                <a:cs typeface="Times New Roman"/>
              </a:rPr>
              <a:t>Graduated, sequential </a:t>
            </a:r>
            <a:r>
              <a:rPr lang="en-GB" spc="11" dirty="0">
                <a:solidFill>
                  <a:srgbClr val="454545"/>
                </a:solidFill>
                <a:cs typeface="Times New Roman"/>
              </a:rPr>
              <a:t> </a:t>
            </a:r>
          </a:p>
          <a:p>
            <a:endParaRPr lang="en-GB" spc="11" dirty="0">
              <a:solidFill>
                <a:srgbClr val="454545"/>
              </a:solidFill>
              <a:cs typeface="Times New Roman"/>
            </a:endParaRPr>
          </a:p>
          <a:p>
            <a:endParaRPr lang="en-GB" spc="5" dirty="0">
              <a:solidFill>
                <a:srgbClr val="454545"/>
              </a:solidFill>
              <a:cs typeface="Times New Roman"/>
            </a:endParaRPr>
          </a:p>
          <a:p>
            <a:pPr marL="0" indent="0">
              <a:buNone/>
            </a:pPr>
            <a:endParaRPr lang="en-GB" spc="5" dirty="0">
              <a:solidFill>
                <a:srgbClr val="454545"/>
              </a:solidFill>
              <a:cs typeface="Times New Roman"/>
            </a:endParaRPr>
          </a:p>
          <a:p>
            <a:pPr marL="0" indent="0">
              <a:buNone/>
            </a:pPr>
            <a:r>
              <a:rPr lang="en-GB" spc="5" dirty="0">
                <a:solidFill>
                  <a:srgbClr val="454545"/>
                </a:solidFill>
                <a:cs typeface="Times New Roman"/>
              </a:rPr>
              <a:t>Graduated,</a:t>
            </a:r>
            <a:r>
              <a:rPr lang="en-GB" dirty="0">
                <a:solidFill>
                  <a:srgbClr val="454545"/>
                </a:solidFill>
                <a:cs typeface="Times New Roman"/>
              </a:rPr>
              <a:t> </a:t>
            </a:r>
            <a:r>
              <a:rPr lang="en-GB" spc="5" dirty="0">
                <a:solidFill>
                  <a:srgbClr val="454545"/>
                </a:solidFill>
                <a:cs typeface="Times New Roman"/>
              </a:rPr>
              <a:t>divergent</a:t>
            </a:r>
          </a:p>
          <a:p>
            <a:pPr marL="0" indent="0">
              <a:buNone/>
            </a:pPr>
            <a:endParaRPr lang="en-GB" spc="11" dirty="0">
              <a:solidFill>
                <a:srgbClr val="454545"/>
              </a:solidFill>
              <a:cs typeface="Times New Roman"/>
            </a:endParaRPr>
          </a:p>
          <a:p>
            <a:pPr marL="0" indent="0">
              <a:buNone/>
            </a:pPr>
            <a:endParaRPr lang="en-GB" spc="11" dirty="0">
              <a:solidFill>
                <a:srgbClr val="454545"/>
              </a:solidFill>
              <a:cs typeface="Times New Roman"/>
            </a:endParaRPr>
          </a:p>
          <a:p>
            <a:pPr marL="0" indent="0">
              <a:buNone/>
            </a:pPr>
            <a:endParaRPr lang="en-GB" i="1" spc="11" dirty="0">
              <a:solidFill>
                <a:srgbClr val="454545"/>
              </a:solidFill>
              <a:cs typeface="Times New Roman"/>
            </a:endParaRPr>
          </a:p>
          <a:p>
            <a:pPr marL="0" indent="0">
              <a:buNone/>
            </a:pPr>
            <a:r>
              <a:rPr lang="en-GB" i="1" spc="11" dirty="0">
                <a:solidFill>
                  <a:srgbClr val="454545"/>
                </a:solidFill>
                <a:cs typeface="Times New Roman"/>
              </a:rPr>
              <a:t>Check </a:t>
            </a:r>
            <a:r>
              <a:rPr lang="en-GB" i="1" spc="5" dirty="0">
                <a:solidFill>
                  <a:srgbClr val="831212"/>
                </a:solidFill>
                <a:cs typeface="Times New Roman"/>
                <a:hlinkClick r:id="rId3"/>
              </a:rPr>
              <a:t>ColorBrewer </a:t>
            </a:r>
            <a:r>
              <a:rPr lang="en-GB" i="1" spc="5" dirty="0">
                <a:solidFill>
                  <a:srgbClr val="454545"/>
                </a:solidFill>
                <a:cs typeface="Times New Roman"/>
              </a:rPr>
              <a:t>for guidance</a:t>
            </a:r>
            <a:endParaRPr lang="en-GB" i="1" dirty="0">
              <a:cs typeface="Times New Roman"/>
            </a:endParaRPr>
          </a:p>
          <a:p>
            <a:endParaRPr lang="en-GB" dirty="0">
              <a:latin typeface="Times New Roman"/>
              <a:cs typeface="Times New Roman"/>
            </a:endParaRPr>
          </a:p>
          <a:p>
            <a:endParaRPr lang="en-GB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A7435EB3-334A-465C-8D97-750AA7946EC4}"/>
              </a:ext>
            </a:extLst>
          </p:cNvPr>
          <p:cNvGrpSpPr/>
          <p:nvPr/>
        </p:nvGrpSpPr>
        <p:grpSpPr>
          <a:xfrm>
            <a:off x="6050050" y="2042135"/>
            <a:ext cx="3732784" cy="887307"/>
            <a:chOff x="11557523" y="3964767"/>
            <a:chExt cx="3732784" cy="887307"/>
          </a:xfrm>
        </p:grpSpPr>
        <p:sp>
          <p:nvSpPr>
            <p:cNvPr id="7" name="object 7"/>
            <p:cNvSpPr/>
            <p:nvPr/>
          </p:nvSpPr>
          <p:spPr>
            <a:xfrm>
              <a:off x="11557523" y="3964767"/>
              <a:ext cx="3732784" cy="887307"/>
            </a:xfrm>
            <a:custGeom>
              <a:avLst/>
              <a:gdLst/>
              <a:ahLst/>
              <a:cxnLst/>
              <a:rect l="l" t="t" r="r" b="b"/>
              <a:pathLst>
                <a:path w="3499484" h="831850">
                  <a:moveTo>
                    <a:pt x="3499104" y="0"/>
                  </a:moveTo>
                  <a:lnTo>
                    <a:pt x="0" y="0"/>
                  </a:lnTo>
                  <a:lnTo>
                    <a:pt x="0" y="149860"/>
                  </a:lnTo>
                  <a:lnTo>
                    <a:pt x="0" y="683260"/>
                  </a:lnTo>
                  <a:lnTo>
                    <a:pt x="0" y="831850"/>
                  </a:lnTo>
                  <a:lnTo>
                    <a:pt x="3499104" y="831850"/>
                  </a:lnTo>
                  <a:lnTo>
                    <a:pt x="3499104" y="683272"/>
                  </a:lnTo>
                  <a:lnTo>
                    <a:pt x="3499104" y="149872"/>
                  </a:lnTo>
                  <a:lnTo>
                    <a:pt x="3350514" y="149872"/>
                  </a:lnTo>
                  <a:lnTo>
                    <a:pt x="3350514" y="683260"/>
                  </a:lnTo>
                  <a:lnTo>
                    <a:pt x="150114" y="683260"/>
                  </a:lnTo>
                  <a:lnTo>
                    <a:pt x="150114" y="149860"/>
                  </a:lnTo>
                  <a:lnTo>
                    <a:pt x="3499104" y="149860"/>
                  </a:lnTo>
                  <a:lnTo>
                    <a:pt x="3499104" y="0"/>
                  </a:lnTo>
                  <a:close/>
                </a:path>
              </a:pathLst>
            </a:custGeom>
            <a:solidFill>
              <a:srgbClr val="000000">
                <a:alpha val="14898"/>
              </a:srgbClr>
            </a:solidFill>
          </p:spPr>
          <p:txBody>
            <a:bodyPr wrap="square" lIns="0" tIns="0" rIns="0" bIns="0" rtlCol="0"/>
            <a:lstStyle/>
            <a:p>
              <a:endParaRPr sz="3840"/>
            </a:p>
          </p:txBody>
        </p:sp>
        <p:pic>
          <p:nvPicPr>
            <p:cNvPr id="8" name="object 8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2144377" y="4195739"/>
              <a:ext cx="2645663" cy="426719"/>
            </a:xfrm>
            <a:prstGeom prst="rect">
              <a:avLst/>
            </a:prstGeom>
          </p:spPr>
        </p:pic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504869AE-81C4-4CBC-975C-3DB22279F4C1}"/>
              </a:ext>
            </a:extLst>
          </p:cNvPr>
          <p:cNvGrpSpPr/>
          <p:nvPr/>
        </p:nvGrpSpPr>
        <p:grpSpPr>
          <a:xfrm>
            <a:off x="6050050" y="4068530"/>
            <a:ext cx="3732784" cy="883243"/>
            <a:chOff x="11069843" y="4881876"/>
            <a:chExt cx="3732784" cy="883243"/>
          </a:xfrm>
        </p:grpSpPr>
        <p:sp>
          <p:nvSpPr>
            <p:cNvPr id="9" name="object 9"/>
            <p:cNvSpPr/>
            <p:nvPr/>
          </p:nvSpPr>
          <p:spPr>
            <a:xfrm>
              <a:off x="11069843" y="4881876"/>
              <a:ext cx="3732784" cy="883243"/>
            </a:xfrm>
            <a:custGeom>
              <a:avLst/>
              <a:gdLst/>
              <a:ahLst/>
              <a:cxnLst/>
              <a:rect l="l" t="t" r="r" b="b"/>
              <a:pathLst>
                <a:path w="3499484" h="828039">
                  <a:moveTo>
                    <a:pt x="3499104" y="0"/>
                  </a:moveTo>
                  <a:lnTo>
                    <a:pt x="0" y="0"/>
                  </a:lnTo>
                  <a:lnTo>
                    <a:pt x="0" y="147320"/>
                  </a:lnTo>
                  <a:lnTo>
                    <a:pt x="0" y="680720"/>
                  </a:lnTo>
                  <a:lnTo>
                    <a:pt x="0" y="828040"/>
                  </a:lnTo>
                  <a:lnTo>
                    <a:pt x="3499104" y="828040"/>
                  </a:lnTo>
                  <a:lnTo>
                    <a:pt x="3499104" y="680732"/>
                  </a:lnTo>
                  <a:lnTo>
                    <a:pt x="3499104" y="147332"/>
                  </a:lnTo>
                  <a:lnTo>
                    <a:pt x="3350514" y="147332"/>
                  </a:lnTo>
                  <a:lnTo>
                    <a:pt x="3350514" y="680720"/>
                  </a:lnTo>
                  <a:lnTo>
                    <a:pt x="150114" y="680720"/>
                  </a:lnTo>
                  <a:lnTo>
                    <a:pt x="150114" y="147320"/>
                  </a:lnTo>
                  <a:lnTo>
                    <a:pt x="3499104" y="147320"/>
                  </a:lnTo>
                  <a:lnTo>
                    <a:pt x="3499104" y="0"/>
                  </a:lnTo>
                  <a:close/>
                </a:path>
              </a:pathLst>
            </a:custGeom>
            <a:solidFill>
              <a:srgbClr val="000000">
                <a:alpha val="14898"/>
              </a:srgbClr>
            </a:solidFill>
          </p:spPr>
          <p:txBody>
            <a:bodyPr wrap="square" lIns="0" tIns="0" rIns="0" bIns="0" rtlCol="0"/>
            <a:lstStyle/>
            <a:p>
              <a:endParaRPr sz="3840"/>
            </a:p>
          </p:txBody>
        </p:sp>
        <p:pic>
          <p:nvPicPr>
            <p:cNvPr id="10" name="object 10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66180" y="5110139"/>
              <a:ext cx="2636180" cy="426719"/>
            </a:xfrm>
            <a:prstGeom prst="rect">
              <a:avLst/>
            </a:prstGeom>
          </p:spPr>
        </p:pic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DF9460E4-89BD-44B0-B007-0177A255D103}"/>
              </a:ext>
            </a:extLst>
          </p:cNvPr>
          <p:cNvGrpSpPr/>
          <p:nvPr/>
        </p:nvGrpSpPr>
        <p:grpSpPr>
          <a:xfrm>
            <a:off x="6051743" y="6035018"/>
            <a:ext cx="3729398" cy="887307"/>
            <a:chOff x="10930041" y="5785439"/>
            <a:chExt cx="3729398" cy="887307"/>
          </a:xfrm>
        </p:grpSpPr>
        <p:sp>
          <p:nvSpPr>
            <p:cNvPr id="11" name="object 11"/>
            <p:cNvSpPr/>
            <p:nvPr/>
          </p:nvSpPr>
          <p:spPr>
            <a:xfrm>
              <a:off x="10930041" y="5785439"/>
              <a:ext cx="3729398" cy="887307"/>
            </a:xfrm>
            <a:custGeom>
              <a:avLst/>
              <a:gdLst/>
              <a:ahLst/>
              <a:cxnLst/>
              <a:rect l="l" t="t" r="r" b="b"/>
              <a:pathLst>
                <a:path w="3496309" h="831850">
                  <a:moveTo>
                    <a:pt x="3496056" y="0"/>
                  </a:moveTo>
                  <a:lnTo>
                    <a:pt x="0" y="0"/>
                  </a:lnTo>
                  <a:lnTo>
                    <a:pt x="0" y="148590"/>
                  </a:lnTo>
                  <a:lnTo>
                    <a:pt x="0" y="681990"/>
                  </a:lnTo>
                  <a:lnTo>
                    <a:pt x="0" y="831850"/>
                  </a:lnTo>
                  <a:lnTo>
                    <a:pt x="3496056" y="831850"/>
                  </a:lnTo>
                  <a:lnTo>
                    <a:pt x="3496056" y="681990"/>
                  </a:lnTo>
                  <a:lnTo>
                    <a:pt x="147828" y="681990"/>
                  </a:lnTo>
                  <a:lnTo>
                    <a:pt x="147828" y="148590"/>
                  </a:lnTo>
                  <a:lnTo>
                    <a:pt x="3348228" y="148590"/>
                  </a:lnTo>
                  <a:lnTo>
                    <a:pt x="3348228" y="681367"/>
                  </a:lnTo>
                  <a:lnTo>
                    <a:pt x="3496056" y="681367"/>
                  </a:lnTo>
                  <a:lnTo>
                    <a:pt x="3496056" y="148590"/>
                  </a:lnTo>
                  <a:lnTo>
                    <a:pt x="3496056" y="147967"/>
                  </a:lnTo>
                  <a:lnTo>
                    <a:pt x="3496056" y="0"/>
                  </a:lnTo>
                  <a:close/>
                </a:path>
              </a:pathLst>
            </a:custGeom>
            <a:solidFill>
              <a:srgbClr val="000000">
                <a:alpha val="14898"/>
              </a:srgbClr>
            </a:solidFill>
          </p:spPr>
          <p:txBody>
            <a:bodyPr wrap="square" lIns="0" tIns="0" rIns="0" bIns="0" rtlCol="0"/>
            <a:lstStyle/>
            <a:p>
              <a:endParaRPr sz="3840"/>
            </a:p>
          </p:txBody>
        </p:sp>
        <p:pic>
          <p:nvPicPr>
            <p:cNvPr id="12" name="object 12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1514457" y="6014379"/>
              <a:ext cx="2645663" cy="426719"/>
            </a:xfrm>
            <a:prstGeom prst="rect">
              <a:avLst/>
            </a:prstGeom>
          </p:spPr>
        </p:pic>
      </p:grpSp>
    </p:spTree>
  </p:cSld>
  <p:clrMapOvr>
    <a:masterClrMapping/>
  </p:clrMapOvr>
  <p:transition spd="med"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18ED1FDD-39C4-49D9-BDB3-3E574D3E9EA9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3905" t="11874" r="21955" b="26407"/>
          <a:stretch/>
        </p:blipFill>
        <p:spPr>
          <a:xfrm>
            <a:off x="1064793" y="0"/>
            <a:ext cx="15210677" cy="975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5606299"/>
      </p:ext>
    </p:extLst>
  </p:cSld>
  <p:clrMapOvr>
    <a:masterClrMapping/>
  </p:clrMapOvr>
  <p:transition spd="med"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00131" y="3639196"/>
            <a:ext cx="16740000" cy="2475207"/>
          </a:xfrm>
          <a:prstGeom prst="rect">
            <a:avLst/>
          </a:prstGeom>
        </p:spPr>
        <p:txBody>
          <a:bodyPr vert="horz" wrap="square" lIns="0" tIns="12869" rIns="0" bIns="0" rtlCol="0">
            <a:spAutoFit/>
          </a:bodyPr>
          <a:lstStyle/>
          <a:p>
            <a:pPr marL="13547">
              <a:spcBef>
                <a:spcPts val="101"/>
              </a:spcBef>
            </a:pPr>
            <a:r>
              <a:rPr lang="en-GB" spc="-11" dirty="0">
                <a:cs typeface="Arial MT"/>
              </a:rPr>
              <a:t>Size </a:t>
            </a:r>
            <a:br>
              <a:rPr lang="en-GB" spc="-11" dirty="0">
                <a:cs typeface="Arial MT"/>
              </a:rPr>
            </a:br>
            <a:r>
              <a:rPr lang="en-GB" i="1" spc="-11" dirty="0">
                <a:cs typeface="Arial MT"/>
              </a:rPr>
              <a:t>Cartograms</a:t>
            </a:r>
            <a:endParaRPr i="1" spc="-11" dirty="0">
              <a:cs typeface="Arial MT"/>
            </a:endParaRPr>
          </a:p>
        </p:txBody>
      </p:sp>
    </p:spTree>
    <p:extLst>
      <p:ext uri="{BB962C8B-B14F-4D97-AF65-F5344CB8AC3E}">
        <p14:creationId xmlns:p14="http://schemas.microsoft.com/office/powerpoint/2010/main" val="4246575620"/>
      </p:ext>
    </p:extLst>
  </p:cSld>
  <p:clrMapOvr>
    <a:masterClrMapping/>
  </p:clrMapOvr>
  <p:transition spd="med"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 descr="img">
            <a:extLst>
              <a:ext uri="{FF2B5EF4-FFF2-40B4-BE49-F238E27FC236}">
                <a16:creationId xmlns:a16="http://schemas.microsoft.com/office/drawing/2014/main" id="{DA940D1D-D0DE-4EB2-9699-246EFAB22B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4400" y="1119346"/>
            <a:ext cx="7514908" cy="75149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 descr="img">
            <a:extLst>
              <a:ext uri="{FF2B5EF4-FFF2-40B4-BE49-F238E27FC236}">
                <a16:creationId xmlns:a16="http://schemas.microsoft.com/office/drawing/2014/main" id="{AFE387A1-E2C3-4F74-B52B-2BAA001D8C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6988" y="1119346"/>
            <a:ext cx="7514908" cy="75149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E4BC44D0-E6CD-41E1-B3B1-052BF414F94D}"/>
              </a:ext>
            </a:extLst>
          </p:cNvPr>
          <p:cNvSpPr/>
          <p:nvPr/>
        </p:nvSpPr>
        <p:spPr>
          <a:xfrm>
            <a:off x="4327525" y="8585492"/>
            <a:ext cx="8667750" cy="323165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GB" sz="1500" dirty="0">
                <a:latin typeface="Bahnschrift" panose="020B0502040204020203" pitchFamily="34" charset="0"/>
              </a:rPr>
              <a:t>https://www.data-to-viz.com/graph/cartogram.html</a:t>
            </a:r>
          </a:p>
        </p:txBody>
      </p:sp>
    </p:spTree>
    <p:extLst>
      <p:ext uri="{BB962C8B-B14F-4D97-AF65-F5344CB8AC3E}">
        <p14:creationId xmlns:p14="http://schemas.microsoft.com/office/powerpoint/2010/main" val="760438623"/>
      </p:ext>
    </p:extLst>
  </p:cSld>
  <p:clrMapOvr>
    <a:masterClrMapping/>
  </p:clrMapOvr>
  <p:transition spd="med"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94" name="Picture 2" descr="https://oraclum.eu/wp-content/uploads/2015/12/MOST2015-map-deformed.png">
            <a:extLst>
              <a:ext uri="{FF2B5EF4-FFF2-40B4-BE49-F238E27FC236}">
                <a16:creationId xmlns:a16="http://schemas.microsoft.com/office/drawing/2014/main" id="{943A6CEA-AB86-4CBF-906E-6EA474657A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20310" y="1014780"/>
            <a:ext cx="7299643" cy="77240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574C1B03-B4F6-47DD-BC02-1783993FA90D}"/>
              </a:ext>
            </a:extLst>
          </p:cNvPr>
          <p:cNvSpPr/>
          <p:nvPr/>
        </p:nvSpPr>
        <p:spPr>
          <a:xfrm>
            <a:off x="5020310" y="8738820"/>
            <a:ext cx="7299644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/>
            <a:r>
              <a:rPr lang="en-GB" sz="1400" dirty="0">
                <a:latin typeface="Bahnschrift" panose="020B0502040204020203" pitchFamily="34" charset="0"/>
              </a:rPr>
              <a:t>Source: </a:t>
            </a:r>
          </a:p>
          <a:p>
            <a:pPr algn="l"/>
            <a:r>
              <a:rPr lang="en-GB" sz="1400" b="1" dirty="0" err="1">
                <a:latin typeface="Bahnschrift" panose="020B0502040204020203" pitchFamily="34" charset="0"/>
              </a:rPr>
              <a:t>Dejan</a:t>
            </a:r>
            <a:r>
              <a:rPr lang="en-GB" sz="1400" b="1" dirty="0">
                <a:latin typeface="Bahnschrift" panose="020B0502040204020203" pitchFamily="34" charset="0"/>
              </a:rPr>
              <a:t> </a:t>
            </a:r>
            <a:r>
              <a:rPr lang="en-GB" sz="1400" b="1" dirty="0" err="1">
                <a:latin typeface="Bahnschrift" panose="020B0502040204020203" pitchFamily="34" charset="0"/>
              </a:rPr>
              <a:t>Vinkovic</a:t>
            </a:r>
            <a:r>
              <a:rPr lang="en-GB" sz="1400" b="1" dirty="0">
                <a:latin typeface="Bahnschrift" panose="020B0502040204020203" pitchFamily="34" charset="0"/>
              </a:rPr>
              <a:t>: </a:t>
            </a:r>
            <a:r>
              <a:rPr lang="en-GB" sz="1400" dirty="0">
                <a:latin typeface="Bahnschrift" panose="020B0502040204020203" pitchFamily="34" charset="0"/>
              </a:rPr>
              <a:t>work at http://oraclum.eu/cartograms-of-election-results/</a:t>
            </a:r>
          </a:p>
        </p:txBody>
      </p:sp>
    </p:spTree>
    <p:extLst>
      <p:ext uri="{BB962C8B-B14F-4D97-AF65-F5344CB8AC3E}">
        <p14:creationId xmlns:p14="http://schemas.microsoft.com/office/powerpoint/2010/main" val="3639240106"/>
      </p:ext>
    </p:extLst>
  </p:cSld>
  <p:clrMapOvr>
    <a:masterClrMapping/>
  </p:clrMapOvr>
  <p:transition spd="med"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 descr="https://pedestrianobservations.files.wordpress.com/2019/04/berlinrailtraffic.png">
            <a:extLst>
              <a:ext uri="{FF2B5EF4-FFF2-40B4-BE49-F238E27FC236}">
                <a16:creationId xmlns:a16="http://schemas.microsoft.com/office/drawing/2014/main" id="{59E404A7-EE7E-4EB7-8C1A-761DDC0691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46826" y="534186"/>
            <a:ext cx="12246610" cy="86852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151BE8CB-6461-49AA-84CB-7C4103BE150D}"/>
              </a:ext>
            </a:extLst>
          </p:cNvPr>
          <p:cNvSpPr/>
          <p:nvPr/>
        </p:nvSpPr>
        <p:spPr>
          <a:xfrm>
            <a:off x="2546826" y="9096048"/>
            <a:ext cx="12246610" cy="5539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/>
            <a:r>
              <a:rPr lang="en-GB" sz="1500" dirty="0">
                <a:latin typeface="Bahnschrift" panose="020B0502040204020203" pitchFamily="34" charset="0"/>
              </a:rPr>
              <a:t>Source (p.6): https://www.berlin.de/sen/uvk/_assets/verkehr/verkehrsplanung/oeffentlicher-personennahverkehr/nahverkehrsplan/broschure_nvp_2019_anlage_2.pdf </a:t>
            </a:r>
          </a:p>
        </p:txBody>
      </p:sp>
    </p:spTree>
    <p:extLst>
      <p:ext uri="{BB962C8B-B14F-4D97-AF65-F5344CB8AC3E}">
        <p14:creationId xmlns:p14="http://schemas.microsoft.com/office/powerpoint/2010/main" val="1472886487"/>
      </p:ext>
    </p:extLst>
  </p:cSld>
  <p:clrMapOvr>
    <a:masterClrMapping/>
  </p:clrMapOvr>
  <p:transition spd="med"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18" name="Picture 2" descr="cartogram image">
            <a:extLst>
              <a:ext uri="{FF2B5EF4-FFF2-40B4-BE49-F238E27FC236}">
                <a16:creationId xmlns:a16="http://schemas.microsoft.com/office/drawing/2014/main" id="{B0EEB2F9-2785-46CC-9CDD-BCFB42FB8F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26556" y="150494"/>
            <a:ext cx="11549698" cy="85945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A772FB48-E4F1-48C4-AE06-FC8AA698BA5D}"/>
              </a:ext>
            </a:extLst>
          </p:cNvPr>
          <p:cNvSpPr/>
          <p:nvPr/>
        </p:nvSpPr>
        <p:spPr>
          <a:xfrm>
            <a:off x="2911316" y="8775573"/>
            <a:ext cx="6979444" cy="5539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/>
            <a:r>
              <a:rPr lang="en-GB" sz="1500" dirty="0">
                <a:latin typeface="Bahnschrift" panose="020B0502040204020203" pitchFamily="34" charset="0"/>
              </a:rPr>
              <a:t>Source:</a:t>
            </a:r>
          </a:p>
          <a:p>
            <a:pPr algn="l"/>
            <a:r>
              <a:rPr lang="en-GB" sz="1500" b="1" dirty="0">
                <a:latin typeface="Bahnschrift" panose="020B0502040204020203" pitchFamily="34" charset="0"/>
              </a:rPr>
              <a:t>Lisa Charlotte </a:t>
            </a:r>
            <a:r>
              <a:rPr lang="en-GB" sz="1500" b="1" dirty="0" err="1">
                <a:latin typeface="Bahnschrift" panose="020B0502040204020203" pitchFamily="34" charset="0"/>
              </a:rPr>
              <a:t>Muth</a:t>
            </a:r>
            <a:r>
              <a:rPr lang="en-GB" sz="1500" b="1" dirty="0">
                <a:latin typeface="Bahnschrift" panose="020B0502040204020203" pitchFamily="34" charset="0"/>
              </a:rPr>
              <a:t>: </a:t>
            </a:r>
            <a:r>
              <a:rPr lang="en-GB" sz="1500" dirty="0">
                <a:latin typeface="Bahnschrift" panose="020B0502040204020203" pitchFamily="34" charset="0"/>
              </a:rPr>
              <a:t>https://blog.datawrapper.de/cartograms/</a:t>
            </a:r>
          </a:p>
        </p:txBody>
      </p:sp>
    </p:spTree>
    <p:extLst>
      <p:ext uri="{BB962C8B-B14F-4D97-AF65-F5344CB8AC3E}">
        <p14:creationId xmlns:p14="http://schemas.microsoft.com/office/powerpoint/2010/main" val="1209586202"/>
      </p:ext>
    </p:extLst>
  </p:cSld>
  <p:clrMapOvr>
    <a:masterClrMapping/>
  </p:clrMapOvr>
  <p:transition spd="med"/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00131" y="4254749"/>
            <a:ext cx="16740000" cy="1244101"/>
          </a:xfrm>
          <a:prstGeom prst="rect">
            <a:avLst/>
          </a:prstGeom>
        </p:spPr>
        <p:txBody>
          <a:bodyPr vert="horz" wrap="square" lIns="0" tIns="12869" rIns="0" bIns="0" rtlCol="0">
            <a:spAutoFit/>
          </a:bodyPr>
          <a:lstStyle/>
          <a:p>
            <a:pPr marL="13547">
              <a:spcBef>
                <a:spcPts val="101"/>
              </a:spcBef>
            </a:pPr>
            <a:r>
              <a:rPr lang="en-GB" spc="-11" dirty="0">
                <a:cs typeface="Arial MT"/>
              </a:rPr>
              <a:t>Final Remarks</a:t>
            </a:r>
            <a:endParaRPr spc="-11" dirty="0">
              <a:cs typeface="Arial MT"/>
            </a:endParaRPr>
          </a:p>
        </p:txBody>
      </p:sp>
    </p:spTree>
    <p:extLst>
      <p:ext uri="{BB962C8B-B14F-4D97-AF65-F5344CB8AC3E}">
        <p14:creationId xmlns:p14="http://schemas.microsoft.com/office/powerpoint/2010/main" val="3911501439"/>
      </p:ext>
    </p:extLst>
  </p:cSld>
  <p:clrMapOvr>
    <a:masterClrMapping/>
  </p:clrMapOvr>
  <p:transition spd="med"/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869" rIns="0" bIns="0" rtlCol="0">
            <a:spAutoFit/>
          </a:bodyPr>
          <a:lstStyle/>
          <a:p>
            <a:pPr marL="13547">
              <a:spcBef>
                <a:spcPts val="101"/>
              </a:spcBef>
            </a:pPr>
            <a:r>
              <a:rPr spc="-21" dirty="0"/>
              <a:t>Global</a:t>
            </a:r>
            <a:r>
              <a:rPr spc="-192" dirty="0"/>
              <a:t> </a:t>
            </a:r>
            <a:r>
              <a:rPr spc="-37" dirty="0"/>
              <a:t>Projections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7B06AC8-9935-4C63-81CA-90AAB1E209E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38800" y="292080"/>
            <a:ext cx="13149263" cy="8766176"/>
          </a:xfrm>
          <a:prstGeom prst="rect">
            <a:avLst/>
          </a:prstGeom>
        </p:spPr>
      </p:pic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8225399-6E52-4F28-8F60-91B895F5E6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93201" y="2091600"/>
            <a:ext cx="7538280" cy="6790800"/>
          </a:xfrm>
        </p:spPr>
        <p:txBody>
          <a:bodyPr/>
          <a:lstStyle/>
          <a:p>
            <a:r>
              <a:rPr lang="en-GB" dirty="0"/>
              <a:t>Different projections cause large </a:t>
            </a:r>
            <a:r>
              <a:rPr lang="en-GB" b="1" dirty="0"/>
              <a:t>distortions</a:t>
            </a:r>
            <a:r>
              <a:rPr lang="en-GB" dirty="0"/>
              <a:t> in sizes and shapes.</a:t>
            </a:r>
          </a:p>
          <a:p>
            <a:r>
              <a:rPr lang="en-GB" dirty="0"/>
              <a:t>Consequences on aesthetics of and political perceptions.</a:t>
            </a:r>
          </a:p>
          <a:p>
            <a:r>
              <a:rPr lang="en-GB" dirty="0"/>
              <a:t>Standard </a:t>
            </a:r>
            <a:r>
              <a:rPr lang="en-GB" i="1" dirty="0"/>
              <a:t>Mercator</a:t>
            </a:r>
            <a:r>
              <a:rPr lang="en-GB" dirty="0"/>
              <a:t> projection used by Google shrinks countries at the equator. </a:t>
            </a:r>
          </a:p>
        </p:txBody>
      </p:sp>
    </p:spTree>
  </p:cSld>
  <p:clrMapOvr>
    <a:masterClrMapping/>
  </p:clrMapOvr>
  <p:transition spd="med"/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85497C79-0E24-4B6C-84E1-76C57858FF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93200" y="2091600"/>
            <a:ext cx="8176931" cy="6915240"/>
          </a:xfrm>
        </p:spPr>
        <p:txBody>
          <a:bodyPr/>
          <a:lstStyle/>
          <a:p>
            <a:r>
              <a:rPr lang="en-GB" dirty="0"/>
              <a:t>Most countries release data using national coordinate system and projection (e.g. British National Grid). </a:t>
            </a:r>
          </a:p>
          <a:p>
            <a:r>
              <a:rPr lang="en-GB" dirty="0"/>
              <a:t>In larger countries there can be more than one projections </a:t>
            </a:r>
          </a:p>
          <a:p>
            <a:r>
              <a:rPr lang="en-GB" dirty="0"/>
              <a:t>Standardisation minimises issues for analysis at the country level.</a:t>
            </a:r>
          </a:p>
          <a:p>
            <a:endParaRPr lang="en-GB" dirty="0"/>
          </a:p>
        </p:txBody>
      </p:sp>
      <p:pic>
        <p:nvPicPr>
          <p:cNvPr id="13314" name="Picture 2" descr="https://www.echodelta.net/mbs/article/europedecoupage.gif">
            <a:extLst>
              <a:ext uri="{FF2B5EF4-FFF2-40B4-BE49-F238E27FC236}">
                <a16:creationId xmlns:a16="http://schemas.microsoft.com/office/drawing/2014/main" id="{6A41FA80-AD2D-4493-A460-C85BD78B42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42583" y="620541"/>
            <a:ext cx="7904480" cy="85125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261D8991-AE1B-4DC8-86C4-F716A9592911}"/>
              </a:ext>
            </a:extLst>
          </p:cNvPr>
          <p:cNvSpPr/>
          <p:nvPr/>
        </p:nvSpPr>
        <p:spPr>
          <a:xfrm>
            <a:off x="8942583" y="9229828"/>
            <a:ext cx="8667750" cy="307777"/>
          </a:xfrm>
          <a:prstGeom prst="rect">
            <a:avLst/>
          </a:prstGeom>
        </p:spPr>
        <p:txBody>
          <a:bodyPr>
            <a:spAutoFit/>
          </a:bodyPr>
          <a:lstStyle/>
          <a:p>
            <a:pPr algn="l"/>
            <a:r>
              <a:rPr lang="en-GB" sz="1400" dirty="0">
                <a:latin typeface="Bahnschrift" panose="020B0502040204020203" pitchFamily="34" charset="0"/>
              </a:rPr>
              <a:t>Source: https://www.echodelta.net/mbs/eng-overview.php</a:t>
            </a:r>
          </a:p>
        </p:txBody>
      </p:sp>
      <p:sp>
        <p:nvSpPr>
          <p:cNvPr id="17" name="Title 16">
            <a:extLst>
              <a:ext uri="{FF2B5EF4-FFF2-40B4-BE49-F238E27FC236}">
                <a16:creationId xmlns:a16="http://schemas.microsoft.com/office/drawing/2014/main" id="{1FE61100-99A8-42CB-B4E8-DC111F1342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Local Projections</a:t>
            </a:r>
          </a:p>
        </p:txBody>
      </p:sp>
    </p:spTree>
  </p:cSld>
  <p:clrMapOvr>
    <a:masterClrMapping/>
  </p:clrMapOvr>
  <p:transition spd="med"/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261D8991-AE1B-4DC8-86C4-F716A9592911}"/>
              </a:ext>
            </a:extLst>
          </p:cNvPr>
          <p:cNvSpPr/>
          <p:nvPr/>
        </p:nvSpPr>
        <p:spPr>
          <a:xfrm>
            <a:off x="493200" y="9111409"/>
            <a:ext cx="8667750" cy="307777"/>
          </a:xfrm>
          <a:prstGeom prst="rect">
            <a:avLst/>
          </a:prstGeom>
        </p:spPr>
        <p:txBody>
          <a:bodyPr>
            <a:spAutoFit/>
          </a:bodyPr>
          <a:lstStyle/>
          <a:p>
            <a:pPr algn="l"/>
            <a:r>
              <a:rPr lang="en-GB" sz="1400" dirty="0">
                <a:latin typeface="Bahnschrift" panose="020B0502040204020203" pitchFamily="34" charset="0"/>
              </a:rPr>
              <a:t>Source: https://www.echodelta.net/mbs/eng-overview.php</a:t>
            </a:r>
          </a:p>
        </p:txBody>
      </p:sp>
      <p:pic>
        <p:nvPicPr>
          <p:cNvPr id="14338" name="Picture 2" descr="https://www.joshuastevens.net/images/js_finalBivariateMap.png">
            <a:extLst>
              <a:ext uri="{FF2B5EF4-FFF2-40B4-BE49-F238E27FC236}">
                <a16:creationId xmlns:a16="http://schemas.microsoft.com/office/drawing/2014/main" id="{4222DF26-45F9-4040-BFF1-5DDD036F61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3200" y="1701399"/>
            <a:ext cx="11531160" cy="73184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itle 5">
            <a:extLst>
              <a:ext uri="{FF2B5EF4-FFF2-40B4-BE49-F238E27FC236}">
                <a16:creationId xmlns:a16="http://schemas.microsoft.com/office/drawing/2014/main" id="{8283822C-A4EA-4C0D-890A-420A432EC2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Bivariate Maps</a:t>
            </a:r>
          </a:p>
        </p:txBody>
      </p:sp>
    </p:spTree>
    <p:extLst>
      <p:ext uri="{BB962C8B-B14F-4D97-AF65-F5344CB8AC3E}">
        <p14:creationId xmlns:p14="http://schemas.microsoft.com/office/powerpoint/2010/main" val="825609636"/>
      </p:ext>
    </p:extLst>
  </p:cSld>
  <p:clrMapOvr>
    <a:masterClrMapping/>
  </p:clrMapOvr>
  <p:transition spd="med"/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869" rIns="0" bIns="0" rtlCol="0">
            <a:spAutoFit/>
          </a:bodyPr>
          <a:lstStyle/>
          <a:p>
            <a:pPr marL="13547">
              <a:spcBef>
                <a:spcPts val="101"/>
              </a:spcBef>
            </a:pPr>
            <a:r>
              <a:rPr spc="-251" dirty="0">
                <a:latin typeface="Arial MT"/>
                <a:cs typeface="Arial MT"/>
              </a:rPr>
              <a:t>T</a:t>
            </a:r>
            <a:r>
              <a:rPr spc="-11" dirty="0">
                <a:latin typeface="Arial MT"/>
                <a:cs typeface="Arial MT"/>
              </a:rPr>
              <a:t>ip</a:t>
            </a:r>
            <a:r>
              <a:rPr spc="-5" dirty="0">
                <a:latin typeface="Arial MT"/>
                <a:cs typeface="Arial MT"/>
              </a:rPr>
              <a:t>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99BB994-ADB7-413B-9D24-B1C9F3F336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93200" y="2091600"/>
            <a:ext cx="16491780" cy="6286500"/>
          </a:xfrm>
        </p:spPr>
        <p:txBody>
          <a:bodyPr>
            <a:normAutofit/>
          </a:bodyPr>
          <a:lstStyle/>
          <a:p>
            <a:pPr marL="13547" marR="1750283">
              <a:lnSpc>
                <a:spcPct val="125000"/>
              </a:lnSpc>
              <a:spcBef>
                <a:spcPts val="101"/>
              </a:spcBef>
            </a:pPr>
            <a:r>
              <a:rPr lang="en-GB" spc="11" dirty="0">
                <a:solidFill>
                  <a:srgbClr val="454545"/>
                </a:solidFill>
                <a:cs typeface="Times New Roman"/>
              </a:rPr>
              <a:t>Think</a:t>
            </a:r>
            <a:r>
              <a:rPr lang="en-GB" spc="176" dirty="0">
                <a:solidFill>
                  <a:srgbClr val="454545"/>
                </a:solidFill>
                <a:cs typeface="Times New Roman"/>
              </a:rPr>
              <a:t> </a:t>
            </a:r>
            <a:r>
              <a:rPr lang="en-GB" spc="11" dirty="0">
                <a:solidFill>
                  <a:srgbClr val="454545"/>
                </a:solidFill>
                <a:cs typeface="Times New Roman"/>
              </a:rPr>
              <a:t>about</a:t>
            </a:r>
            <a:r>
              <a:rPr lang="en-GB" spc="181" dirty="0">
                <a:solidFill>
                  <a:srgbClr val="454545"/>
                </a:solidFill>
                <a:cs typeface="Times New Roman"/>
              </a:rPr>
              <a:t> </a:t>
            </a:r>
            <a:r>
              <a:rPr lang="en-GB" spc="5" dirty="0">
                <a:solidFill>
                  <a:srgbClr val="454545"/>
                </a:solidFill>
                <a:cs typeface="Times New Roman"/>
              </a:rPr>
              <a:t>the</a:t>
            </a:r>
            <a:r>
              <a:rPr lang="en-GB" spc="176" dirty="0">
                <a:solidFill>
                  <a:srgbClr val="454545"/>
                </a:solidFill>
                <a:cs typeface="Times New Roman"/>
              </a:rPr>
              <a:t> </a:t>
            </a:r>
            <a:r>
              <a:rPr lang="en-GB" spc="5" dirty="0">
                <a:solidFill>
                  <a:srgbClr val="454545"/>
                </a:solidFill>
                <a:cs typeface="Times New Roman"/>
              </a:rPr>
              <a:t>purpose</a:t>
            </a:r>
            <a:r>
              <a:rPr lang="en-GB" spc="181" dirty="0">
                <a:solidFill>
                  <a:srgbClr val="454545"/>
                </a:solidFill>
                <a:cs typeface="Times New Roman"/>
              </a:rPr>
              <a:t> </a:t>
            </a:r>
            <a:r>
              <a:rPr lang="en-GB" spc="11" dirty="0">
                <a:solidFill>
                  <a:srgbClr val="454545"/>
                </a:solidFill>
                <a:cs typeface="Times New Roman"/>
              </a:rPr>
              <a:t>of</a:t>
            </a:r>
            <a:r>
              <a:rPr lang="en-GB" spc="176" dirty="0">
                <a:solidFill>
                  <a:srgbClr val="454545"/>
                </a:solidFill>
                <a:cs typeface="Times New Roman"/>
              </a:rPr>
              <a:t> </a:t>
            </a:r>
            <a:r>
              <a:rPr lang="en-GB" spc="5" dirty="0">
                <a:solidFill>
                  <a:srgbClr val="454545"/>
                </a:solidFill>
                <a:cs typeface="Times New Roman"/>
              </a:rPr>
              <a:t>the</a:t>
            </a:r>
            <a:r>
              <a:rPr lang="en-GB" spc="181" dirty="0">
                <a:solidFill>
                  <a:srgbClr val="454545"/>
                </a:solidFill>
                <a:cs typeface="Times New Roman"/>
              </a:rPr>
              <a:t> </a:t>
            </a:r>
            <a:r>
              <a:rPr lang="en-GB" spc="11" dirty="0">
                <a:solidFill>
                  <a:srgbClr val="454545"/>
                </a:solidFill>
                <a:cs typeface="Times New Roman"/>
              </a:rPr>
              <a:t>map </a:t>
            </a:r>
            <a:r>
              <a:rPr lang="en-GB" spc="16" dirty="0">
                <a:solidFill>
                  <a:srgbClr val="454545"/>
                </a:solidFill>
                <a:cs typeface="Times New Roman"/>
              </a:rPr>
              <a:t> </a:t>
            </a:r>
          </a:p>
          <a:p>
            <a:pPr marL="13547" marR="1750283">
              <a:lnSpc>
                <a:spcPct val="125000"/>
              </a:lnSpc>
              <a:spcBef>
                <a:spcPts val="101"/>
              </a:spcBef>
            </a:pPr>
            <a:r>
              <a:rPr lang="en-GB" spc="5" dirty="0">
                <a:solidFill>
                  <a:srgbClr val="454545"/>
                </a:solidFill>
                <a:cs typeface="Times New Roman"/>
              </a:rPr>
              <a:t>Determine the best visualisation </a:t>
            </a:r>
            <a:r>
              <a:rPr lang="en-GB" spc="11" dirty="0">
                <a:solidFill>
                  <a:srgbClr val="454545"/>
                </a:solidFill>
                <a:cs typeface="Times New Roman"/>
              </a:rPr>
              <a:t>by </a:t>
            </a:r>
            <a:r>
              <a:rPr lang="en-GB" spc="5" dirty="0">
                <a:solidFill>
                  <a:srgbClr val="454545"/>
                </a:solidFill>
                <a:cs typeface="Times New Roman"/>
              </a:rPr>
              <a:t>trying</a:t>
            </a:r>
            <a:r>
              <a:rPr lang="en-GB" spc="11" dirty="0">
                <a:solidFill>
                  <a:srgbClr val="454545"/>
                </a:solidFill>
                <a:cs typeface="Times New Roman"/>
              </a:rPr>
              <a:t> </a:t>
            </a:r>
            <a:r>
              <a:rPr lang="en-GB" spc="-5" dirty="0">
                <a:solidFill>
                  <a:srgbClr val="454545"/>
                </a:solidFill>
                <a:cs typeface="Times New Roman"/>
              </a:rPr>
              <a:t>different </a:t>
            </a:r>
            <a:r>
              <a:rPr lang="en-GB" spc="5" dirty="0">
                <a:solidFill>
                  <a:srgbClr val="454545"/>
                </a:solidFill>
                <a:cs typeface="Times New Roman"/>
              </a:rPr>
              <a:t>classification </a:t>
            </a:r>
            <a:r>
              <a:rPr lang="en-GB" spc="-987" dirty="0">
                <a:solidFill>
                  <a:srgbClr val="454545"/>
                </a:solidFill>
                <a:cs typeface="Times New Roman"/>
              </a:rPr>
              <a:t> </a:t>
            </a:r>
            <a:r>
              <a:rPr lang="en-GB" spc="5" dirty="0">
                <a:solidFill>
                  <a:srgbClr val="454545"/>
                </a:solidFill>
                <a:cs typeface="Times New Roman"/>
              </a:rPr>
              <a:t>alternatives</a:t>
            </a:r>
            <a:endParaRPr lang="en-GB" dirty="0">
              <a:cs typeface="Times New Roman"/>
            </a:endParaRPr>
          </a:p>
          <a:p>
            <a:pPr marL="13547" marR="5419">
              <a:lnSpc>
                <a:spcPct val="125000"/>
              </a:lnSpc>
            </a:pPr>
            <a:r>
              <a:rPr lang="en-GB" spc="11" dirty="0">
                <a:solidFill>
                  <a:srgbClr val="454545"/>
                </a:solidFill>
                <a:cs typeface="Times New Roman"/>
              </a:rPr>
              <a:t>Combine </a:t>
            </a:r>
            <a:r>
              <a:rPr lang="en-GB" spc="5" dirty="0">
                <a:solidFill>
                  <a:srgbClr val="454545"/>
                </a:solidFill>
                <a:cs typeface="Times New Roman"/>
              </a:rPr>
              <a:t>(Geo)visualisation with other statistical </a:t>
            </a:r>
            <a:r>
              <a:rPr lang="en-GB" spc="-987" dirty="0">
                <a:solidFill>
                  <a:srgbClr val="454545"/>
                </a:solidFill>
                <a:cs typeface="Times New Roman"/>
              </a:rPr>
              <a:t> </a:t>
            </a:r>
            <a:r>
              <a:rPr lang="en-GB" spc="5" dirty="0">
                <a:solidFill>
                  <a:srgbClr val="454545"/>
                </a:solidFill>
                <a:cs typeface="Times New Roman"/>
              </a:rPr>
              <a:t>devices</a:t>
            </a:r>
          </a:p>
          <a:p>
            <a:pPr marL="13547" marR="5419">
              <a:lnSpc>
                <a:spcPct val="125000"/>
              </a:lnSpc>
            </a:pPr>
            <a:endParaRPr lang="en-GB" spc="5" dirty="0">
              <a:solidFill>
                <a:srgbClr val="454545"/>
              </a:solidFill>
              <a:cs typeface="Times New Roman"/>
            </a:endParaRPr>
          </a:p>
          <a:p>
            <a:pPr marL="0" marR="5419" indent="0">
              <a:lnSpc>
                <a:spcPct val="125000"/>
              </a:lnSpc>
              <a:buNone/>
            </a:pPr>
            <a:endParaRPr lang="en-GB" spc="5" dirty="0">
              <a:solidFill>
                <a:srgbClr val="454545"/>
              </a:solidFill>
              <a:cs typeface="Times New Roman"/>
            </a:endParaRPr>
          </a:p>
          <a:p>
            <a:pPr marL="0" marR="5419" indent="0">
              <a:lnSpc>
                <a:spcPct val="125000"/>
              </a:lnSpc>
              <a:buNone/>
            </a:pPr>
            <a:r>
              <a:rPr lang="en-GB" b="1" spc="5" dirty="0">
                <a:solidFill>
                  <a:srgbClr val="454545"/>
                </a:solidFill>
                <a:cs typeface="Times New Roman"/>
              </a:rPr>
              <a:t>Less is better</a:t>
            </a:r>
            <a:endParaRPr lang="en-GB" b="1" dirty="0">
              <a:cs typeface="Times New Roman"/>
            </a:endParaRPr>
          </a:p>
          <a:p>
            <a:endParaRPr lang="en-GB" dirty="0"/>
          </a:p>
        </p:txBody>
      </p:sp>
    </p:spTree>
  </p:cSld>
  <p:clrMapOvr>
    <a:masterClrMapping/>
  </p:clrMapOvr>
  <p:transition spd="med"/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93200" y="871200"/>
            <a:ext cx="14800185" cy="751658"/>
          </a:xfrm>
          <a:prstGeom prst="rect">
            <a:avLst/>
          </a:prstGeom>
        </p:spPr>
        <p:txBody>
          <a:bodyPr vert="horz" wrap="square" lIns="0" tIns="12869" rIns="0" bIns="0" rtlCol="0">
            <a:spAutoFit/>
          </a:bodyPr>
          <a:lstStyle/>
          <a:p>
            <a:pPr marL="13547">
              <a:spcBef>
                <a:spcPts val="101"/>
              </a:spcBef>
            </a:pPr>
            <a:r>
              <a:rPr lang="en-GB" spc="-251" dirty="0">
                <a:latin typeface="Arial MT"/>
                <a:cs typeface="Arial MT"/>
              </a:rPr>
              <a:t>References </a:t>
            </a:r>
            <a:endParaRPr spc="-5" dirty="0">
              <a:latin typeface="Arial MT"/>
              <a:cs typeface="Arial MT"/>
            </a:endParaRP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99BB994-ADB7-413B-9D24-B1C9F3F336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93200" y="2091600"/>
            <a:ext cx="14990640" cy="6286500"/>
          </a:xfrm>
        </p:spPr>
        <p:txBody>
          <a:bodyPr>
            <a:normAutofit fontScale="92500" lnSpcReduction="10000"/>
          </a:bodyPr>
          <a:lstStyle/>
          <a:p>
            <a:pPr marL="13547" marR="1750283">
              <a:lnSpc>
                <a:spcPct val="125000"/>
              </a:lnSpc>
              <a:spcBef>
                <a:spcPts val="101"/>
              </a:spcBef>
            </a:pPr>
            <a:r>
              <a:rPr lang="en-GB" spc="11" dirty="0">
                <a:solidFill>
                  <a:schemeClr val="tx1"/>
                </a:solidFill>
                <a:cs typeface="Times New Roman"/>
              </a:rPr>
              <a:t>Tamara, </a:t>
            </a:r>
            <a:r>
              <a:rPr lang="en-GB" spc="11" dirty="0" err="1">
                <a:solidFill>
                  <a:schemeClr val="tx1"/>
                </a:solidFill>
                <a:cs typeface="Times New Roman"/>
              </a:rPr>
              <a:t>Munzner</a:t>
            </a:r>
            <a:r>
              <a:rPr lang="en-GB" spc="11" dirty="0">
                <a:solidFill>
                  <a:schemeClr val="tx1"/>
                </a:solidFill>
                <a:cs typeface="Times New Roman"/>
              </a:rPr>
              <a:t>. </a:t>
            </a:r>
            <a:r>
              <a:rPr lang="en-GB" i="1" spc="11" dirty="0">
                <a:solidFill>
                  <a:schemeClr val="tx1"/>
                </a:solidFill>
                <a:cs typeface="Times New Roman"/>
              </a:rPr>
              <a:t>Visualization Analysis and Design</a:t>
            </a:r>
            <a:r>
              <a:rPr lang="en-GB" spc="11" dirty="0">
                <a:solidFill>
                  <a:schemeClr val="tx1"/>
                </a:solidFill>
                <a:cs typeface="Times New Roman"/>
              </a:rPr>
              <a:t>. CRC Press, 2014</a:t>
            </a:r>
          </a:p>
          <a:p>
            <a:pPr marL="13547" marR="1750283">
              <a:lnSpc>
                <a:spcPct val="125000"/>
              </a:lnSpc>
              <a:spcBef>
                <a:spcPts val="101"/>
              </a:spcBef>
            </a:pPr>
            <a:r>
              <a:rPr lang="en-GB" dirty="0">
                <a:solidFill>
                  <a:schemeClr val="tx1"/>
                </a:solidFill>
              </a:rPr>
              <a:t>Tufte, Edward R. </a:t>
            </a:r>
            <a:r>
              <a:rPr lang="en-GB" i="1" dirty="0">
                <a:solidFill>
                  <a:schemeClr val="tx1"/>
                </a:solidFill>
              </a:rPr>
              <a:t>The visual display of quantitative information</a:t>
            </a:r>
            <a:r>
              <a:rPr lang="en-GB" dirty="0">
                <a:solidFill>
                  <a:schemeClr val="tx1"/>
                </a:solidFill>
              </a:rPr>
              <a:t>. Graphic Press, 1983</a:t>
            </a:r>
          </a:p>
          <a:p>
            <a:pPr marL="13547" marR="1750283">
              <a:lnSpc>
                <a:spcPct val="125000"/>
              </a:lnSpc>
              <a:spcBef>
                <a:spcPts val="101"/>
              </a:spcBef>
            </a:pPr>
            <a:r>
              <a:rPr lang="en-GB" spc="11" dirty="0" err="1">
                <a:solidFill>
                  <a:schemeClr val="tx1"/>
                </a:solidFill>
                <a:cs typeface="Times New Roman"/>
              </a:rPr>
              <a:t>Krygier</a:t>
            </a:r>
            <a:r>
              <a:rPr lang="en-GB" spc="11" dirty="0">
                <a:solidFill>
                  <a:schemeClr val="tx1"/>
                </a:solidFill>
                <a:cs typeface="Times New Roman"/>
              </a:rPr>
              <a:t>, John and Wood, Deni. </a:t>
            </a:r>
            <a:r>
              <a:rPr lang="en-GB" i="1" spc="11" dirty="0">
                <a:solidFill>
                  <a:schemeClr val="tx1"/>
                </a:solidFill>
                <a:cs typeface="Times New Roman"/>
              </a:rPr>
              <a:t>Making maps: A visual guide to map design for GIS (2nd edition).</a:t>
            </a:r>
            <a:r>
              <a:rPr lang="en-GB" spc="11" dirty="0">
                <a:solidFill>
                  <a:schemeClr val="tx1"/>
                </a:solidFill>
                <a:cs typeface="Times New Roman"/>
              </a:rPr>
              <a:t> The Guilford Press, 2011.</a:t>
            </a:r>
          </a:p>
          <a:p>
            <a:pPr marL="13547" marR="1750283">
              <a:lnSpc>
                <a:spcPct val="125000"/>
              </a:lnSpc>
              <a:spcBef>
                <a:spcPts val="101"/>
              </a:spcBef>
            </a:pPr>
            <a:r>
              <a:rPr lang="en-GB" dirty="0"/>
              <a:t>MacEachren, Alan M., and Menno-Jan Kraak</a:t>
            </a:r>
            <a:r>
              <a:rPr lang="en-GB" i="1" dirty="0"/>
              <a:t>. Exploratory cartographic visualization: advancing the agenda</a:t>
            </a:r>
            <a:r>
              <a:rPr lang="en-GB" dirty="0"/>
              <a:t>. Computers &amp; geosciences 23, no. 4 (1997): 335-343.</a:t>
            </a:r>
            <a:endParaRPr lang="en-GB" spc="11" dirty="0">
              <a:solidFill>
                <a:schemeClr val="tx1"/>
              </a:solidFill>
              <a:cs typeface="Times New Roman"/>
            </a:endParaRPr>
          </a:p>
          <a:p>
            <a:pPr marL="13547" marR="1750283">
              <a:lnSpc>
                <a:spcPct val="125000"/>
              </a:lnSpc>
              <a:spcBef>
                <a:spcPts val="101"/>
              </a:spcBef>
            </a:pPr>
            <a:endParaRPr lang="en-GB" spc="5" dirty="0">
              <a:solidFill>
                <a:srgbClr val="454545"/>
              </a:solidFill>
              <a:cs typeface="Times New Roman"/>
            </a:endParaRPr>
          </a:p>
          <a:p>
            <a:pPr marL="0" marR="5419" indent="0">
              <a:lnSpc>
                <a:spcPct val="125000"/>
              </a:lnSpc>
              <a:buNone/>
            </a:pPr>
            <a:endParaRPr lang="en-GB" spc="5" dirty="0">
              <a:solidFill>
                <a:srgbClr val="454545"/>
              </a:solidFill>
              <a:cs typeface="Times New Roman"/>
            </a:endParaRP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37458866"/>
      </p:ext>
    </p:extLst>
  </p:cSld>
  <p:clrMapOvr>
    <a:masterClrMapping/>
  </p:clrMapOvr>
  <p:transition spd="med"/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png"/></Relationships>
</file>

<file path=ppt/theme/_rels/them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png"/></Relationships>
</file>

<file path=ppt/theme/theme1.xml><?xml version="1.0" encoding="utf-8"?>
<a:theme xmlns:a="http://schemas.openxmlformats.org/drawingml/2006/main" name="White">
  <a:themeElements>
    <a:clrScheme name="White">
      <a:dk1>
        <a:srgbClr val="000000"/>
      </a:dk1>
      <a:lt1>
        <a:srgbClr val="FFFFFF"/>
      </a:lt1>
      <a:dk2>
        <a:srgbClr val="53585F"/>
      </a:dk2>
      <a:lt2>
        <a:srgbClr val="DCDEE0"/>
      </a:lt2>
      <a:accent1>
        <a:srgbClr val="0365C0"/>
      </a:accent1>
      <a:accent2>
        <a:srgbClr val="00882B"/>
      </a:accent2>
      <a:accent3>
        <a:srgbClr val="DCBD23"/>
      </a:accent3>
      <a:accent4>
        <a:srgbClr val="DE6A10"/>
      </a:accent4>
      <a:accent5>
        <a:srgbClr val="C82506"/>
      </a:accent5>
      <a:accent6>
        <a:srgbClr val="773F9B"/>
      </a:accent6>
      <a:hlink>
        <a:srgbClr val="0000FF"/>
      </a:hlink>
      <a:folHlink>
        <a:srgbClr val="FF00FF"/>
      </a:folHlink>
    </a:clrScheme>
    <a:fontScheme name="White">
      <a:majorFont>
        <a:latin typeface="Helvetica Light"/>
        <a:ea typeface="Helvetica Light"/>
        <a:cs typeface="Helvetica Light"/>
      </a:majorFont>
      <a:minorFont>
        <a:latin typeface="Helvetica Light"/>
        <a:ea typeface="Helvetica Light"/>
        <a:cs typeface="Helvetica Light"/>
      </a:minorFont>
    </a:fontScheme>
    <a:fmtScheme name="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50800" dist="12700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5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blipFill rotWithShape="1">
          <a:blip xmlns:r="http://schemas.openxmlformats.org/officeDocument/2006/relationships" r:embed="rId1"/>
          <a:srcRect/>
          <a:tile tx="0" ty="0" sx="100000" sy="100000" flip="none" algn="tl"/>
        </a:blipFill>
        <a:ln w="12700" cap="flat">
          <a:noFill/>
          <a:miter lim="400000"/>
        </a:ln>
        <a:effectLst>
          <a:outerShdw blurRad="38100" dist="25400" dir="5400000" rotWithShape="0">
            <a:srgbClr val="000000">
              <a:alpha val="50000"/>
            </a:srgbClr>
          </a:outerShdw>
        </a:effectLst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584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4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+mn-lt"/>
            <a:ea typeface="+mn-ea"/>
            <a:cs typeface="+mn-cs"/>
            <a:sym typeface="Helvetica Light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584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6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 Light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White">
  <a:themeElements>
    <a:clrScheme name="White">
      <a:dk1>
        <a:srgbClr val="000000"/>
      </a:dk1>
      <a:lt1>
        <a:srgbClr val="FFFFFF"/>
      </a:lt1>
      <a:dk2>
        <a:srgbClr val="53585F"/>
      </a:dk2>
      <a:lt2>
        <a:srgbClr val="DCDEE0"/>
      </a:lt2>
      <a:accent1>
        <a:srgbClr val="0365C0"/>
      </a:accent1>
      <a:accent2>
        <a:srgbClr val="00882B"/>
      </a:accent2>
      <a:accent3>
        <a:srgbClr val="DCBD23"/>
      </a:accent3>
      <a:accent4>
        <a:srgbClr val="DE6A10"/>
      </a:accent4>
      <a:accent5>
        <a:srgbClr val="C82506"/>
      </a:accent5>
      <a:accent6>
        <a:srgbClr val="773F9B"/>
      </a:accent6>
      <a:hlink>
        <a:srgbClr val="0000FF"/>
      </a:hlink>
      <a:folHlink>
        <a:srgbClr val="FF00FF"/>
      </a:folHlink>
    </a:clrScheme>
    <a:fontScheme name="White">
      <a:majorFont>
        <a:latin typeface="Helvetica Light"/>
        <a:ea typeface="Helvetica Light"/>
        <a:cs typeface="Helvetica Light"/>
      </a:majorFont>
      <a:minorFont>
        <a:latin typeface="Helvetica Light"/>
        <a:ea typeface="Helvetica Light"/>
        <a:cs typeface="Helvetica Light"/>
      </a:minorFont>
    </a:fontScheme>
    <a:fmtScheme name="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50800" dist="12700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5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blipFill rotWithShape="1">
          <a:blip xmlns:r="http://schemas.openxmlformats.org/officeDocument/2006/relationships" r:embed="rId1"/>
          <a:srcRect/>
          <a:tile tx="0" ty="0" sx="100000" sy="100000" flip="none" algn="tl"/>
        </a:blipFill>
        <a:ln w="12700" cap="flat">
          <a:noFill/>
          <a:miter lim="400000"/>
        </a:ln>
        <a:effectLst>
          <a:outerShdw blurRad="38100" dist="25400" dir="5400000" rotWithShape="0">
            <a:srgbClr val="000000">
              <a:alpha val="50000"/>
            </a:srgbClr>
          </a:outerShdw>
        </a:effectLst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584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4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+mn-lt"/>
            <a:ea typeface="+mn-ea"/>
            <a:cs typeface="+mn-cs"/>
            <a:sym typeface="Helvetica Light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584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6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 Light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DF2D40A3A1C8642988A651B1ED39623" ma:contentTypeVersion="16" ma:contentTypeDescription="Create a new document." ma:contentTypeScope="" ma:versionID="4ce34b00d6c3aff9017019a844aaf3f3">
  <xsd:schema xmlns:xsd="http://www.w3.org/2001/XMLSchema" xmlns:xs="http://www.w3.org/2001/XMLSchema" xmlns:p="http://schemas.microsoft.com/office/2006/metadata/properties" xmlns:ns3="5acde16a-ba3e-47db-ada8-7cd7fdb7807b" xmlns:ns4="4d9e80ff-905f-4833-945e-5794c4d26dd9" targetNamespace="http://schemas.microsoft.com/office/2006/metadata/properties" ma:root="true" ma:fieldsID="e58f5e8b2bace791df80eb2757c3951d" ns3:_="" ns4:_="">
    <xsd:import namespace="5acde16a-ba3e-47db-ada8-7cd7fdb7807b"/>
    <xsd:import namespace="4d9e80ff-905f-4833-945e-5794c4d26dd9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LengthInSeconds" minOccurs="0"/>
                <xsd:element ref="ns3:MediaServiceLocation" minOccurs="0"/>
                <xsd:element ref="ns3:_activity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ObjectDetectorVersions" minOccurs="0"/>
                <xsd:element ref="ns3:MediaServiceSystemTag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acde16a-ba3e-47db-ada8-7cd7fdb7807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MediaServiceLocation" ma:index="16" nillable="true" ma:displayName="Location" ma:indexed="true" ma:internalName="MediaServiceLocation" ma:readOnly="true">
      <xsd:simpleType>
        <xsd:restriction base="dms:Text"/>
      </xsd:simpleType>
    </xsd:element>
    <xsd:element name="_activity" ma:index="17" nillable="true" ma:displayName="_activity" ma:hidden="true" ma:internalName="_activity">
      <xsd:simpleType>
        <xsd:restriction base="dms:Note"/>
      </xsd:simpleType>
    </xsd:element>
    <xsd:element name="MediaServiceObjectDetectorVersions" ma:index="2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2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d9e80ff-905f-4833-945e-5794c4d26dd9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20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5acde16a-ba3e-47db-ada8-7cd7fdb7807b" xsi:nil="true"/>
  </documentManagement>
</p:properties>
</file>

<file path=customXml/itemProps1.xml><?xml version="1.0" encoding="utf-8"?>
<ds:datastoreItem xmlns:ds="http://schemas.openxmlformats.org/officeDocument/2006/customXml" ds:itemID="{7C6DD498-36E4-439C-8C75-21144F194D2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5E2D202A-CE11-4B7B-AFDF-2EA51FB0985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acde16a-ba3e-47db-ada8-7cd7fdb7807b"/>
    <ds:schemaRef ds:uri="4d9e80ff-905f-4833-945e-5794c4d26dd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CB998EC9-4BDB-4E3F-B5B2-2E4E6C7D3227}">
  <ds:schemaRefs>
    <ds:schemaRef ds:uri="http://www.w3.org/XML/1998/namespace"/>
    <ds:schemaRef ds:uri="http://schemas.openxmlformats.org/package/2006/metadata/core-properties"/>
    <ds:schemaRef ds:uri="http://purl.org/dc/dcmitype/"/>
    <ds:schemaRef ds:uri="http://schemas.microsoft.com/office/2006/metadata/properties"/>
    <ds:schemaRef ds:uri="http://schemas.microsoft.com/office/2006/documentManagement/types"/>
    <ds:schemaRef ds:uri="http://purl.org/dc/elements/1.1/"/>
    <ds:schemaRef ds:uri="http://purl.org/dc/terms/"/>
    <ds:schemaRef ds:uri="4d9e80ff-905f-4833-945e-5794c4d26dd9"/>
    <ds:schemaRef ds:uri="http://schemas.microsoft.com/office/infopath/2007/PartnerControls"/>
    <ds:schemaRef ds:uri="5acde16a-ba3e-47db-ada8-7cd7fdb7807b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3945</TotalTime>
  <Words>1263</Words>
  <Application>Microsoft Office PowerPoint</Application>
  <PresentationFormat>Custom</PresentationFormat>
  <Paragraphs>188</Paragraphs>
  <Slides>38</Slides>
  <Notes>17</Notes>
  <HiddenSlides>2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7" baseType="lpstr">
      <vt:lpstr>Arial</vt:lpstr>
      <vt:lpstr>Arial MT</vt:lpstr>
      <vt:lpstr>Bahnschrift</vt:lpstr>
      <vt:lpstr>Bahnschrift Light</vt:lpstr>
      <vt:lpstr>Calibri</vt:lpstr>
      <vt:lpstr>Helvetica Neue</vt:lpstr>
      <vt:lpstr>Times New Roman</vt:lpstr>
      <vt:lpstr>Wingdings</vt:lpstr>
      <vt:lpstr>White</vt:lpstr>
      <vt:lpstr>Map Design and Statistical Visualisation  ENVS456 – week 2 Gabriele Filomena</vt:lpstr>
      <vt:lpstr>Agenda</vt:lpstr>
      <vt:lpstr>Visualisation</vt:lpstr>
      <vt:lpstr>What?</vt:lpstr>
      <vt:lpstr>When?</vt:lpstr>
      <vt:lpstr>Why?</vt:lpstr>
      <vt:lpstr>How?</vt:lpstr>
      <vt:lpstr>How?</vt:lpstr>
      <vt:lpstr>Geovisualisation</vt:lpstr>
      <vt:lpstr>PowerPoint Presentation</vt:lpstr>
      <vt:lpstr>The Map Cube</vt:lpstr>
      <vt:lpstr>Designing Good Maps</vt:lpstr>
      <vt:lpstr>When to Use Mapping</vt:lpstr>
      <vt:lpstr>Consider the Audience</vt:lpstr>
      <vt:lpstr>Design Principles</vt:lpstr>
      <vt:lpstr>Map Critically</vt:lpstr>
      <vt:lpstr>Symbols</vt:lpstr>
      <vt:lpstr>Lines and Symbols</vt:lpstr>
      <vt:lpstr>Colour Choropleths</vt:lpstr>
      <vt:lpstr>Choropleths</vt:lpstr>
      <vt:lpstr>How?</vt:lpstr>
      <vt:lpstr>Classification choices</vt:lpstr>
      <vt:lpstr>Unique values</vt:lpstr>
      <vt:lpstr>Equal Intervals</vt:lpstr>
      <vt:lpstr>Quantiles</vt:lpstr>
      <vt:lpstr>Color schemes</vt:lpstr>
      <vt:lpstr>PowerPoint Presentation</vt:lpstr>
      <vt:lpstr>Size  Cartograms</vt:lpstr>
      <vt:lpstr>PowerPoint Presentation</vt:lpstr>
      <vt:lpstr>PowerPoint Presentation</vt:lpstr>
      <vt:lpstr>PowerPoint Presentation</vt:lpstr>
      <vt:lpstr>PowerPoint Presentation</vt:lpstr>
      <vt:lpstr>Final Remarks</vt:lpstr>
      <vt:lpstr>Global Projections</vt:lpstr>
      <vt:lpstr>Local Projections</vt:lpstr>
      <vt:lpstr>Bivariate Maps</vt:lpstr>
      <vt:lpstr>Tips</vt:lpstr>
      <vt:lpstr>References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 Visualisation</dc:title>
  <dc:creator>Filomena, Gabriele</dc:creator>
  <cp:lastModifiedBy>Filomena, Gabriele</cp:lastModifiedBy>
  <cp:revision>74</cp:revision>
  <dcterms:modified xsi:type="dcterms:W3CDTF">2026-02-02T10:12:47Z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0x010100EDF2D40A3A1C8642988A651B1ED39623</vt:lpwstr>
  </property>
</Properties>
</file>